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78"/>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906000" cy="6858000" type="A4"/>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9BBB59"/>
    <a:srgbClr val="018CFF"/>
    <a:srgbClr val="FFC000"/>
    <a:srgbClr val="0A4D9B"/>
    <a:srgbClr val="FFBDEE"/>
    <a:srgbClr val="FF0D0D"/>
    <a:srgbClr val="E5BEA9"/>
    <a:srgbClr val="FF19C3"/>
    <a:srgbClr val="BDD1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보통 스타일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012ECD-51FC-41F1-AA8D-1B2483CD663E}" styleName="밝은 스타일 2 - 강조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테마 스타일 2 - 강조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239" autoAdjust="0"/>
    <p:restoredTop sz="96318" autoAdjust="0"/>
  </p:normalViewPr>
  <p:slideViewPr>
    <p:cSldViewPr>
      <p:cViewPr varScale="1">
        <p:scale>
          <a:sx n="113" d="100"/>
          <a:sy n="113" d="100"/>
        </p:scale>
        <p:origin x="1536" y="96"/>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78"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928037-2B04-46CE-8533-72F6D85990BC}" type="datetimeFigureOut">
              <a:rPr lang="ko-KR" altLang="en-US" smtClean="0"/>
              <a:t>2026-08-02</a:t>
            </a:fld>
            <a:endParaRPr lang="ko-KR" altLang="en-US"/>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5B08F9-6C7C-4ABC-B18C-511AA116288E}" type="slidenum">
              <a:rPr lang="ko-KR" altLang="en-US" smtClean="0"/>
              <a:t>‹#›</a:t>
            </a:fld>
            <a:endParaRPr lang="ko-KR" altLang="en-US"/>
          </a:p>
        </p:txBody>
      </p:sp>
    </p:spTree>
    <p:extLst>
      <p:ext uri="{BB962C8B-B14F-4D97-AF65-F5344CB8AC3E}">
        <p14:creationId xmlns:p14="http://schemas.microsoft.com/office/powerpoint/2010/main" val="50238964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안녕하십니까. 인공지능학과 조현준입니다. VisAGI Lab에서 진행한 공학연구인턴십 결과를 발표하겠습니다. 주제는 AI가 사용자의 취향과 그때그때의 상황을 동시에 만족시킬 수 있는지를 재는 시험지를 만드는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발표는 다섯 부분입니다. 이 중 중심은 세 번째, 시험지를 만드는 다섯 단계입니다. 각 단계가 왜 필요한지를 예시와 함께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VisAGI Lab은 AI가 이미지와 언어를 함께 이해하는 능력을 평가하는 연구실입니다. 저는 8주 동안 설계부터 파이프라인 구현, 검수, 그리고 AI 모델 8종 평가까지 전 과정을 맡았습니다.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예를 들겠습니다. 파란색을 좋아하고 주황색을 싫어하는 사람이 한겨울 야외 시장에 하루 종일 있어야 합니다. 취향만 맞추면 파란 원피스인데 춥고, 상황만 맞추면 주황 후드인데 싫어하는 색입니다. 기존 평가는 둘 다 '개인화된 답'으로 봅니다. 그래서 네 선지를 만들고 둘 다 만족하는 A만 정답으로 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채점 방식이 이 연구의 핵심입니다. A를 고르면 둘 다 맞춘 것, B는 상황은 아는데 취향을 무시한 것, C는 그 반대입니다. 그래서 '틀렸다'가 아니라 '어느 쪽에서 틀렸다'까지 나옵니다. 찍어서 맞을 확률은 정확히 25%로 맞춰 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시험지 하나를 만드는 데 다섯 단계가 들어갑니다. 문항을 만들고, 취향을 대화로 전달하고, 사진을 모으고, 사람이 확인하고, 모델을 시험합니다. 특히 빨간 화살표를 봐 주십시오. 네 번째 단계에서 사람이 확인한 목록이 첫 단계의 입력으로 되돌아갑니다. 이게 뒤에서 말씀드릴 문제 해결의 핵심이었습니다.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첫 단계입니다. 사람 24명의 취향을 규칙으로 배정하고, 누구나 같은 답을 낼 상황 59개를 만든 뒤, 둘을 곱해 2,621개 문항을 얻습니다. 사람 손이 안 들어가서 같은 씨앗이면 항상 같은 데이터가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이번에 새로 추가한 단계입니다. 지금까지는 취향을 목록으로 한 번에 줬는데, 실제 사용자는 그렇게 말하지 않습니다. 그래서 취향 18개를 전부 대화 속에서, 그것도 값은 오직 사진에만 담아 전달하도록 만들었습니다. 네 가지 방식이 있고 뒤로 갈수록 어렵습니다. 가장 중요한 규칙은 대화에 상황 이야기를 절대 넣지 않는 것입니다. 넣는 순간 재려던 능력이 새어 나가기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실제로 만들어진 대화입니다. 사진 두 장을 주고 '첫 번째 옷의 커트는 내가 안 입는 커트'라고만 말합니다. 옷 이름은 어디에도 없습니다. 모델은 두 사진의 차이를 찾고, 커트가 옷 종류를 뜻한다는 걸 알고, 첫 번째 옷을 싫어함으로 기록해야 합니다. 글자판은 완전히 같은 대화인데 사진 자리에만 이름이 들어갑니다. 두 판의 차이가 곧 보는 능력의 몫입니다. 대화 48개 전부 검증을 통과했고, 일부러 망가뜨린 여섯 가지를 검증기가 모두 잡아냈습니다.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문항 하나에 사진 네 장이 필요한데, 색과 옷과 무늬가 정확히 맞아야 합니다. 16만 장에서 시작해 옷 부분만 오려내고, 세 축을 각각 다른 방법으로 확인해서 1,661칸까지 좁힙니다. 축마다 방법을 다르게 한 이유가 아래에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 여기서 부딪힌 문제입니다. 체크무늬 셔츠를 찾으면 주머니에만 체크가 있는 옷이 통과했습니다. 세 가지를 시도했지만 다 실패했고, 원인은 셋 다 사진 한 장을 숫자 하나로 요약해서 비교한다는 점이었습니다. 그래서 격자로 나눠 칸마다 확인하도록 바꿔 해결했습니다.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네 번째 단계입니다. 기계가 고른 사진을 사람이 한 칸씩 눈으로 확인했습니다. 1,661칸 중 1,223칸이 쓸 만했습니다. 여기서 두 번째 문제를 만났습니다. 처음에는 문항을 다 만든 뒤 사진 없는 걸 버렸는데, 33%밖에 안 남았고 더 큰 문제는 버려진 게 한쪽에 몰려 균형이 깨진 것이었습니다. 그래서 사람이 확인한 목록을 첫 단계의 입력으로 되돌렸더니 97%로 올라가면서 균형도 유지됐습니다.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마지막 단계, 결과입니다. AI 8종을 돌렸고 그중 여섯이 완주했습니다. 왼쪽을 봐 주십시오. 상황만 알려줬을 때와 취향까지 알려줬을 때 상황 점수가 여섯 모델 전부 예외 없이 떨어집니다. 오른쪽은 둘 다 맞춘 비율인데, 가장 좋은 모델도 73%입니다. 모델을 키운다고 해결되지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그러면 못 하는 이유가 사진을 못 봐서인지 판단을 못 해서인지 궁금했습니다. 같은 모델에게 같은 문항을 글자로 줘 봤습니다. 73.1%에서 83.8%로 올랐습니다. 10.6%포인트는 사진을 읽느라 잃는 몫이고, 나머지 16%는 글자로 줘도 남습니다. 즉 병목이 보는 데만 있는 게 아니라 판단 자체에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 어디가 약한지도 갈라 봤습니다. 취향이 무늬일 때가 가장 어렵습니다. 색은 80점인데 무늬는 63점입니다. 격식 같은 사회적 상황이 춥다·덥다보다 어렵고, 상황을 돌려 말하면 더 떨어집니다. 이 세 가지가 다음 연구의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기여는 다섯 가지입니다. 문제를 나눌 수 있는 형태로 바꿨고, 취향을 대화로 주는 조건을 새로 만들었고, 가설을 여덟 모델로 확인했고, 병목이 보는 데인지 판단인지 갈라냈고, 누구나 다시 만들 수 있게 남겼습니다. 다만 대화 조건은 만들고 검증까지 마쳤지 아직 모델에 태워 보지는 못했습니다. 이게 바로 다음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앞으로는 만든 대화를 실제로 모델에 태우고, 남은 사진 라벨 검증과 상용 모델 평가를 마무리해 논문 투고 수준으로 정리하려 합니다. 소감을 말씀드리면, 가장 크게 배운 것은 실패한 결과를 그대로 남기는 법이었습니다. 숫자가 나쁘면 숫자를 고치고 싶어지는데, 두 번 다 원인을 찾아 다시 설계해야 했습니다. 성능보다 측정이 옳은지를 먼저 의심하게 됐고, 그게 전공 수업에서 배운 실험 설계를 제 손으로 써 본 경험이었습니다.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579397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9492264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3839379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73182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346403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2599342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63686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719443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날짜 개체 틀 4"/>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638323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3059891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p:cNvSpPr>
            <a:spLocks noGrp="1"/>
          </p:cNvSpPr>
          <p:nvPr>
            <p:ph type="dt" sz="half" idx="10"/>
          </p:nvPr>
        </p:nvSpPr>
        <p:spPr/>
        <p:txBody>
          <a:body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7701021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83C45B-68AA-48A0-86B7-8E086AFEA91A}" type="datetimeFigureOut">
              <a:rPr lang="ko-KR" altLang="en-US" smtClean="0"/>
              <a:t>2026-08-02</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35567BC-375C-4D92-968B-61198DF26618}" type="slidenum">
              <a:rPr lang="ko-KR" altLang="en-US" smtClean="0"/>
              <a:t>‹#›</a:t>
            </a:fld>
            <a:endParaRPr lang="ko-KR" altLang="en-US"/>
          </a:p>
        </p:txBody>
      </p:sp>
    </p:spTree>
    <p:extLst>
      <p:ext uri="{BB962C8B-B14F-4D97-AF65-F5344CB8AC3E}">
        <p14:creationId xmlns:p14="http://schemas.microsoft.com/office/powerpoint/2010/main" val="1434405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585216" y="3749039"/>
            <a:ext cx="8778240" cy="822960"/>
          </a:xfrm>
          <a:prstGeom prst="rect">
            <a:avLst/>
          </a:prstGeom>
          <a:noFill/>
        </p:spPr>
        <p:txBody>
          <a:bodyPr wrap="square" lIns="0" rIns="0" tIns="0" bIns="0" anchor="t">
            <a:spAutoFit/>
          </a:bodyPr>
          <a:lstStyle/>
          <a:p>
            <a:pPr algn="l">
              <a:spcBef>
                <a:spcPts val="0"/>
              </a:spcBef>
              <a:spcAft>
                <a:spcPts val="200"/>
              </a:spcAft>
            </a:pPr>
            <a:r>
              <a:rPr sz="4000" b="1" i="0">
                <a:solidFill>
                  <a:srgbClr val="004094"/>
                </a:solidFill>
                <a:latin typeface="맑은 고딕"/>
                <a:ea typeface="맑은 고딕"/>
                <a:cs typeface="맑은 고딕"/>
              </a:rPr>
              <a:t>공학연구인턴십 </a:t>
            </a:r>
            <a:r>
              <a:rPr sz="4000" b="1" i="0">
                <a:solidFill>
                  <a:srgbClr val="004094"/>
                </a:solidFill>
                <a:latin typeface="맑은 고딕"/>
                <a:ea typeface="맑은 고딕"/>
                <a:cs typeface="맑은 고딕"/>
              </a:rPr>
              <a:t>성과발표</a:t>
            </a:r>
          </a:p>
        </p:txBody>
      </p:sp>
      <p:sp>
        <p:nvSpPr>
          <p:cNvPr id="4" name="TextBox 3"/>
          <p:cNvSpPr txBox="1"/>
          <p:nvPr/>
        </p:nvSpPr>
        <p:spPr>
          <a:xfrm>
            <a:off x="585216" y="4626864"/>
            <a:ext cx="8869680" cy="868680"/>
          </a:xfrm>
          <a:prstGeom prst="rect">
            <a:avLst/>
          </a:prstGeom>
          <a:noFill/>
        </p:spPr>
        <p:txBody>
          <a:bodyPr wrap="square" lIns="0" rIns="0" tIns="0" bIns="0" anchor="t">
            <a:spAutoFit/>
          </a:bodyPr>
          <a:lstStyle/>
          <a:p>
            <a:pPr algn="l">
              <a:spcBef>
                <a:spcPts val="0"/>
              </a:spcBef>
              <a:spcAft>
                <a:spcPts val="200"/>
              </a:spcAft>
            </a:pPr>
            <a:r>
              <a:rPr sz="1700" b="1" i="0">
                <a:solidFill>
                  <a:srgbClr val="0A4D9B"/>
                </a:solidFill>
                <a:latin typeface="맑은 고딕"/>
                <a:ea typeface="맑은 고딕"/>
                <a:cs typeface="맑은 고딕"/>
              </a:rPr>
              <a:t>POD-Bench</a:t>
            </a:r>
            <a:r>
              <a:rPr sz="1700" b="0" i="0">
                <a:solidFill>
                  <a:srgbClr val="27251E"/>
                </a:solidFill>
                <a:latin typeface="맑은 고딕"/>
                <a:ea typeface="맑은 고딕"/>
                <a:cs typeface="맑은 고딕"/>
              </a:rPr>
              <a:t>  ·  AI는 </a:t>
            </a:r>
            <a:r>
              <a:rPr sz="1700" b="1" i="0">
                <a:solidFill>
                  <a:srgbClr val="27251E"/>
                </a:solidFill>
                <a:latin typeface="맑은 고딕"/>
                <a:ea typeface="맑은 고딕"/>
                <a:cs typeface="맑은 고딕"/>
              </a:rPr>
              <a:t>내 취향</a:t>
            </a:r>
            <a:r>
              <a:rPr sz="1700" b="0" i="0">
                <a:solidFill>
                  <a:srgbClr val="27251E"/>
                </a:solidFill>
                <a:latin typeface="맑은 고딕"/>
                <a:ea typeface="맑은 고딕"/>
                <a:cs typeface="맑은 고딕"/>
              </a:rPr>
              <a:t>과 </a:t>
            </a:r>
            <a:r>
              <a:rPr sz="1700" b="1" i="0">
                <a:solidFill>
                  <a:srgbClr val="27251E"/>
                </a:solidFill>
                <a:latin typeface="맑은 고딕"/>
                <a:ea typeface="맑은 고딕"/>
                <a:cs typeface="맑은 고딕"/>
              </a:rPr>
              <a:t>지금 상황</a:t>
            </a:r>
            <a:r>
              <a:rPr sz="1700" b="0" i="0">
                <a:solidFill>
                  <a:srgbClr val="27251E"/>
                </a:solidFill>
                <a:latin typeface="맑은 고딕"/>
                <a:ea typeface="맑은 고딕"/>
                <a:cs typeface="맑은 고딕"/>
              </a:rPr>
              <a:t>을 동시에 만족시킬 수 있는가?</a:t>
            </a:r>
          </a:p>
          <a:p>
            <a:pPr algn="l">
              <a:spcBef>
                <a:spcPts val="400"/>
              </a:spcBef>
              <a:spcAft>
                <a:spcPts val="200"/>
              </a:spcAft>
            </a:pPr>
            <a:r>
              <a:rPr sz="1250" b="0" i="0">
                <a:solidFill>
                  <a:srgbClr val="767171"/>
                </a:solidFill>
                <a:latin typeface="맑은 고딕"/>
                <a:ea typeface="맑은 고딕"/>
                <a:cs typeface="맑은 고딕"/>
              </a:rPr>
              <a:t>Personalized Outfit Decision Benchmark for Vision-Language Models</a:t>
            </a:r>
          </a:p>
        </p:txBody>
      </p:sp>
      <p:sp>
        <p:nvSpPr>
          <p:cNvPr id="5" name="TextBox 4"/>
          <p:cNvSpPr txBox="1"/>
          <p:nvPr/>
        </p:nvSpPr>
        <p:spPr>
          <a:xfrm>
            <a:off x="585216" y="5888736"/>
            <a:ext cx="4206240" cy="566928"/>
          </a:xfrm>
          <a:prstGeom prst="rect">
            <a:avLst/>
          </a:prstGeom>
          <a:noFill/>
        </p:spPr>
        <p:txBody>
          <a:bodyPr wrap="square" lIns="0" rIns="0" tIns="0" bIns="0" anchor="t">
            <a:spAutoFit/>
          </a:bodyPr>
          <a:lstStyle/>
          <a:p>
            <a:pPr algn="l">
              <a:spcBef>
                <a:spcPts val="0"/>
              </a:spcBef>
              <a:spcAft>
                <a:spcPts val="200"/>
              </a:spcAft>
            </a:pPr>
            <a:r>
              <a:rPr sz="1400" b="1" i="0">
                <a:solidFill>
                  <a:srgbClr val="004094"/>
                </a:solidFill>
                <a:latin typeface="맑은 고딕"/>
                <a:ea typeface="맑은 고딕"/>
                <a:cs typeface="맑은 고딕"/>
              </a:rPr>
              <a:t>VisAGI Lab</a:t>
            </a:r>
          </a:p>
          <a:p>
            <a:pPr algn="l">
              <a:spcBef>
                <a:spcPts val="0"/>
              </a:spcBef>
              <a:spcAft>
                <a:spcPts val="200"/>
              </a:spcAft>
            </a:pPr>
            <a:r>
              <a:rPr sz="1400" b="1" i="0">
                <a:solidFill>
                  <a:srgbClr val="004094"/>
                </a:solidFill>
                <a:latin typeface="맑은 고딕"/>
                <a:ea typeface="맑은 고딕"/>
                <a:cs typeface="맑은 고딕"/>
              </a:rPr>
              <a:t>인공지능학과  2023480017  조현준</a:t>
            </a:r>
          </a:p>
        </p:txBody>
      </p:sp>
      <p:sp>
        <p:nvSpPr>
          <p:cNvPr id="6" name="TextBox 5"/>
          <p:cNvSpPr txBox="1"/>
          <p:nvPr/>
        </p:nvSpPr>
        <p:spPr>
          <a:xfrm>
            <a:off x="6035040" y="5943600"/>
            <a:ext cx="2103120" cy="274320"/>
          </a:xfrm>
          <a:prstGeom prst="rect">
            <a:avLst/>
          </a:prstGeom>
          <a:noFill/>
        </p:spPr>
        <p:txBody>
          <a:bodyPr wrap="square" lIns="0" rIns="0" tIns="0" bIns="0" anchor="t">
            <a:spAutoFit/>
          </a:bodyPr>
          <a:lstStyle/>
          <a:p>
            <a:pPr algn="r">
              <a:spcBef>
                <a:spcPts val="0"/>
              </a:spcBef>
              <a:spcAft>
                <a:spcPts val="200"/>
              </a:spcAft>
            </a:pPr>
            <a:r>
              <a:rPr sz="1200" b="0" i="0">
                <a:solidFill>
                  <a:srgbClr val="767171"/>
                </a:solidFill>
                <a:latin typeface="맑은 고딕"/>
                <a:ea typeface="맑은 고딕"/>
                <a:cs typeface="맑은 고딕"/>
              </a:rPr>
              <a:t>2026. 08. 05.</a:t>
            </a:r>
          </a:p>
        </p:txBody>
      </p:sp>
      <p:pic>
        <p:nvPicPr>
          <p:cNvPr id="7" name="Picture 6"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목차</a:t>
            </a:r>
          </a:p>
        </p:txBody>
      </p:sp>
      <p:sp>
        <p:nvSpPr>
          <p:cNvPr id="5" name="Rounded Rectangle 4"/>
          <p:cNvSpPr/>
          <p:nvPr/>
        </p:nvSpPr>
        <p:spPr>
          <a:xfrm>
            <a:off x="585216" y="1920240"/>
            <a:ext cx="8732520" cy="731520"/>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6" name="Rounded Rectangle 5"/>
          <p:cNvSpPr/>
          <p:nvPr/>
        </p:nvSpPr>
        <p:spPr>
          <a:xfrm>
            <a:off x="768096" y="2112264"/>
            <a:ext cx="420624"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01</a:t>
            </a:r>
          </a:p>
        </p:txBody>
      </p:sp>
      <p:sp>
        <p:nvSpPr>
          <p:cNvPr id="7" name="TextBox 6"/>
          <p:cNvSpPr txBox="1"/>
          <p:nvPr/>
        </p:nvSpPr>
        <p:spPr>
          <a:xfrm>
            <a:off x="1389888" y="2121408"/>
            <a:ext cx="6035040" cy="365760"/>
          </a:xfrm>
          <a:prstGeom prst="rect">
            <a:avLst/>
          </a:prstGeom>
          <a:noFill/>
        </p:spPr>
        <p:txBody>
          <a:bodyPr wrap="square" lIns="0" rIns="0" tIns="0" bIns="0" anchor="t">
            <a:spAutoFit/>
          </a:bodyPr>
          <a:lstStyle/>
          <a:p>
            <a:pPr algn="l">
              <a:spcBef>
                <a:spcPts val="0"/>
              </a:spcBef>
              <a:spcAft>
                <a:spcPts val="200"/>
              </a:spcAft>
            </a:pPr>
            <a:r>
              <a:rPr sz="1650" b="1" i="0">
                <a:solidFill>
                  <a:srgbClr val="0A4D9B"/>
                </a:solidFill>
                <a:latin typeface="맑은 고딕"/>
                <a:ea typeface="맑은 고딕"/>
                <a:cs typeface="맑은 고딕"/>
              </a:rPr>
              <a:t>연구실 · 인턴십 개요</a:t>
            </a:r>
          </a:p>
        </p:txBody>
      </p:sp>
      <p:sp>
        <p:nvSpPr>
          <p:cNvPr id="8" name="TextBox 7"/>
          <p:cNvSpPr txBox="1"/>
          <p:nvPr/>
        </p:nvSpPr>
        <p:spPr>
          <a:xfrm>
            <a:off x="8311896" y="2139696"/>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0:20</a:t>
            </a:r>
          </a:p>
        </p:txBody>
      </p:sp>
      <p:sp>
        <p:nvSpPr>
          <p:cNvPr id="9" name="Rounded Rectangle 8"/>
          <p:cNvSpPr/>
          <p:nvPr/>
        </p:nvSpPr>
        <p:spPr>
          <a:xfrm>
            <a:off x="585216" y="2743200"/>
            <a:ext cx="8732520" cy="731520"/>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0" name="Rounded Rectangle 9"/>
          <p:cNvSpPr/>
          <p:nvPr/>
        </p:nvSpPr>
        <p:spPr>
          <a:xfrm>
            <a:off x="768096" y="2935224"/>
            <a:ext cx="420624"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02</a:t>
            </a:r>
          </a:p>
        </p:txBody>
      </p:sp>
      <p:sp>
        <p:nvSpPr>
          <p:cNvPr id="11" name="TextBox 10"/>
          <p:cNvSpPr txBox="1"/>
          <p:nvPr/>
        </p:nvSpPr>
        <p:spPr>
          <a:xfrm>
            <a:off x="1389888" y="2944368"/>
            <a:ext cx="6035040" cy="365760"/>
          </a:xfrm>
          <a:prstGeom prst="rect">
            <a:avLst/>
          </a:prstGeom>
          <a:noFill/>
        </p:spPr>
        <p:txBody>
          <a:bodyPr wrap="square" lIns="0" rIns="0" tIns="0" bIns="0" anchor="t">
            <a:spAutoFit/>
          </a:bodyPr>
          <a:lstStyle/>
          <a:p>
            <a:pPr algn="l">
              <a:spcBef>
                <a:spcPts val="0"/>
              </a:spcBef>
              <a:spcAft>
                <a:spcPts val="200"/>
              </a:spcAft>
            </a:pPr>
            <a:r>
              <a:rPr sz="1650" b="1" i="0">
                <a:solidFill>
                  <a:srgbClr val="0A4D9B"/>
                </a:solidFill>
                <a:latin typeface="맑은 고딕"/>
                <a:ea typeface="맑은 고딕"/>
                <a:cs typeface="맑은 고딕"/>
              </a:rPr>
              <a:t>무엇을 풀려고 했나 · 어떻게 채점하나</a:t>
            </a:r>
          </a:p>
        </p:txBody>
      </p:sp>
      <p:sp>
        <p:nvSpPr>
          <p:cNvPr id="12" name="TextBox 11"/>
          <p:cNvSpPr txBox="1"/>
          <p:nvPr/>
        </p:nvSpPr>
        <p:spPr>
          <a:xfrm>
            <a:off x="8311896" y="2962656"/>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0:50</a:t>
            </a:r>
          </a:p>
        </p:txBody>
      </p:sp>
      <p:sp>
        <p:nvSpPr>
          <p:cNvPr id="13" name="Rounded Rectangle 12"/>
          <p:cNvSpPr/>
          <p:nvPr/>
        </p:nvSpPr>
        <p:spPr>
          <a:xfrm>
            <a:off x="585216" y="3566160"/>
            <a:ext cx="8732520" cy="731520"/>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Rounded Rectangle 13"/>
          <p:cNvSpPr/>
          <p:nvPr/>
        </p:nvSpPr>
        <p:spPr>
          <a:xfrm>
            <a:off x="768096" y="3758184"/>
            <a:ext cx="420624"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03</a:t>
            </a:r>
          </a:p>
        </p:txBody>
      </p:sp>
      <p:sp>
        <p:nvSpPr>
          <p:cNvPr id="15" name="TextBox 14"/>
          <p:cNvSpPr txBox="1"/>
          <p:nvPr/>
        </p:nvSpPr>
        <p:spPr>
          <a:xfrm>
            <a:off x="1389888" y="3767328"/>
            <a:ext cx="6035040" cy="365760"/>
          </a:xfrm>
          <a:prstGeom prst="rect">
            <a:avLst/>
          </a:prstGeom>
          <a:noFill/>
        </p:spPr>
        <p:txBody>
          <a:bodyPr wrap="square" lIns="0" rIns="0" tIns="0" bIns="0" anchor="t">
            <a:spAutoFit/>
          </a:bodyPr>
          <a:lstStyle/>
          <a:p>
            <a:pPr algn="l">
              <a:spcBef>
                <a:spcPts val="0"/>
              </a:spcBef>
              <a:spcAft>
                <a:spcPts val="200"/>
              </a:spcAft>
            </a:pPr>
            <a:r>
              <a:rPr sz="1650" b="1" i="0">
                <a:solidFill>
                  <a:srgbClr val="0A4D9B"/>
                </a:solidFill>
                <a:latin typeface="맑은 고딕"/>
                <a:ea typeface="맑은 고딕"/>
                <a:cs typeface="맑은 고딕"/>
              </a:rPr>
              <a:t>만드는 과정 — 다섯 단계</a:t>
            </a:r>
          </a:p>
        </p:txBody>
      </p:sp>
      <p:sp>
        <p:nvSpPr>
          <p:cNvPr id="16" name="TextBox 15"/>
          <p:cNvSpPr txBox="1"/>
          <p:nvPr/>
        </p:nvSpPr>
        <p:spPr>
          <a:xfrm>
            <a:off x="8311896" y="3785615"/>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2:00</a:t>
            </a:r>
          </a:p>
        </p:txBody>
      </p:sp>
      <p:sp>
        <p:nvSpPr>
          <p:cNvPr id="17" name="Rounded Rectangle 16"/>
          <p:cNvSpPr/>
          <p:nvPr/>
        </p:nvSpPr>
        <p:spPr>
          <a:xfrm>
            <a:off x="585216" y="4389120"/>
            <a:ext cx="8732520" cy="731520"/>
          </a:xfrm>
          <a:prstGeom prst="roundRect">
            <a:avLst>
              <a:gd name="adj" fmla="val 16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8" name="Rounded Rectangle 17"/>
          <p:cNvSpPr/>
          <p:nvPr/>
        </p:nvSpPr>
        <p:spPr>
          <a:xfrm>
            <a:off x="768096" y="4581144"/>
            <a:ext cx="420624"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04</a:t>
            </a:r>
          </a:p>
        </p:txBody>
      </p:sp>
      <p:sp>
        <p:nvSpPr>
          <p:cNvPr id="19" name="TextBox 18"/>
          <p:cNvSpPr txBox="1"/>
          <p:nvPr/>
        </p:nvSpPr>
        <p:spPr>
          <a:xfrm>
            <a:off x="1389888" y="4590288"/>
            <a:ext cx="6035040" cy="365760"/>
          </a:xfrm>
          <a:prstGeom prst="rect">
            <a:avLst/>
          </a:prstGeom>
          <a:noFill/>
        </p:spPr>
        <p:txBody>
          <a:bodyPr wrap="square" lIns="0" rIns="0" tIns="0" bIns="0" anchor="t">
            <a:spAutoFit/>
          </a:bodyPr>
          <a:lstStyle/>
          <a:p>
            <a:pPr algn="l">
              <a:spcBef>
                <a:spcPts val="0"/>
              </a:spcBef>
              <a:spcAft>
                <a:spcPts val="200"/>
              </a:spcAft>
            </a:pPr>
            <a:r>
              <a:rPr sz="1650" b="1" i="0">
                <a:solidFill>
                  <a:srgbClr val="0A4D9B"/>
                </a:solidFill>
                <a:latin typeface="맑은 고딕"/>
                <a:ea typeface="맑은 고딕"/>
                <a:cs typeface="맑은 고딕"/>
              </a:rPr>
              <a:t>결과</a:t>
            </a:r>
          </a:p>
        </p:txBody>
      </p:sp>
      <p:sp>
        <p:nvSpPr>
          <p:cNvPr id="20" name="TextBox 19"/>
          <p:cNvSpPr txBox="1"/>
          <p:nvPr/>
        </p:nvSpPr>
        <p:spPr>
          <a:xfrm>
            <a:off x="8311896" y="4608576"/>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1:00</a:t>
            </a:r>
          </a:p>
        </p:txBody>
      </p:sp>
      <p:sp>
        <p:nvSpPr>
          <p:cNvPr id="21" name="Rounded Rectangle 20"/>
          <p:cNvSpPr/>
          <p:nvPr/>
        </p:nvSpPr>
        <p:spPr>
          <a:xfrm>
            <a:off x="585216" y="5212080"/>
            <a:ext cx="8732520" cy="731520"/>
          </a:xfrm>
          <a:prstGeom prst="roundRect">
            <a:avLst>
              <a:gd name="adj" fmla="val 16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Rounded Rectangle 21"/>
          <p:cNvSpPr/>
          <p:nvPr/>
        </p:nvSpPr>
        <p:spPr>
          <a:xfrm>
            <a:off x="768096" y="5404104"/>
            <a:ext cx="420624" cy="347472"/>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05</a:t>
            </a:r>
          </a:p>
        </p:txBody>
      </p:sp>
      <p:sp>
        <p:nvSpPr>
          <p:cNvPr id="23" name="TextBox 22"/>
          <p:cNvSpPr txBox="1"/>
          <p:nvPr/>
        </p:nvSpPr>
        <p:spPr>
          <a:xfrm>
            <a:off x="1389888" y="5413248"/>
            <a:ext cx="6035040" cy="365760"/>
          </a:xfrm>
          <a:prstGeom prst="rect">
            <a:avLst/>
          </a:prstGeom>
          <a:noFill/>
        </p:spPr>
        <p:txBody>
          <a:bodyPr wrap="square" lIns="0" rIns="0" tIns="0" bIns="0" anchor="t">
            <a:spAutoFit/>
          </a:bodyPr>
          <a:lstStyle/>
          <a:p>
            <a:pPr algn="l">
              <a:spcBef>
                <a:spcPts val="0"/>
              </a:spcBef>
              <a:spcAft>
                <a:spcPts val="200"/>
              </a:spcAft>
            </a:pPr>
            <a:r>
              <a:rPr sz="1650" b="1" i="0">
                <a:solidFill>
                  <a:srgbClr val="0A4D9B"/>
                </a:solidFill>
                <a:latin typeface="맑은 고딕"/>
                <a:ea typeface="맑은 고딕"/>
                <a:cs typeface="맑은 고딕"/>
              </a:rPr>
              <a:t>기여 · 향후 계획 · 소감</a:t>
            </a:r>
          </a:p>
        </p:txBody>
      </p:sp>
      <p:sp>
        <p:nvSpPr>
          <p:cNvPr id="24" name="TextBox 23"/>
          <p:cNvSpPr txBox="1"/>
          <p:nvPr/>
        </p:nvSpPr>
        <p:spPr>
          <a:xfrm>
            <a:off x="8311896" y="5431536"/>
            <a:ext cx="822960" cy="310896"/>
          </a:xfrm>
          <a:prstGeom prst="rect">
            <a:avLst/>
          </a:prstGeom>
          <a:noFill/>
        </p:spPr>
        <p:txBody>
          <a:bodyPr wrap="square" lIns="0" rIns="0" tIns="0" bIns="0" anchor="t">
            <a:spAutoFit/>
          </a:bodyPr>
          <a:lstStyle/>
          <a:p>
            <a:pPr algn="r">
              <a:spcBef>
                <a:spcPts val="0"/>
              </a:spcBef>
              <a:spcAft>
                <a:spcPts val="200"/>
              </a:spcAft>
            </a:pPr>
            <a:r>
              <a:rPr sz="1300" b="1" i="0">
                <a:solidFill>
                  <a:srgbClr val="2E75B6"/>
                </a:solidFill>
                <a:latin typeface="맑은 고딕"/>
                <a:ea typeface="맑은 고딕"/>
                <a:cs typeface="맑은 고딕"/>
              </a:rPr>
              <a:t>0:50</a:t>
            </a:r>
          </a:p>
        </p:txBody>
      </p:sp>
      <p:sp>
        <p:nvSpPr>
          <p:cNvPr id="25" name="Rounded Rectangle 24"/>
          <p:cNvSpPr/>
          <p:nvPr/>
        </p:nvSpPr>
        <p:spPr>
          <a:xfrm>
            <a:off x="585216" y="5943600"/>
            <a:ext cx="8732520" cy="475488"/>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6" name="TextBox 25"/>
          <p:cNvSpPr txBox="1"/>
          <p:nvPr/>
        </p:nvSpPr>
        <p:spPr>
          <a:xfrm>
            <a:off x="768096" y="6035040"/>
            <a:ext cx="8366760" cy="310896"/>
          </a:xfrm>
          <a:prstGeom prst="rect">
            <a:avLst/>
          </a:prstGeom>
          <a:noFill/>
        </p:spPr>
        <p:txBody>
          <a:bodyPr wrap="square" lIns="0" rIns="0" tIns="0" bIns="0" anchor="t">
            <a:spAutoFit/>
          </a:bodyPr>
          <a:lstStyle/>
          <a:p>
            <a:pPr algn="l">
              <a:spcBef>
                <a:spcPts val="0"/>
              </a:spcBef>
              <a:spcAft>
                <a:spcPts val="200"/>
              </a:spcAft>
            </a:pPr>
            <a:r>
              <a:rPr sz="1300" b="0" i="0">
                <a:solidFill>
                  <a:srgbClr val="27251E"/>
                </a:solidFill>
                <a:latin typeface="맑은 고딕"/>
                <a:ea typeface="맑은 고딕"/>
                <a:cs typeface="맑은 고딕"/>
              </a:rPr>
              <a:t>이번 발표의 중심은 </a:t>
            </a:r>
            <a:r>
              <a:rPr sz="1300" b="1" i="0">
                <a:solidFill>
                  <a:srgbClr val="004094"/>
                </a:solidFill>
                <a:latin typeface="맑은 고딕"/>
                <a:ea typeface="맑은 고딕"/>
                <a:cs typeface="맑은 고딕"/>
              </a:rPr>
              <a:t>③ 만드는 과정</a:t>
            </a:r>
            <a:r>
              <a:rPr sz="1300" b="0" i="0">
                <a:solidFill>
                  <a:srgbClr val="27251E"/>
                </a:solidFill>
                <a:latin typeface="맑은 고딕"/>
                <a:ea typeface="맑은 고딕"/>
                <a:cs typeface="맑은 고딕"/>
              </a:rPr>
              <a:t>입니다 — 다섯 단계 각각이 왜 필요한지를 예시로 설명드립니다.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3</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연구실 · 인턴십 개요</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1" i="0">
                <a:solidFill>
                  <a:srgbClr val="0A4D9B"/>
                </a:solidFill>
                <a:latin typeface="맑은 고딕"/>
                <a:ea typeface="맑은 고딕"/>
                <a:cs typeface="맑은 고딕"/>
              </a:rPr>
              <a:t>VisAGI Lab</a:t>
            </a:r>
            <a:r>
              <a:rPr sz="1500" b="0" i="0">
                <a:solidFill>
                  <a:srgbClr val="27251E"/>
                </a:solidFill>
                <a:latin typeface="맑은 고딕"/>
                <a:ea typeface="맑은 고딕"/>
                <a:cs typeface="맑은 고딕"/>
              </a:rPr>
              <a:t>  ·  AI가 이미지와 언어를 함께 이해하는 능력을 </a:t>
            </a:r>
            <a:r>
              <a:rPr sz="1500" b="1" i="0">
                <a:solidFill>
                  <a:srgbClr val="27251E"/>
                </a:solidFill>
                <a:latin typeface="맑은 고딕"/>
                <a:ea typeface="맑은 고딕"/>
                <a:cs typeface="맑은 고딕"/>
              </a:rPr>
              <a:t>평가하고 개선</a:t>
            </a:r>
            <a:r>
              <a:rPr sz="1500" b="0" i="0">
                <a:solidFill>
                  <a:srgbClr val="27251E"/>
                </a:solidFill>
                <a:latin typeface="맑은 고딕"/>
                <a:ea typeface="맑은 고딕"/>
                <a:cs typeface="맑은 고딕"/>
              </a:rPr>
              <a:t>하는 연구실</a:t>
            </a:r>
          </a:p>
        </p:txBody>
      </p:sp>
      <p:sp>
        <p:nvSpPr>
          <p:cNvPr id="6" name="Rounded Rectangle 5"/>
          <p:cNvSpPr/>
          <p:nvPr/>
        </p:nvSpPr>
        <p:spPr>
          <a:xfrm>
            <a:off x="585216" y="2194560"/>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2,621</a:t>
            </a:r>
          </a:p>
          <a:p>
            <a:pPr algn="ctr">
              <a:spcBef>
                <a:spcPts val="0"/>
              </a:spcBef>
              <a:spcAft>
                <a:spcPts val="200"/>
              </a:spcAft>
            </a:pPr>
            <a:r>
              <a:rPr sz="1150" b="0" i="0">
                <a:solidFill>
                  <a:srgbClr val="27251E"/>
                </a:solidFill>
                <a:latin typeface="맑은 고딕"/>
                <a:ea typeface="맑은 고딕"/>
                <a:cs typeface="맑은 고딕"/>
              </a:rPr>
              <a:t>만든 문항</a:t>
            </a:r>
          </a:p>
        </p:txBody>
      </p:sp>
      <p:sp>
        <p:nvSpPr>
          <p:cNvPr id="7" name="Rounded Rectangle 6"/>
          <p:cNvSpPr/>
          <p:nvPr/>
        </p:nvSpPr>
        <p:spPr>
          <a:xfrm>
            <a:off x="2724912" y="2194560"/>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48</a:t>
            </a:r>
          </a:p>
          <a:p>
            <a:pPr algn="ctr">
              <a:spcBef>
                <a:spcPts val="0"/>
              </a:spcBef>
              <a:spcAft>
                <a:spcPts val="200"/>
              </a:spcAft>
            </a:pPr>
            <a:r>
              <a:rPr sz="1150" b="0" i="0">
                <a:solidFill>
                  <a:srgbClr val="27251E"/>
                </a:solidFill>
                <a:latin typeface="맑은 고딕"/>
                <a:ea typeface="맑은 고딕"/>
                <a:cs typeface="맑은 고딕"/>
              </a:rPr>
              <a:t>만든 대화</a:t>
            </a:r>
          </a:p>
        </p:txBody>
      </p:sp>
      <p:sp>
        <p:nvSpPr>
          <p:cNvPr id="8" name="Rounded Rectangle 7"/>
          <p:cNvSpPr/>
          <p:nvPr/>
        </p:nvSpPr>
        <p:spPr>
          <a:xfrm>
            <a:off x="4864608" y="2194560"/>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1,661</a:t>
            </a:r>
          </a:p>
          <a:p>
            <a:pPr algn="ctr">
              <a:spcBef>
                <a:spcPts val="0"/>
              </a:spcBef>
              <a:spcAft>
                <a:spcPts val="200"/>
              </a:spcAft>
            </a:pPr>
            <a:r>
              <a:rPr sz="1150" b="0" i="0">
                <a:solidFill>
                  <a:srgbClr val="27251E"/>
                </a:solidFill>
                <a:latin typeface="맑은 고딕"/>
                <a:ea typeface="맑은 고딕"/>
                <a:cs typeface="맑은 고딕"/>
              </a:rPr>
              <a:t>직접 검수한 칸</a:t>
            </a:r>
          </a:p>
        </p:txBody>
      </p:sp>
      <p:sp>
        <p:nvSpPr>
          <p:cNvPr id="9" name="Rounded Rectangle 8"/>
          <p:cNvSpPr/>
          <p:nvPr/>
        </p:nvSpPr>
        <p:spPr>
          <a:xfrm>
            <a:off x="7004304" y="2194560"/>
            <a:ext cx="2048256" cy="932688"/>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3000" b="1" i="0">
                <a:solidFill>
                  <a:srgbClr val="004094"/>
                </a:solidFill>
                <a:latin typeface="맑은 고딕"/>
                <a:ea typeface="맑은 고딕"/>
                <a:cs typeface="맑은 고딕"/>
              </a:rPr>
              <a:t>8종</a:t>
            </a:r>
          </a:p>
          <a:p>
            <a:pPr algn="ctr">
              <a:spcBef>
                <a:spcPts val="0"/>
              </a:spcBef>
              <a:spcAft>
                <a:spcPts val="200"/>
              </a:spcAft>
            </a:pPr>
            <a:r>
              <a:rPr sz="1150" b="0" i="0">
                <a:solidFill>
                  <a:srgbClr val="27251E"/>
                </a:solidFill>
                <a:latin typeface="맑은 고딕"/>
                <a:ea typeface="맑은 고딕"/>
                <a:cs typeface="맑은 고딕"/>
              </a:rPr>
              <a:t>평가한 AI 모델</a:t>
            </a:r>
          </a:p>
        </p:txBody>
      </p:sp>
      <p:sp>
        <p:nvSpPr>
          <p:cNvPr id="10" name="TextBox 9"/>
          <p:cNvSpPr txBox="1"/>
          <p:nvPr/>
        </p:nvSpPr>
        <p:spPr>
          <a:xfrm>
            <a:off x="585216" y="3474720"/>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제가 담당한 범위</a:t>
            </a:r>
          </a:p>
        </p:txBody>
      </p:sp>
      <p:sp>
        <p:nvSpPr>
          <p:cNvPr id="11" name="Rounded Rectangle 10"/>
          <p:cNvSpPr/>
          <p:nvPr/>
        </p:nvSpPr>
        <p:spPr>
          <a:xfrm>
            <a:off x="585216" y="3877056"/>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설계</a:t>
            </a:r>
          </a:p>
        </p:txBody>
      </p:sp>
      <p:sp>
        <p:nvSpPr>
          <p:cNvPr id="12" name="TextBox 11"/>
          <p:cNvSpPr txBox="1"/>
          <p:nvPr/>
        </p:nvSpPr>
        <p:spPr>
          <a:xfrm>
            <a:off x="1536192" y="3922776"/>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무엇을 어떻게 잴지 정하고, 문항·대화 생성 규칙 작성</a:t>
            </a:r>
          </a:p>
        </p:txBody>
      </p:sp>
      <p:sp>
        <p:nvSpPr>
          <p:cNvPr id="13" name="Rounded Rectangle 12"/>
          <p:cNvSpPr/>
          <p:nvPr/>
        </p:nvSpPr>
        <p:spPr>
          <a:xfrm>
            <a:off x="585216" y="4334256"/>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구현</a:t>
            </a:r>
          </a:p>
        </p:txBody>
      </p:sp>
      <p:sp>
        <p:nvSpPr>
          <p:cNvPr id="14" name="TextBox 13"/>
          <p:cNvSpPr txBox="1"/>
          <p:nvPr/>
        </p:nvSpPr>
        <p:spPr>
          <a:xfrm>
            <a:off x="1536192" y="4379976"/>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다섯 단계 파이프라인 전체 개발</a:t>
            </a:r>
          </a:p>
        </p:txBody>
      </p:sp>
      <p:sp>
        <p:nvSpPr>
          <p:cNvPr id="15" name="Rounded Rectangle 14"/>
          <p:cNvSpPr/>
          <p:nvPr/>
        </p:nvSpPr>
        <p:spPr>
          <a:xfrm>
            <a:off x="585216" y="4791456"/>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검수</a:t>
            </a:r>
          </a:p>
        </p:txBody>
      </p:sp>
      <p:sp>
        <p:nvSpPr>
          <p:cNvPr id="16" name="TextBox 15"/>
          <p:cNvSpPr txBox="1"/>
          <p:nvPr/>
        </p:nvSpPr>
        <p:spPr>
          <a:xfrm>
            <a:off x="1536192" y="4837176"/>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1,661칸 검수 도구 제작 및 전수 확인</a:t>
            </a:r>
          </a:p>
        </p:txBody>
      </p:sp>
      <p:sp>
        <p:nvSpPr>
          <p:cNvPr id="17" name="Rounded Rectangle 16"/>
          <p:cNvSpPr/>
          <p:nvPr/>
        </p:nvSpPr>
        <p:spPr>
          <a:xfrm>
            <a:off x="585216" y="5248656"/>
            <a:ext cx="786384"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200" b="1" i="0">
                <a:solidFill>
                  <a:srgbClr val="FFFFFF"/>
                </a:solidFill>
                <a:latin typeface="맑은 고딕"/>
                <a:ea typeface="맑은 고딕"/>
                <a:cs typeface="맑은 고딕"/>
              </a:rPr>
              <a:t>실험</a:t>
            </a:r>
          </a:p>
        </p:txBody>
      </p:sp>
      <p:sp>
        <p:nvSpPr>
          <p:cNvPr id="18" name="TextBox 17"/>
          <p:cNvSpPr txBox="1"/>
          <p:nvPr/>
        </p:nvSpPr>
        <p:spPr>
          <a:xfrm>
            <a:off x="1536192" y="5294376"/>
            <a:ext cx="7726680" cy="274320"/>
          </a:xfrm>
          <a:prstGeom prst="rect">
            <a:avLst/>
          </a:prstGeom>
          <a:noFill/>
        </p:spPr>
        <p:txBody>
          <a:bodyPr wrap="square" lIns="0" rIns="0" tIns="0" bIns="0" anchor="t">
            <a:spAutoFit/>
          </a:bodyPr>
          <a:lstStyle/>
          <a:p>
            <a:pPr algn="l">
              <a:spcBef>
                <a:spcPts val="0"/>
              </a:spcBef>
              <a:spcAft>
                <a:spcPts val="200"/>
              </a:spcAft>
            </a:pPr>
            <a:r>
              <a:rPr sz="1350" b="0" i="0">
                <a:solidFill>
                  <a:srgbClr val="27251E"/>
                </a:solidFill>
                <a:latin typeface="맑은 고딕"/>
                <a:ea typeface="맑은 고딕"/>
                <a:cs typeface="맑은 고딕"/>
              </a:rPr>
              <a:t>AI 모델 8종 평가 실행과 결과 분석</a:t>
            </a:r>
          </a:p>
        </p:txBody>
      </p:sp>
      <p:sp>
        <p:nvSpPr>
          <p:cNvPr id="19" name="Rounded Rectangle 18"/>
          <p:cNvSpPr/>
          <p:nvPr/>
        </p:nvSpPr>
        <p:spPr>
          <a:xfrm>
            <a:off x="585216" y="5760720"/>
            <a:ext cx="8732520" cy="56692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0" name="TextBox 19"/>
          <p:cNvSpPr txBox="1"/>
          <p:nvPr/>
        </p:nvSpPr>
        <p:spPr>
          <a:xfrm>
            <a:off x="768096" y="5870448"/>
            <a:ext cx="8366760" cy="365760"/>
          </a:xfrm>
          <a:prstGeom prst="rect">
            <a:avLst/>
          </a:prstGeom>
          <a:noFill/>
        </p:spPr>
        <p:txBody>
          <a:bodyPr wrap="square" lIns="0" rIns="0" tIns="0" bIns="0" anchor="t">
            <a:spAutoFit/>
          </a:bodyPr>
          <a:lstStyle/>
          <a:p>
            <a:pPr algn="l">
              <a:spcBef>
                <a:spcPts val="0"/>
              </a:spcBef>
              <a:spcAft>
                <a:spcPts val="200"/>
              </a:spcAft>
            </a:pPr>
            <a:r>
              <a:rPr sz="1200" b="1" i="0">
                <a:solidFill>
                  <a:srgbClr val="767171"/>
                </a:solidFill>
                <a:latin typeface="맑은 고딕"/>
                <a:ea typeface="맑은 고딕"/>
                <a:cs typeface="맑은 고딕"/>
              </a:rPr>
              <a:t>사용 기술  </a:t>
            </a:r>
            <a:r>
              <a:rPr sz="1200" b="0" i="0">
                <a:solidFill>
                  <a:srgbClr val="767171"/>
                </a:solidFill>
                <a:latin typeface="맑은 고딕"/>
                <a:ea typeface="맑은 고딕"/>
                <a:cs typeface="맑은 고딕"/>
              </a:rPr>
              <a:t>PyTorch · vLLM · FAISS · FashionSigLIP · SAM3 · Qwen3-VL · GPT-5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4</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무엇을 풀려고 했나</a:t>
            </a:r>
            <a:r>
              <a:rPr sz="1400" b="0" i="0">
                <a:solidFill>
                  <a:srgbClr val="767171"/>
                </a:solidFill>
                <a:latin typeface="맑은 고딕"/>
                <a:ea typeface="맑은 고딕"/>
                <a:cs typeface="맑은 고딕"/>
              </a:rPr>
              <a:t>   취향과 상황은 서로 다른 문제다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700" b="0" i="0">
                <a:solidFill>
                  <a:srgbClr val="27251E"/>
                </a:solidFill>
                <a:latin typeface="맑은 고딕"/>
                <a:ea typeface="맑은 고딕"/>
                <a:cs typeface="맑은 고딕"/>
              </a:rPr>
              <a:t>AI에게 옷을 추천해 달라고 하면, </a:t>
            </a:r>
            <a:r>
              <a:rPr sz="1700" b="1" i="0">
                <a:solidFill>
                  <a:srgbClr val="C00000"/>
                </a:solidFill>
                <a:latin typeface="맑은 고딕"/>
                <a:ea typeface="맑은 고딕"/>
                <a:cs typeface="맑은 고딕"/>
              </a:rPr>
              <a:t>내 취향</a:t>
            </a:r>
            <a:r>
              <a:rPr sz="1700" b="0" i="0">
                <a:solidFill>
                  <a:srgbClr val="27251E"/>
                </a:solidFill>
                <a:latin typeface="맑은 고딕"/>
                <a:ea typeface="맑은 고딕"/>
                <a:cs typeface="맑은 고딕"/>
              </a:rPr>
              <a:t>과 </a:t>
            </a:r>
            <a:r>
              <a:rPr sz="1700" b="1" i="0">
                <a:solidFill>
                  <a:srgbClr val="2E75B6"/>
                </a:solidFill>
                <a:latin typeface="맑은 고딕"/>
                <a:ea typeface="맑은 고딕"/>
                <a:cs typeface="맑은 고딕"/>
              </a:rPr>
              <a:t>지금 상황</a:t>
            </a:r>
            <a:r>
              <a:rPr sz="1700" b="0" i="0">
                <a:solidFill>
                  <a:srgbClr val="27251E"/>
                </a:solidFill>
                <a:latin typeface="맑은 고딕"/>
                <a:ea typeface="맑은 고딕"/>
                <a:cs typeface="맑은 고딕"/>
              </a:rPr>
              <a:t>을 </a:t>
            </a:r>
            <a:r>
              <a:rPr sz="1700" b="1" i="0">
                <a:solidFill>
                  <a:srgbClr val="7030A0"/>
                </a:solidFill>
                <a:latin typeface="맑은 고딕"/>
                <a:ea typeface="맑은 고딕"/>
                <a:cs typeface="맑은 고딕"/>
              </a:rPr>
              <a:t>동시에</a:t>
            </a:r>
            <a:r>
              <a:rPr sz="1700" b="0" i="0">
                <a:solidFill>
                  <a:srgbClr val="27251E"/>
                </a:solidFill>
                <a:latin typeface="맑은 고딕"/>
                <a:ea typeface="맑은 고딕"/>
                <a:cs typeface="맑은 고딕"/>
              </a:rPr>
              <a:t> 맞출 수 있을까?</a:t>
            </a:r>
          </a:p>
        </p:txBody>
      </p:sp>
      <p:sp>
        <p:nvSpPr>
          <p:cNvPr id="6" name="Rounded Rectangle 5"/>
          <p:cNvSpPr/>
          <p:nvPr/>
        </p:nvSpPr>
        <p:spPr>
          <a:xfrm>
            <a:off x="585216" y="2066543"/>
            <a:ext cx="4160520" cy="11338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68096" y="2194560"/>
            <a:ext cx="3822191" cy="914400"/>
          </a:xfrm>
          <a:prstGeom prst="rect">
            <a:avLst/>
          </a:prstGeom>
          <a:noFill/>
        </p:spPr>
        <p:txBody>
          <a:bodyPr wrap="square" lIns="0" rIns="0" tIns="0" bIns="0" anchor="t">
            <a:spAutoFit/>
          </a:bodyPr>
          <a:lstStyle/>
          <a:p>
            <a:pPr algn="l">
              <a:lnSpc>
                <a:spcPct val="120000"/>
              </a:lnSpc>
              <a:spcBef>
                <a:spcPts val="0"/>
              </a:spcBef>
              <a:spcAft>
                <a:spcPts val="200"/>
              </a:spcAft>
            </a:pPr>
            <a:r>
              <a:rPr sz="1300" b="1" i="0">
                <a:solidFill>
                  <a:srgbClr val="004094"/>
                </a:solidFill>
                <a:latin typeface="맑은 고딕"/>
                <a:ea typeface="맑은 고딕"/>
                <a:cs typeface="맑은 고딕"/>
              </a:rPr>
              <a:t>이 사람은</a:t>
            </a:r>
            <a:r>
              <a:rPr sz="1300" b="0" i="0">
                <a:solidFill>
                  <a:srgbClr val="27251E"/>
                </a:solidFill>
                <a:latin typeface="맑은 고딕"/>
                <a:ea typeface="맑은 고딕"/>
                <a:cs typeface="맑은 고딕"/>
              </a:rPr>
              <a:t>   파란색을 좋아하고 주황색을 싫어합니다</a:t>
            </a:r>
          </a:p>
          <a:p>
            <a:pPr algn="l">
              <a:lnSpc>
                <a:spcPct val="120000"/>
              </a:lnSpc>
              <a:spcBef>
                <a:spcPts val="800"/>
              </a:spcBef>
              <a:spcAft>
                <a:spcPts val="200"/>
              </a:spcAft>
            </a:pPr>
            <a:r>
              <a:rPr sz="1300" b="1" i="0">
                <a:solidFill>
                  <a:srgbClr val="004094"/>
                </a:solidFill>
                <a:latin typeface="맑은 고딕"/>
                <a:ea typeface="맑은 고딕"/>
                <a:cs typeface="맑은 고딕"/>
              </a:rPr>
              <a:t>지금 상황은</a:t>
            </a:r>
            <a:r>
              <a:rPr sz="1300" b="0" i="0">
                <a:solidFill>
                  <a:srgbClr val="27251E"/>
                </a:solidFill>
                <a:latin typeface="맑은 고딕"/>
                <a:ea typeface="맑은 고딕"/>
                <a:cs typeface="맑은 고딕"/>
              </a:rPr>
              <a:t>   한겨울 야외 시장, 하루 종일</a:t>
            </a:r>
          </a:p>
        </p:txBody>
      </p:sp>
      <p:sp>
        <p:nvSpPr>
          <p:cNvPr id="8" name="Rounded Rectangle 7"/>
          <p:cNvSpPr/>
          <p:nvPr/>
        </p:nvSpPr>
        <p:spPr>
          <a:xfrm>
            <a:off x="5074920" y="2066543"/>
            <a:ext cx="4242816" cy="1133856"/>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5239512" y="2194560"/>
            <a:ext cx="3913632" cy="914400"/>
          </a:xfrm>
          <a:prstGeom prst="rect">
            <a:avLst/>
          </a:prstGeom>
          <a:noFill/>
        </p:spPr>
        <p:txBody>
          <a:bodyPr wrap="square" lIns="0" rIns="0" tIns="0" bIns="0" anchor="t">
            <a:spAutoFit/>
          </a:bodyPr>
          <a:lstStyle/>
          <a:p>
            <a:pPr algn="l">
              <a:spcBef>
                <a:spcPts val="0"/>
              </a:spcBef>
              <a:spcAft>
                <a:spcPts val="200"/>
              </a:spcAft>
            </a:pPr>
            <a:r>
              <a:rPr sz="1300" b="1" i="0">
                <a:solidFill>
                  <a:srgbClr val="C00000"/>
                </a:solidFill>
                <a:latin typeface="맑은 고딕"/>
                <a:ea typeface="맑은 고딕"/>
                <a:cs typeface="맑은 고딕"/>
              </a:rPr>
              <a:t>한쪽만 맞추면 이렇게 됩니다</a:t>
            </a:r>
          </a:p>
          <a:p>
            <a:pPr algn="l">
              <a:lnSpc>
                <a:spcPct val="120000"/>
              </a:lnSpc>
              <a:spcBef>
                <a:spcPts val="500"/>
              </a:spcBef>
              <a:spcAft>
                <a:spcPts val="200"/>
              </a:spcAft>
            </a:pPr>
            <a:r>
              <a:rPr sz="1250" b="1" i="0">
                <a:solidFill>
                  <a:srgbClr val="27251E"/>
                </a:solidFill>
                <a:latin typeface="맑은 고딕"/>
                <a:ea typeface="맑은 고딕"/>
                <a:cs typeface="맑은 고딕"/>
              </a:rPr>
              <a:t>취향만</a:t>
            </a:r>
            <a:r>
              <a:rPr sz="1250" b="0" i="0">
                <a:solidFill>
                  <a:srgbClr val="27251E"/>
                </a:solidFill>
                <a:latin typeface="맑은 고딕"/>
                <a:ea typeface="맑은 고딕"/>
                <a:cs typeface="맑은 고딕"/>
              </a:rPr>
              <a:t>  →  파란 원피스 </a:t>
            </a:r>
            <a:r>
              <a:rPr sz="1250" b="0" i="0">
                <a:solidFill>
                  <a:srgbClr val="C00000"/>
                </a:solidFill>
                <a:latin typeface="맑은 고딕"/>
                <a:ea typeface="맑은 고딕"/>
                <a:cs typeface="맑은 고딕"/>
              </a:rPr>
              <a:t>(한겨울에 춥다)</a:t>
            </a:r>
          </a:p>
          <a:p>
            <a:pPr algn="l">
              <a:lnSpc>
                <a:spcPct val="120000"/>
              </a:lnSpc>
              <a:spcBef>
                <a:spcPts val="300"/>
              </a:spcBef>
              <a:spcAft>
                <a:spcPts val="200"/>
              </a:spcAft>
            </a:pPr>
            <a:r>
              <a:rPr sz="1250" b="1" i="0">
                <a:solidFill>
                  <a:srgbClr val="27251E"/>
                </a:solidFill>
                <a:latin typeface="맑은 고딕"/>
                <a:ea typeface="맑은 고딕"/>
                <a:cs typeface="맑은 고딕"/>
              </a:rPr>
              <a:t>상황만</a:t>
            </a:r>
            <a:r>
              <a:rPr sz="1250" b="0" i="0">
                <a:solidFill>
                  <a:srgbClr val="27251E"/>
                </a:solidFill>
                <a:latin typeface="맑은 고딕"/>
                <a:ea typeface="맑은 고딕"/>
                <a:cs typeface="맑은 고딕"/>
              </a:rPr>
              <a:t>  →  주황 후드 </a:t>
            </a:r>
            <a:r>
              <a:rPr sz="1250" b="0" i="0">
                <a:solidFill>
                  <a:srgbClr val="C00000"/>
                </a:solidFill>
                <a:latin typeface="맑은 고딕"/>
                <a:ea typeface="맑은 고딕"/>
                <a:cs typeface="맑은 고딕"/>
              </a:rPr>
              <a:t>(싫어하는 색)</a:t>
            </a:r>
          </a:p>
        </p:txBody>
      </p:sp>
      <p:sp>
        <p:nvSpPr>
          <p:cNvPr id="10" name="Down Arrow 9"/>
          <p:cNvSpPr/>
          <p:nvPr/>
        </p:nvSpPr>
        <p:spPr>
          <a:xfrm>
            <a:off x="4846320" y="3273552"/>
            <a:ext cx="201168" cy="201168"/>
          </a:xfrm>
          <a:prstGeom prst="downArrow">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7030A0"/>
                </a:solidFill>
                <a:latin typeface="맑은 고딕"/>
                <a:ea typeface="맑은 고딕"/>
                <a:cs typeface="맑은 고딕"/>
              </a:rPr>
              <a:t>A</a:t>
            </a:r>
          </a:p>
        </p:txBody>
      </p:sp>
      <p:sp>
        <p:nvSpPr>
          <p:cNvPr id="12" name="TextBox 11"/>
          <p:cNvSpPr txBox="1"/>
          <p:nvPr/>
        </p:nvSpPr>
        <p:spPr>
          <a:xfrm>
            <a:off x="31272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C00000"/>
                </a:solidFill>
                <a:latin typeface="맑은 고딕"/>
                <a:ea typeface="맑은 고딕"/>
                <a:cs typeface="맑은 고딕"/>
              </a:rPr>
              <a:t>B</a:t>
            </a:r>
          </a:p>
        </p:txBody>
      </p:sp>
      <p:sp>
        <p:nvSpPr>
          <p:cNvPr id="13" name="TextBox 12"/>
          <p:cNvSpPr txBox="1"/>
          <p:nvPr/>
        </p:nvSpPr>
        <p:spPr>
          <a:xfrm>
            <a:off x="49560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0A4D9B"/>
                </a:solidFill>
                <a:latin typeface="맑은 고딕"/>
                <a:ea typeface="맑은 고딕"/>
                <a:cs typeface="맑은 고딕"/>
              </a:rPr>
              <a:t>C</a:t>
            </a:r>
          </a:p>
        </p:txBody>
      </p:sp>
      <p:sp>
        <p:nvSpPr>
          <p:cNvPr id="14" name="TextBox 13"/>
          <p:cNvSpPr txBox="1"/>
          <p:nvPr/>
        </p:nvSpPr>
        <p:spPr>
          <a:xfrm>
            <a:off x="6784848" y="3584448"/>
            <a:ext cx="1828800" cy="292608"/>
          </a:xfrm>
          <a:prstGeom prst="rect">
            <a:avLst/>
          </a:prstGeom>
          <a:noFill/>
        </p:spPr>
        <p:txBody>
          <a:bodyPr wrap="square" lIns="0" rIns="0" tIns="0" bIns="0" anchor="t">
            <a:spAutoFit/>
          </a:bodyPr>
          <a:lstStyle/>
          <a:p>
            <a:pPr algn="ctr">
              <a:spcBef>
                <a:spcPts val="0"/>
              </a:spcBef>
              <a:spcAft>
                <a:spcPts val="200"/>
              </a:spcAft>
            </a:pPr>
            <a:r>
              <a:rPr sz="1900" b="1" i="0">
                <a:solidFill>
                  <a:srgbClr val="767171"/>
                </a:solidFill>
                <a:latin typeface="맑은 고딕"/>
                <a:ea typeface="맑은 고딕"/>
                <a:cs typeface="맑은 고딕"/>
              </a:rPr>
              <a:t>D</a:t>
            </a:r>
          </a:p>
        </p:txBody>
      </p:sp>
      <p:pic>
        <p:nvPicPr>
          <p:cNvPr id="15" name="Picture 14" descr="fig_abcd.png"/>
          <p:cNvPicPr>
            <a:picLocks noChangeAspect="1"/>
          </p:cNvPicPr>
          <p:nvPr/>
        </p:nvPicPr>
        <p:blipFill>
          <a:blip r:embed="rId3"/>
          <a:stretch>
            <a:fillRect/>
          </a:stretch>
        </p:blipFill>
        <p:spPr>
          <a:xfrm>
            <a:off x="1298448" y="3913632"/>
            <a:ext cx="7315200" cy="1766277"/>
          </a:xfrm>
          <a:prstGeom prst="rect">
            <a:avLst/>
          </a:prstGeom>
        </p:spPr>
      </p:pic>
      <p:sp>
        <p:nvSpPr>
          <p:cNvPr id="16" name="TextBox 15"/>
          <p:cNvSpPr txBox="1"/>
          <p:nvPr/>
        </p:nvSpPr>
        <p:spPr>
          <a:xfrm>
            <a:off x="12984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7030A0"/>
                </a:solidFill>
                <a:latin typeface="맑은 고딕"/>
                <a:ea typeface="맑은 고딕"/>
                <a:cs typeface="맑은 고딕"/>
              </a:rPr>
              <a:t>둘 다 만족</a:t>
            </a:r>
          </a:p>
        </p:txBody>
      </p:sp>
      <p:sp>
        <p:nvSpPr>
          <p:cNvPr id="17" name="TextBox 16"/>
          <p:cNvSpPr txBox="1"/>
          <p:nvPr/>
        </p:nvSpPr>
        <p:spPr>
          <a:xfrm>
            <a:off x="31272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C00000"/>
                </a:solidFill>
                <a:latin typeface="맑은 고딕"/>
                <a:ea typeface="맑은 고딕"/>
                <a:cs typeface="맑은 고딕"/>
              </a:rPr>
              <a:t>상황만 맞음</a:t>
            </a:r>
          </a:p>
        </p:txBody>
      </p:sp>
      <p:sp>
        <p:nvSpPr>
          <p:cNvPr id="18" name="TextBox 17"/>
          <p:cNvSpPr txBox="1"/>
          <p:nvPr/>
        </p:nvSpPr>
        <p:spPr>
          <a:xfrm>
            <a:off x="49560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0A4D9B"/>
                </a:solidFill>
                <a:latin typeface="맑은 고딕"/>
                <a:ea typeface="맑은 고딕"/>
                <a:cs typeface="맑은 고딕"/>
              </a:rPr>
              <a:t>취향만 맞음</a:t>
            </a:r>
          </a:p>
        </p:txBody>
      </p:sp>
      <p:sp>
        <p:nvSpPr>
          <p:cNvPr id="19" name="TextBox 18"/>
          <p:cNvSpPr txBox="1"/>
          <p:nvPr/>
        </p:nvSpPr>
        <p:spPr>
          <a:xfrm>
            <a:off x="6784848" y="5870448"/>
            <a:ext cx="1828800" cy="310896"/>
          </a:xfrm>
          <a:prstGeom prst="rect">
            <a:avLst/>
          </a:prstGeom>
          <a:noFill/>
        </p:spPr>
        <p:txBody>
          <a:bodyPr wrap="square" lIns="0" rIns="0" tIns="0" bIns="0" anchor="t">
            <a:spAutoFit/>
          </a:bodyPr>
          <a:lstStyle/>
          <a:p>
            <a:pPr algn="ctr">
              <a:spcBef>
                <a:spcPts val="0"/>
              </a:spcBef>
              <a:spcAft>
                <a:spcPts val="200"/>
              </a:spcAft>
            </a:pPr>
            <a:r>
              <a:rPr sz="1350" b="1" i="0">
                <a:solidFill>
                  <a:srgbClr val="767171"/>
                </a:solidFill>
                <a:latin typeface="맑은 고딕"/>
                <a:ea typeface="맑은 고딕"/>
                <a:cs typeface="맑은 고딕"/>
              </a:rPr>
              <a:t>둘 다 아님</a:t>
            </a:r>
          </a:p>
        </p:txBody>
      </p:sp>
      <p:sp>
        <p:nvSpPr>
          <p:cNvPr id="20" name="TextBox 19"/>
          <p:cNvSpPr txBox="1"/>
          <p:nvPr/>
        </p:nvSpPr>
        <p:spPr>
          <a:xfrm>
            <a:off x="585216" y="6345936"/>
            <a:ext cx="8732520" cy="274320"/>
          </a:xfrm>
          <a:prstGeom prst="rect">
            <a:avLst/>
          </a:prstGeom>
          <a:noFill/>
        </p:spPr>
        <p:txBody>
          <a:bodyPr wrap="square" lIns="0" rIns="0" tIns="0" bIns="0" anchor="t">
            <a:spAutoFit/>
          </a:bodyPr>
          <a:lstStyle/>
          <a:p>
            <a:pPr algn="ctr">
              <a:spcBef>
                <a:spcPts val="0"/>
              </a:spcBef>
              <a:spcAft>
                <a:spcPts val="200"/>
              </a:spcAft>
            </a:pPr>
            <a:r>
              <a:rPr sz="1250" b="1" i="0">
                <a:solidFill>
                  <a:srgbClr val="004094"/>
                </a:solidFill>
                <a:latin typeface="맑은 고딕"/>
                <a:ea typeface="맑은 고딕"/>
                <a:cs typeface="맑은 고딕"/>
              </a:rPr>
              <a:t>A만이 정답</a:t>
            </a:r>
            <a:r>
              <a:rPr sz="1250" b="0" i="0">
                <a:solidFill>
                  <a:srgbClr val="767171"/>
                </a:solidFill>
                <a:latin typeface="맑은 고딕"/>
                <a:ea typeface="맑은 고딕"/>
                <a:cs typeface="맑은 고딕"/>
              </a:rPr>
              <a:t>입니다 — 나머지 셋은 각각 어디서 틀렸는지를 알려 줍니다.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5</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어떻게 채점하나</a:t>
            </a:r>
            <a:r>
              <a:rPr sz="1400" b="0" i="0">
                <a:solidFill>
                  <a:srgbClr val="767171"/>
                </a:solidFill>
                <a:latin typeface="맑은 고딕"/>
                <a:ea typeface="맑은 고딕"/>
                <a:cs typeface="맑은 고딕"/>
              </a:rPr>
              <a:t>   답 하나로 두 가지를 따로 잰다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“틀렸다”가 아니라 </a:t>
            </a:r>
            <a:r>
              <a:rPr sz="1500" b="1" i="0">
                <a:solidFill>
                  <a:srgbClr val="0A4D9B"/>
                </a:solidFill>
                <a:latin typeface="맑은 고딕"/>
                <a:ea typeface="맑은 고딕"/>
                <a:cs typeface="맑은 고딕"/>
              </a:rPr>
              <a:t>어느 쪽에서 틀렸는지</a:t>
            </a:r>
            <a:r>
              <a:rPr sz="1500" b="0" i="0">
                <a:solidFill>
                  <a:srgbClr val="27251E"/>
                </a:solidFill>
                <a:latin typeface="맑은 고딕"/>
                <a:ea typeface="맑은 고딕"/>
                <a:cs typeface="맑은 고딕"/>
              </a:rPr>
              <a:t>까지 나와야 고칠 수 있습니다.</a:t>
            </a:r>
          </a:p>
        </p:txBody>
      </p:sp>
      <p:graphicFrame>
        <p:nvGraphicFramePr>
          <p:cNvPr id="6" name="Table 5"/>
          <p:cNvGraphicFramePr>
            <a:graphicFrameLocks noGrp="1"/>
          </p:cNvGraphicFramePr>
          <p:nvPr/>
        </p:nvGraphicFramePr>
        <p:xfrm>
          <a:off x="822960" y="2121408"/>
          <a:ext cx="8275320" cy="2368293"/>
        </p:xfrm>
        <a:graphic>
          <a:graphicData uri="http://schemas.openxmlformats.org/drawingml/2006/table">
            <a:tbl>
              <a:tblPr firstRow="1" bandRow="1">
                <a:tableStyleId>{5C22544A-7EE6-4342-B048-85BDC9FD1C3A}</a:tableStyleId>
              </a:tblPr>
              <a:tblGrid>
                <a:gridCol w="2423160"/>
                <a:gridCol w="1463040"/>
                <a:gridCol w="1463040"/>
                <a:gridCol w="1463040"/>
                <a:gridCol w="1463040"/>
              </a:tblGrid>
              <a:tr h="804672">
                <a:tc>
                  <a:txBody>
                    <a:bodyPr/>
                    <a:lstStyle/>
                    <a:p>
                      <a:pPr algn="ctr"/>
                    </a:p>
                  </a:txBody>
                  <a:tcPr marL="54864" marR="54864" marT="27432" marB="27432" anchor="ctr">
                    <a:solidFill>
                      <a:srgbClr val="FFFFFF"/>
                    </a:solidFill>
                  </a:tcPr>
                </a:tc>
                <a:tc>
                  <a:txBody>
                    <a:bodyPr/>
                    <a:lstStyle/>
                    <a:p>
                      <a:pPr algn="ctr"/>
                      <a:r>
                        <a:rPr sz="2000" b="1" i="0">
                          <a:solidFill>
                            <a:srgbClr val="7030A0"/>
                          </a:solidFill>
                          <a:latin typeface="맑은 고딕"/>
                          <a:ea typeface="맑은 고딕"/>
                          <a:cs typeface="맑은 고딕"/>
                        </a:rPr>
                        <a:t>A</a:t>
                      </a:r>
                    </a:p>
                    <a:p>
                      <a:pPr algn="ctr">
                        <a:lnSpc>
                          <a:spcPct val="110000"/>
                        </a:lnSpc>
                        <a:spcBef>
                          <a:spcPts val="0"/>
                        </a:spcBef>
                        <a:spcAft>
                          <a:spcPts val="200"/>
                        </a:spcAft>
                      </a:pPr>
                      <a:r>
                        <a:rPr sz="1000" b="0" i="0">
                          <a:solidFill>
                            <a:srgbClr val="27251E"/>
                          </a:solidFill>
                          <a:latin typeface="맑은 고딕"/>
                          <a:ea typeface="맑은 고딕"/>
                          <a:cs typeface="맑은 고딕"/>
                        </a:rPr>
                        <a:t>좋아하는 색
+ 따뜻한 옷</a:t>
                      </a:r>
                    </a:p>
                  </a:txBody>
                  <a:tcPr marL="54864" marR="54864" marT="27432" marB="27432" anchor="ctr">
                    <a:solidFill>
                      <a:srgbClr val="E9F1FA"/>
                    </a:solidFill>
                  </a:tcPr>
                </a:tc>
                <a:tc>
                  <a:txBody>
                    <a:bodyPr/>
                    <a:lstStyle/>
                    <a:p>
                      <a:pPr algn="ctr"/>
                      <a:r>
                        <a:rPr sz="2000" b="1" i="0">
                          <a:solidFill>
                            <a:srgbClr val="C00000"/>
                          </a:solidFill>
                          <a:latin typeface="맑은 고딕"/>
                          <a:ea typeface="맑은 고딕"/>
                          <a:cs typeface="맑은 고딕"/>
                        </a:rPr>
                        <a:t>B</a:t>
                      </a:r>
                    </a:p>
                    <a:p>
                      <a:pPr algn="ctr">
                        <a:lnSpc>
                          <a:spcPct val="110000"/>
                        </a:lnSpc>
                        <a:spcBef>
                          <a:spcPts val="0"/>
                        </a:spcBef>
                        <a:spcAft>
                          <a:spcPts val="200"/>
                        </a:spcAft>
                      </a:pPr>
                      <a:r>
                        <a:rPr sz="1000" b="0" i="0">
                          <a:solidFill>
                            <a:srgbClr val="27251E"/>
                          </a:solidFill>
                          <a:latin typeface="맑은 고딕"/>
                          <a:ea typeface="맑은 고딕"/>
                          <a:cs typeface="맑은 고딕"/>
                        </a:rPr>
                        <a:t>싫어하는 색
+ 따뜻한 옷</a:t>
                      </a:r>
                    </a:p>
                  </a:txBody>
                  <a:tcPr marL="54864" marR="54864" marT="27432" marB="27432" anchor="ctr">
                    <a:solidFill>
                      <a:srgbClr val="FFFFFF"/>
                    </a:solidFill>
                  </a:tcPr>
                </a:tc>
                <a:tc>
                  <a:txBody>
                    <a:bodyPr/>
                    <a:lstStyle/>
                    <a:p>
                      <a:pPr algn="ctr"/>
                      <a:r>
                        <a:rPr sz="2000" b="1" i="0">
                          <a:solidFill>
                            <a:srgbClr val="0A4D9B"/>
                          </a:solidFill>
                          <a:latin typeface="맑은 고딕"/>
                          <a:ea typeface="맑은 고딕"/>
                          <a:cs typeface="맑은 고딕"/>
                        </a:rPr>
                        <a:t>C</a:t>
                      </a:r>
                    </a:p>
                    <a:p>
                      <a:pPr algn="ctr">
                        <a:lnSpc>
                          <a:spcPct val="110000"/>
                        </a:lnSpc>
                        <a:spcBef>
                          <a:spcPts val="0"/>
                        </a:spcBef>
                        <a:spcAft>
                          <a:spcPts val="200"/>
                        </a:spcAft>
                      </a:pPr>
                      <a:r>
                        <a:rPr sz="1000" b="0" i="0">
                          <a:solidFill>
                            <a:srgbClr val="27251E"/>
                          </a:solidFill>
                          <a:latin typeface="맑은 고딕"/>
                          <a:ea typeface="맑은 고딕"/>
                          <a:cs typeface="맑은 고딕"/>
                        </a:rPr>
                        <a:t>좋아하는 색
+ 추운 옷</a:t>
                      </a:r>
                    </a:p>
                  </a:txBody>
                  <a:tcPr marL="54864" marR="54864" marT="27432" marB="27432" anchor="ctr">
                    <a:solidFill>
                      <a:srgbClr val="FFFFFF"/>
                    </a:solidFill>
                  </a:tcPr>
                </a:tc>
                <a:tc>
                  <a:txBody>
                    <a:bodyPr/>
                    <a:lstStyle/>
                    <a:p>
                      <a:pPr algn="ctr"/>
                      <a:r>
                        <a:rPr sz="2000" b="1" i="0">
                          <a:solidFill>
                            <a:srgbClr val="767171"/>
                          </a:solidFill>
                          <a:latin typeface="맑은 고딕"/>
                          <a:ea typeface="맑은 고딕"/>
                          <a:cs typeface="맑은 고딕"/>
                        </a:rPr>
                        <a:t>D</a:t>
                      </a:r>
                    </a:p>
                    <a:p>
                      <a:pPr algn="ctr">
                        <a:lnSpc>
                          <a:spcPct val="110000"/>
                        </a:lnSpc>
                        <a:spcBef>
                          <a:spcPts val="0"/>
                        </a:spcBef>
                        <a:spcAft>
                          <a:spcPts val="200"/>
                        </a:spcAft>
                      </a:pPr>
                      <a:r>
                        <a:rPr sz="1000" b="0" i="0">
                          <a:solidFill>
                            <a:srgbClr val="27251E"/>
                          </a:solidFill>
                          <a:latin typeface="맑은 고딕"/>
                          <a:ea typeface="맑은 고딕"/>
                          <a:cs typeface="맑은 고딕"/>
                        </a:rPr>
                        <a:t>싫어하는 색
+ 추운 옷</a:t>
                      </a:r>
                    </a:p>
                  </a:txBody>
                  <a:tcPr marL="54864" marR="54864" marT="27432" marB="27432" anchor="ctr">
                    <a:solidFill>
                      <a:srgbClr val="FFFFFF"/>
                    </a:solidFill>
                  </a:tcPr>
                </a:tc>
              </a:tr>
              <a:tr h="521207">
                <a:tc>
                  <a:txBody>
                    <a:bodyPr/>
                    <a:lstStyle/>
                    <a:p>
                      <a:pPr algn="l"/>
                      <a:r>
                        <a:rPr sz="1400" b="1" i="0">
                          <a:solidFill>
                            <a:srgbClr val="004094"/>
                          </a:solidFill>
                          <a:latin typeface="맑은 고딕"/>
                          <a:ea typeface="맑은 고딕"/>
                          <a:cs typeface="맑은 고딕"/>
                        </a:rPr>
                        <a:t>둘 다 맞춤</a:t>
                      </a:r>
                    </a:p>
                    <a:p>
                      <a:pPr algn="l">
                        <a:spcBef>
                          <a:spcPts val="0"/>
                        </a:spcBef>
                        <a:spcAft>
                          <a:spcPts val="200"/>
                        </a:spcAft>
                      </a:pPr>
                      <a:r>
                        <a:rPr sz="1050" b="0" i="0">
                          <a:solidFill>
                            <a:srgbClr val="767171"/>
                          </a:solidFill>
                          <a:latin typeface="맑은 고딕"/>
                          <a:ea typeface="맑은 고딕"/>
                          <a:cs typeface="맑은 고딕"/>
                        </a:rPr>
                        <a:t>진짜 정답</a:t>
                      </a:r>
                    </a:p>
                  </a:txBody>
                  <a:tcPr marL="54864" marR="54864" marT="27432" marB="27432" anchor="ctr">
                    <a:solidFill>
                      <a:srgbClr val="F5F8FC"/>
                    </a:solidFill>
                  </a:tcPr>
                </a:tc>
                <a:tc>
                  <a:txBody>
                    <a:bodyPr/>
                    <a:lstStyle/>
                    <a:p>
                      <a:pPr algn="ctr"/>
                      <a:r>
                        <a:rPr sz="2000" b="1" i="0">
                          <a:solidFill>
                            <a:srgbClr val="004094"/>
                          </a:solidFill>
                          <a:latin typeface="맑은 고딕"/>
                          <a:ea typeface="맑은 고딕"/>
                          <a:cs typeface="맑은 고딕"/>
                        </a:rPr>
                        <a:t>●</a:t>
                      </a:r>
                    </a:p>
                  </a:txBody>
                  <a:tcPr marL="54864" marR="54864" marT="27432" marB="27432" anchor="ctr">
                    <a:solidFill>
                      <a:srgbClr val="E9F1FA"/>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r h="521207">
                <a:tc>
                  <a:txBody>
                    <a:bodyPr/>
                    <a:lstStyle/>
                    <a:p>
                      <a:pPr algn="l"/>
                      <a:r>
                        <a:rPr sz="1400" b="1" i="0">
                          <a:solidFill>
                            <a:srgbClr val="2E75B6"/>
                          </a:solidFill>
                          <a:latin typeface="맑은 고딕"/>
                          <a:ea typeface="맑은 고딕"/>
                          <a:cs typeface="맑은 고딕"/>
                        </a:rPr>
                        <a:t>상황 점수</a:t>
                      </a:r>
                    </a:p>
                    <a:p>
                      <a:pPr algn="l">
                        <a:spcBef>
                          <a:spcPts val="0"/>
                        </a:spcBef>
                        <a:spcAft>
                          <a:spcPts val="200"/>
                        </a:spcAft>
                      </a:pPr>
                      <a:r>
                        <a:rPr sz="1050" b="0" i="0">
                          <a:solidFill>
                            <a:srgbClr val="767171"/>
                          </a:solidFill>
                          <a:latin typeface="맑은 고딕"/>
                          <a:ea typeface="맑은 고딕"/>
                          <a:cs typeface="맑은 고딕"/>
                        </a:rPr>
                        <a:t>추위는 피했나</a:t>
                      </a:r>
                    </a:p>
                  </a:txBody>
                  <a:tcPr marL="54864" marR="54864" marT="27432" marB="27432" anchor="ctr">
                    <a:solidFill>
                      <a:srgbClr val="F5F8FC"/>
                    </a:solidFill>
                  </a:tcPr>
                </a:tc>
                <a:tc>
                  <a:txBody>
                    <a:bodyPr/>
                    <a:lstStyle/>
                    <a:p>
                      <a:pPr algn="ctr"/>
                      <a:r>
                        <a:rPr sz="2000" b="1" i="0">
                          <a:solidFill>
                            <a:srgbClr val="2E75B6"/>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2000" b="1" i="0">
                          <a:solidFill>
                            <a:srgbClr val="2E75B6"/>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r h="521207">
                <a:tc>
                  <a:txBody>
                    <a:bodyPr/>
                    <a:lstStyle/>
                    <a:p>
                      <a:pPr algn="l"/>
                      <a:r>
                        <a:rPr sz="1400" b="1" i="0">
                          <a:solidFill>
                            <a:srgbClr val="5B9BD5"/>
                          </a:solidFill>
                          <a:latin typeface="맑은 고딕"/>
                          <a:ea typeface="맑은 고딕"/>
                          <a:cs typeface="맑은 고딕"/>
                        </a:rPr>
                        <a:t>취향 점수</a:t>
                      </a:r>
                    </a:p>
                    <a:p>
                      <a:pPr algn="l">
                        <a:spcBef>
                          <a:spcPts val="0"/>
                        </a:spcBef>
                        <a:spcAft>
                          <a:spcPts val="200"/>
                        </a:spcAft>
                      </a:pPr>
                      <a:r>
                        <a:rPr sz="1050" b="0" i="0">
                          <a:solidFill>
                            <a:srgbClr val="767171"/>
                          </a:solidFill>
                          <a:latin typeface="맑은 고딕"/>
                          <a:ea typeface="맑은 고딕"/>
                          <a:cs typeface="맑은 고딕"/>
                        </a:rPr>
                        <a:t>좋아하는 색인가</a:t>
                      </a:r>
                    </a:p>
                  </a:txBody>
                  <a:tcPr marL="54864" marR="54864" marT="27432" marB="27432" anchor="ctr">
                    <a:solidFill>
                      <a:srgbClr val="F5F8FC"/>
                    </a:solidFill>
                  </a:tcPr>
                </a:tc>
                <a:tc>
                  <a:txBody>
                    <a:bodyPr/>
                    <a:lstStyle/>
                    <a:p>
                      <a:pPr algn="ctr"/>
                      <a:r>
                        <a:rPr sz="2000" b="1" i="0">
                          <a:solidFill>
                            <a:srgbClr val="5B9BD5"/>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2000" b="1" i="0">
                          <a:solidFill>
                            <a:srgbClr val="5B9BD5"/>
                          </a:solidFill>
                          <a:latin typeface="맑은 고딕"/>
                          <a:ea typeface="맑은 고딕"/>
                          <a:cs typeface="맑은 고딕"/>
                        </a:rPr>
                        <a:t>●</a:t>
                      </a:r>
                    </a:p>
                  </a:txBody>
                  <a:tcPr marL="54864" marR="54864" marT="27432" marB="27432" anchor="ctr">
                    <a:solidFill>
                      <a:srgbClr val="FFFFFF"/>
                    </a:solidFill>
                  </a:tcPr>
                </a:tc>
                <a:tc>
                  <a:txBody>
                    <a:bodyPr/>
                    <a:lstStyle/>
                    <a:p>
                      <a:pPr algn="ctr"/>
                      <a:r>
                        <a:rPr sz="1400" b="0" i="0">
                          <a:solidFill>
                            <a:srgbClr val="D9D9D9"/>
                          </a:solidFill>
                          <a:latin typeface="맑은 고딕"/>
                          <a:ea typeface="맑은 고딕"/>
                          <a:cs typeface="맑은 고딕"/>
                        </a:rPr>
                        <a:t>·</a:t>
                      </a:r>
                    </a:p>
                  </a:txBody>
                  <a:tcPr marL="54864" marR="54864" marT="27432" marB="27432" anchor="ctr">
                    <a:solidFill>
                      <a:srgbClr val="FFFFFF"/>
                    </a:solidFill>
                  </a:tcPr>
                </a:tc>
              </a:tr>
            </a:tbl>
          </a:graphicData>
        </a:graphic>
      </p:graphicFrame>
      <p:sp>
        <p:nvSpPr>
          <p:cNvPr id="7" name="TextBox 6"/>
          <p:cNvSpPr txBox="1"/>
          <p:nvPr/>
        </p:nvSpPr>
        <p:spPr>
          <a:xfrm>
            <a:off x="585216" y="4700016"/>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이렇게 하면 답 하나에서 두 가지가 따로 보입니다</a:t>
            </a:r>
          </a:p>
        </p:txBody>
      </p:sp>
      <p:sp>
        <p:nvSpPr>
          <p:cNvPr id="8" name="Rounded Rectangle 7"/>
          <p:cNvSpPr/>
          <p:nvPr/>
        </p:nvSpPr>
        <p:spPr>
          <a:xfrm>
            <a:off x="585216" y="5102352"/>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004094"/>
                </a:solidFill>
                <a:latin typeface="맑은 고딕"/>
                <a:ea typeface="맑은 고딕"/>
                <a:cs typeface="맑은 고딕"/>
              </a:rPr>
              <a:t>A를 골랐다</a:t>
            </a:r>
          </a:p>
          <a:p>
            <a:pPr algn="ctr">
              <a:spcBef>
                <a:spcPts val="0"/>
              </a:spcBef>
              <a:spcAft>
                <a:spcPts val="200"/>
              </a:spcAft>
            </a:pPr>
            <a:r>
              <a:rPr sz="1150" b="0" i="0">
                <a:solidFill>
                  <a:srgbClr val="27251E"/>
                </a:solidFill>
                <a:latin typeface="맑은 고딕"/>
                <a:ea typeface="맑은 고딕"/>
                <a:cs typeface="맑은 고딕"/>
              </a:rPr>
              <a:t>취향도 상황도 맞춤</a:t>
            </a:r>
          </a:p>
        </p:txBody>
      </p:sp>
      <p:sp>
        <p:nvSpPr>
          <p:cNvPr id="9" name="Rounded Rectangle 8"/>
          <p:cNvSpPr/>
          <p:nvPr/>
        </p:nvSpPr>
        <p:spPr>
          <a:xfrm>
            <a:off x="3538728" y="5102352"/>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C00000"/>
                </a:solidFill>
                <a:latin typeface="맑은 고딕"/>
                <a:ea typeface="맑은 고딕"/>
                <a:cs typeface="맑은 고딕"/>
              </a:rPr>
              <a:t>B를 골랐다</a:t>
            </a:r>
          </a:p>
          <a:p>
            <a:pPr algn="ctr">
              <a:spcBef>
                <a:spcPts val="0"/>
              </a:spcBef>
              <a:spcAft>
                <a:spcPts val="200"/>
              </a:spcAft>
            </a:pPr>
            <a:r>
              <a:rPr sz="1150" b="0" i="0">
                <a:solidFill>
                  <a:srgbClr val="27251E"/>
                </a:solidFill>
                <a:latin typeface="맑은 고딕"/>
                <a:ea typeface="맑은 고딕"/>
                <a:cs typeface="맑은 고딕"/>
              </a:rPr>
              <a:t>상황은 알지만 취향을 무시</a:t>
            </a:r>
          </a:p>
        </p:txBody>
      </p:sp>
      <p:sp>
        <p:nvSpPr>
          <p:cNvPr id="10" name="Rounded Rectangle 9"/>
          <p:cNvSpPr/>
          <p:nvPr/>
        </p:nvSpPr>
        <p:spPr>
          <a:xfrm>
            <a:off x="6492240" y="5102352"/>
            <a:ext cx="2825496" cy="676656"/>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300" b="1" i="0">
                <a:solidFill>
                  <a:srgbClr val="2E75B6"/>
                </a:solidFill>
                <a:latin typeface="맑은 고딕"/>
                <a:ea typeface="맑은 고딕"/>
                <a:cs typeface="맑은 고딕"/>
              </a:rPr>
              <a:t>C를 골랐다</a:t>
            </a:r>
          </a:p>
          <a:p>
            <a:pPr algn="ctr">
              <a:spcBef>
                <a:spcPts val="0"/>
              </a:spcBef>
              <a:spcAft>
                <a:spcPts val="200"/>
              </a:spcAft>
            </a:pPr>
            <a:r>
              <a:rPr sz="1150" b="0" i="0">
                <a:solidFill>
                  <a:srgbClr val="27251E"/>
                </a:solidFill>
                <a:latin typeface="맑은 고딕"/>
                <a:ea typeface="맑은 고딕"/>
                <a:cs typeface="맑은 고딕"/>
              </a:rPr>
              <a:t>취향은 알지만 상황을 무시</a:t>
            </a:r>
          </a:p>
        </p:txBody>
      </p:sp>
      <p:sp>
        <p:nvSpPr>
          <p:cNvPr id="11" name="Rounded Rectangle 10"/>
          <p:cNvSpPr/>
          <p:nvPr/>
        </p:nvSpPr>
        <p:spPr>
          <a:xfrm>
            <a:off x="585216" y="5943600"/>
            <a:ext cx="8732520" cy="49377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68096" y="6035040"/>
            <a:ext cx="8366760" cy="329184"/>
          </a:xfrm>
          <a:prstGeom prst="rect">
            <a:avLst/>
          </a:prstGeom>
          <a:noFill/>
        </p:spPr>
        <p:txBody>
          <a:bodyPr wrap="square" lIns="0" rIns="0" tIns="0" bIns="0" anchor="t">
            <a:spAutoFit/>
          </a:bodyPr>
          <a:lstStyle/>
          <a:p>
            <a:pPr algn="l">
              <a:spcBef>
                <a:spcPts val="0"/>
              </a:spcBef>
              <a:spcAft>
                <a:spcPts val="200"/>
              </a:spcAft>
            </a:pPr>
            <a:r>
              <a:rPr sz="1250" b="1" i="0">
                <a:solidFill>
                  <a:srgbClr val="004094"/>
                </a:solidFill>
                <a:latin typeface="맑은 고딕"/>
                <a:ea typeface="맑은 고딕"/>
                <a:cs typeface="맑은 고딕"/>
              </a:rPr>
              <a:t>찍어서 맞을 확률이 정확히 25%</a:t>
            </a:r>
            <a:r>
              <a:rPr sz="1250" b="0" i="0">
                <a:solidFill>
                  <a:srgbClr val="27251E"/>
                </a:solidFill>
                <a:latin typeface="맑은 고딕"/>
                <a:ea typeface="맑은 고딕"/>
                <a:cs typeface="맑은 고딕"/>
              </a:rPr>
              <a:t>가 되도록 선지를 배치했습니다 — 운으로 오른 점수는 걸러집니다.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6</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만드는 과정 — 다섯 단계</a:t>
            </a:r>
            <a:r>
              <a:rPr sz="1400" b="0" i="0">
                <a:solidFill>
                  <a:srgbClr val="767171"/>
                </a:solidFill>
                <a:latin typeface="맑은 고딕"/>
                <a:ea typeface="맑은 고딕"/>
                <a:cs typeface="맑은 고딕"/>
              </a:rPr>
              <a:t>   어느 하나도 건너뛸 수 없습니다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시험지 하나를 만들려면 </a:t>
            </a:r>
            <a:r>
              <a:rPr sz="1500" b="1" i="0">
                <a:solidFill>
                  <a:srgbClr val="0A4D9B"/>
                </a:solidFill>
                <a:latin typeface="맑은 고딕"/>
                <a:ea typeface="맑은 고딕"/>
                <a:cs typeface="맑은 고딕"/>
              </a:rPr>
              <a:t>문항 · 취향 대화 · 사진 · 사람 검수</a:t>
            </a:r>
            <a:r>
              <a:rPr sz="1500" b="0" i="0">
                <a:solidFill>
                  <a:srgbClr val="27251E"/>
                </a:solidFill>
                <a:latin typeface="맑은 고딕"/>
                <a:ea typeface="맑은 고딕"/>
                <a:cs typeface="맑은 고딕"/>
              </a:rPr>
              <a:t>가 모두 필요합니다.</a:t>
            </a:r>
          </a:p>
        </p:txBody>
      </p:sp>
      <p:sp>
        <p:nvSpPr>
          <p:cNvPr id="6" name="Rounded Rectangle 5"/>
          <p:cNvSpPr/>
          <p:nvPr/>
        </p:nvSpPr>
        <p:spPr>
          <a:xfrm>
            <a:off x="585216" y="2157984"/>
            <a:ext cx="1636776" cy="1920240"/>
          </a:xfrm>
          <a:prstGeom prst="roundRect">
            <a:avLst>
              <a:gd name="adj" fmla="val 8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Rounded Rectangle 6"/>
          <p:cNvSpPr/>
          <p:nvPr/>
        </p:nvSpPr>
        <p:spPr>
          <a:xfrm>
            <a:off x="1229868" y="2286000"/>
            <a:ext cx="347472" cy="310896"/>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①</a:t>
            </a:r>
          </a:p>
        </p:txBody>
      </p:sp>
      <p:sp>
        <p:nvSpPr>
          <p:cNvPr id="8" name="TextBox 7"/>
          <p:cNvSpPr txBox="1"/>
          <p:nvPr/>
        </p:nvSpPr>
        <p:spPr>
          <a:xfrm>
            <a:off x="676656" y="2688336"/>
            <a:ext cx="1453896" cy="475488"/>
          </a:xfrm>
          <a:prstGeom prst="rect">
            <a:avLst/>
          </a:prstGeom>
          <a:noFill/>
        </p:spPr>
        <p:txBody>
          <a:bodyPr wrap="square" lIns="0" rIns="0" tIns="0" bIns="0" anchor="t">
            <a:spAutoFit/>
          </a:bodyPr>
          <a:lstStyle/>
          <a:p>
            <a:pPr algn="ctr">
              <a:spcBef>
                <a:spcPts val="0"/>
              </a:spcBef>
              <a:spcAft>
                <a:spcPts val="200"/>
              </a:spcAft>
            </a:pPr>
            <a:r>
              <a:rPr sz="1350" b="1" i="0">
                <a:solidFill>
                  <a:srgbClr val="004094"/>
                </a:solidFill>
                <a:latin typeface="맑은 고딕"/>
                <a:ea typeface="맑은 고딕"/>
                <a:cs typeface="맑은 고딕"/>
              </a:rPr>
              <a:t>문항 만들기</a:t>
            </a:r>
          </a:p>
          <a:p>
            <a:pPr algn="ctr">
              <a:spcBef>
                <a:spcPts val="0"/>
              </a:spcBef>
              <a:spcAft>
                <a:spcPts val="200"/>
              </a:spcAft>
            </a:pPr>
            <a:r>
              <a:rPr sz="950" b="0" i="0">
                <a:solidFill>
                  <a:srgbClr val="767171"/>
                </a:solidFill>
                <a:latin typeface="맑은 고딕"/>
                <a:ea typeface="맑은 고딕"/>
                <a:cs typeface="맑은 고딕"/>
              </a:rPr>
              <a:t>Construction</a:t>
            </a:r>
          </a:p>
        </p:txBody>
      </p:sp>
      <p:sp>
        <p:nvSpPr>
          <p:cNvPr id="9" name="TextBox 8"/>
          <p:cNvSpPr txBox="1"/>
          <p:nvPr/>
        </p:nvSpPr>
        <p:spPr>
          <a:xfrm>
            <a:off x="676656" y="3291840"/>
            <a:ext cx="1453896" cy="676656"/>
          </a:xfrm>
          <a:prstGeom prst="rect">
            <a:avLst/>
          </a:prstGeom>
          <a:noFill/>
        </p:spPr>
        <p:txBody>
          <a:bodyPr wrap="square" lIns="0" rIns="0" tIns="0" bIns="0" anchor="t">
            <a:spAutoFit/>
          </a:bodyPr>
          <a:lstStyle/>
          <a:p>
            <a:pPr algn="ctr">
              <a:lnSpc>
                <a:spcPct val="125000"/>
              </a:lnSpc>
              <a:spcBef>
                <a:spcPts val="0"/>
              </a:spcBef>
              <a:spcAft>
                <a:spcPts val="200"/>
              </a:spcAft>
            </a:pPr>
            <a:r>
              <a:rPr sz="1050" b="0" i="0">
                <a:solidFill>
                  <a:srgbClr val="27251E"/>
                </a:solidFill>
                <a:latin typeface="맑은 고딕"/>
                <a:ea typeface="맑은 고딕"/>
                <a:cs typeface="맑은 고딕"/>
              </a:rPr>
              <a:t>24명 × 59개 상황
→ 문항 2,621개</a:t>
            </a:r>
          </a:p>
        </p:txBody>
      </p:sp>
      <p:sp>
        <p:nvSpPr>
          <p:cNvPr id="10" name="Right Arrow 9"/>
          <p:cNvSpPr/>
          <p:nvPr/>
        </p:nvSpPr>
        <p:spPr>
          <a:xfrm>
            <a:off x="2240280" y="303580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68296" y="2157984"/>
            <a:ext cx="1636776" cy="1920240"/>
          </a:xfrm>
          <a:prstGeom prst="roundRect">
            <a:avLst>
              <a:gd name="adj" fmla="val 8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Rounded Rectangle 11"/>
          <p:cNvSpPr/>
          <p:nvPr/>
        </p:nvSpPr>
        <p:spPr>
          <a:xfrm>
            <a:off x="3012948" y="2286000"/>
            <a:ext cx="347472" cy="310896"/>
          </a:xfrm>
          <a:prstGeom prst="roundRect">
            <a:avLst>
              <a:gd name="adj" fmla="val 3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②</a:t>
            </a:r>
          </a:p>
        </p:txBody>
      </p:sp>
      <p:sp>
        <p:nvSpPr>
          <p:cNvPr id="13" name="TextBox 12"/>
          <p:cNvSpPr txBox="1"/>
          <p:nvPr/>
        </p:nvSpPr>
        <p:spPr>
          <a:xfrm>
            <a:off x="2459736" y="2688336"/>
            <a:ext cx="1453896" cy="475488"/>
          </a:xfrm>
          <a:prstGeom prst="rect">
            <a:avLst/>
          </a:prstGeom>
          <a:noFill/>
        </p:spPr>
        <p:txBody>
          <a:bodyPr wrap="square" lIns="0" rIns="0" tIns="0" bIns="0" anchor="t">
            <a:spAutoFit/>
          </a:bodyPr>
          <a:lstStyle/>
          <a:p>
            <a:pPr algn="ctr">
              <a:spcBef>
                <a:spcPts val="0"/>
              </a:spcBef>
              <a:spcAft>
                <a:spcPts val="200"/>
              </a:spcAft>
            </a:pPr>
            <a:r>
              <a:rPr sz="1350" b="1" i="0">
                <a:solidFill>
                  <a:srgbClr val="C00000"/>
                </a:solidFill>
                <a:latin typeface="맑은 고딕"/>
                <a:ea typeface="맑은 고딕"/>
                <a:cs typeface="맑은 고딕"/>
              </a:rPr>
              <a:t>취향을 대화로</a:t>
            </a:r>
          </a:p>
          <a:p>
            <a:pPr algn="ctr">
              <a:spcBef>
                <a:spcPts val="0"/>
              </a:spcBef>
              <a:spcAft>
                <a:spcPts val="200"/>
              </a:spcAft>
            </a:pPr>
            <a:r>
              <a:rPr sz="950" b="0" i="0">
                <a:solidFill>
                  <a:srgbClr val="767171"/>
                </a:solidFill>
                <a:latin typeface="맑은 고딕"/>
                <a:ea typeface="맑은 고딕"/>
                <a:cs typeface="맑은 고딕"/>
              </a:rPr>
              <a:t>Dialog</a:t>
            </a:r>
          </a:p>
        </p:txBody>
      </p:sp>
      <p:sp>
        <p:nvSpPr>
          <p:cNvPr id="14" name="TextBox 13"/>
          <p:cNvSpPr txBox="1"/>
          <p:nvPr/>
        </p:nvSpPr>
        <p:spPr>
          <a:xfrm>
            <a:off x="2459736" y="3291840"/>
            <a:ext cx="1453896" cy="676656"/>
          </a:xfrm>
          <a:prstGeom prst="rect">
            <a:avLst/>
          </a:prstGeom>
          <a:noFill/>
        </p:spPr>
        <p:txBody>
          <a:bodyPr wrap="square" lIns="0" rIns="0" tIns="0" bIns="0" anchor="t">
            <a:spAutoFit/>
          </a:bodyPr>
          <a:lstStyle/>
          <a:p>
            <a:pPr algn="ctr">
              <a:lnSpc>
                <a:spcPct val="125000"/>
              </a:lnSpc>
              <a:spcBef>
                <a:spcPts val="0"/>
              </a:spcBef>
              <a:spcAft>
                <a:spcPts val="200"/>
              </a:spcAft>
            </a:pPr>
            <a:r>
              <a:rPr sz="1050" b="0" i="0">
                <a:solidFill>
                  <a:srgbClr val="27251E"/>
                </a:solidFill>
                <a:latin typeface="맑은 고딕"/>
                <a:ea typeface="맑은 고딕"/>
                <a:cs typeface="맑은 고딕"/>
              </a:rPr>
              <a:t>취향 18개를 대화 속
사진으로만 전달</a:t>
            </a:r>
          </a:p>
        </p:txBody>
      </p:sp>
      <p:sp>
        <p:nvSpPr>
          <p:cNvPr id="15" name="Right Arrow 14"/>
          <p:cNvSpPr/>
          <p:nvPr/>
        </p:nvSpPr>
        <p:spPr>
          <a:xfrm>
            <a:off x="4023359" y="303580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151376" y="2157984"/>
            <a:ext cx="1636776" cy="1920240"/>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Rounded Rectangle 16"/>
          <p:cNvSpPr/>
          <p:nvPr/>
        </p:nvSpPr>
        <p:spPr>
          <a:xfrm>
            <a:off x="4796028" y="2286000"/>
            <a:ext cx="347472"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③</a:t>
            </a:r>
          </a:p>
        </p:txBody>
      </p:sp>
      <p:sp>
        <p:nvSpPr>
          <p:cNvPr id="18" name="TextBox 17"/>
          <p:cNvSpPr txBox="1"/>
          <p:nvPr/>
        </p:nvSpPr>
        <p:spPr>
          <a:xfrm>
            <a:off x="4242816" y="2688336"/>
            <a:ext cx="1453896" cy="475488"/>
          </a:xfrm>
          <a:prstGeom prst="rect">
            <a:avLst/>
          </a:prstGeom>
          <a:noFill/>
        </p:spPr>
        <p:txBody>
          <a:bodyPr wrap="square" lIns="0" rIns="0" tIns="0" bIns="0" anchor="t">
            <a:spAutoFit/>
          </a:bodyPr>
          <a:lstStyle/>
          <a:p>
            <a:pPr algn="ctr">
              <a:spcBef>
                <a:spcPts val="0"/>
              </a:spcBef>
              <a:spcAft>
                <a:spcPts val="200"/>
              </a:spcAft>
            </a:pPr>
            <a:r>
              <a:rPr sz="1350" b="1" i="0">
                <a:solidFill>
                  <a:srgbClr val="2E75B6"/>
                </a:solidFill>
                <a:latin typeface="맑은 고딕"/>
                <a:ea typeface="맑은 고딕"/>
                <a:cs typeface="맑은 고딕"/>
              </a:rPr>
              <a:t>사진 모으기</a:t>
            </a:r>
          </a:p>
          <a:p>
            <a:pPr algn="ctr">
              <a:spcBef>
                <a:spcPts val="0"/>
              </a:spcBef>
              <a:spcAft>
                <a:spcPts val="200"/>
              </a:spcAft>
            </a:pPr>
            <a:r>
              <a:rPr sz="950" b="0" i="0">
                <a:solidFill>
                  <a:srgbClr val="767171"/>
                </a:solidFill>
                <a:latin typeface="맑은 고딕"/>
                <a:ea typeface="맑은 고딕"/>
                <a:cs typeface="맑은 고딕"/>
              </a:rPr>
              <a:t>Image collection</a:t>
            </a:r>
          </a:p>
        </p:txBody>
      </p:sp>
      <p:sp>
        <p:nvSpPr>
          <p:cNvPr id="19" name="TextBox 18"/>
          <p:cNvSpPr txBox="1"/>
          <p:nvPr/>
        </p:nvSpPr>
        <p:spPr>
          <a:xfrm>
            <a:off x="4242816" y="3291840"/>
            <a:ext cx="1453896" cy="676656"/>
          </a:xfrm>
          <a:prstGeom prst="rect">
            <a:avLst/>
          </a:prstGeom>
          <a:noFill/>
        </p:spPr>
        <p:txBody>
          <a:bodyPr wrap="square" lIns="0" rIns="0" tIns="0" bIns="0" anchor="t">
            <a:spAutoFit/>
          </a:bodyPr>
          <a:lstStyle/>
          <a:p>
            <a:pPr algn="ctr">
              <a:lnSpc>
                <a:spcPct val="125000"/>
              </a:lnSpc>
              <a:spcBef>
                <a:spcPts val="0"/>
              </a:spcBef>
              <a:spcAft>
                <a:spcPts val="200"/>
              </a:spcAft>
            </a:pPr>
            <a:r>
              <a:rPr sz="1050" b="0" i="0">
                <a:solidFill>
                  <a:srgbClr val="27251E"/>
                </a:solidFill>
                <a:latin typeface="맑은 고딕"/>
                <a:ea typeface="맑은 고딕"/>
                <a:cs typeface="맑은 고딕"/>
              </a:rPr>
              <a:t>색·옷·무늬가 맞는
실제 상품 사진 찾기</a:t>
            </a:r>
          </a:p>
        </p:txBody>
      </p:sp>
      <p:sp>
        <p:nvSpPr>
          <p:cNvPr id="20" name="Right Arrow 19"/>
          <p:cNvSpPr/>
          <p:nvPr/>
        </p:nvSpPr>
        <p:spPr>
          <a:xfrm>
            <a:off x="5806440" y="303580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934456" y="2157984"/>
            <a:ext cx="1636776" cy="1920240"/>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Rounded Rectangle 21"/>
          <p:cNvSpPr/>
          <p:nvPr/>
        </p:nvSpPr>
        <p:spPr>
          <a:xfrm>
            <a:off x="6579107" y="2286000"/>
            <a:ext cx="347472"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④</a:t>
            </a:r>
          </a:p>
        </p:txBody>
      </p:sp>
      <p:sp>
        <p:nvSpPr>
          <p:cNvPr id="23" name="TextBox 22"/>
          <p:cNvSpPr txBox="1"/>
          <p:nvPr/>
        </p:nvSpPr>
        <p:spPr>
          <a:xfrm>
            <a:off x="6025896" y="2688336"/>
            <a:ext cx="1453896" cy="475488"/>
          </a:xfrm>
          <a:prstGeom prst="rect">
            <a:avLst/>
          </a:prstGeom>
          <a:noFill/>
        </p:spPr>
        <p:txBody>
          <a:bodyPr wrap="square" lIns="0" rIns="0" tIns="0" bIns="0" anchor="t">
            <a:spAutoFit/>
          </a:bodyPr>
          <a:lstStyle/>
          <a:p>
            <a:pPr algn="ctr">
              <a:spcBef>
                <a:spcPts val="0"/>
              </a:spcBef>
              <a:spcAft>
                <a:spcPts val="200"/>
              </a:spcAft>
            </a:pPr>
            <a:r>
              <a:rPr sz="1350" b="1" i="0">
                <a:solidFill>
                  <a:srgbClr val="2E75B6"/>
                </a:solidFill>
                <a:latin typeface="맑은 고딕"/>
                <a:ea typeface="맑은 고딕"/>
                <a:cs typeface="맑은 고딕"/>
              </a:rPr>
              <a:t>사람이 확인</a:t>
            </a:r>
          </a:p>
          <a:p>
            <a:pPr algn="ctr">
              <a:spcBef>
                <a:spcPts val="0"/>
              </a:spcBef>
              <a:spcAft>
                <a:spcPts val="200"/>
              </a:spcAft>
            </a:pPr>
            <a:r>
              <a:rPr sz="950" b="0" i="0">
                <a:solidFill>
                  <a:srgbClr val="767171"/>
                </a:solidFill>
                <a:latin typeface="맑은 고딕"/>
                <a:ea typeface="맑은 고딕"/>
                <a:cs typeface="맑은 고딕"/>
              </a:rPr>
              <a:t>Annotation</a:t>
            </a:r>
          </a:p>
        </p:txBody>
      </p:sp>
      <p:sp>
        <p:nvSpPr>
          <p:cNvPr id="24" name="TextBox 23"/>
          <p:cNvSpPr txBox="1"/>
          <p:nvPr/>
        </p:nvSpPr>
        <p:spPr>
          <a:xfrm>
            <a:off x="6025896" y="3291840"/>
            <a:ext cx="1453896" cy="676656"/>
          </a:xfrm>
          <a:prstGeom prst="rect">
            <a:avLst/>
          </a:prstGeom>
          <a:noFill/>
        </p:spPr>
        <p:txBody>
          <a:bodyPr wrap="square" lIns="0" rIns="0" tIns="0" bIns="0" anchor="t">
            <a:spAutoFit/>
          </a:bodyPr>
          <a:lstStyle/>
          <a:p>
            <a:pPr algn="ctr">
              <a:lnSpc>
                <a:spcPct val="125000"/>
              </a:lnSpc>
              <a:spcBef>
                <a:spcPts val="0"/>
              </a:spcBef>
              <a:spcAft>
                <a:spcPts val="200"/>
              </a:spcAft>
            </a:pPr>
            <a:r>
              <a:rPr sz="1050" b="0" i="0">
                <a:solidFill>
                  <a:srgbClr val="27251E"/>
                </a:solidFill>
                <a:latin typeface="맑은 고딕"/>
                <a:ea typeface="맑은 고딕"/>
                <a:cs typeface="맑은 고딕"/>
              </a:rPr>
              <a:t>1,661칸을 눈으로
직접 확인</a:t>
            </a:r>
          </a:p>
        </p:txBody>
      </p:sp>
      <p:sp>
        <p:nvSpPr>
          <p:cNvPr id="25" name="Right Arrow 24"/>
          <p:cNvSpPr/>
          <p:nvPr/>
        </p:nvSpPr>
        <p:spPr>
          <a:xfrm>
            <a:off x="7589520" y="303580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717536" y="2157984"/>
            <a:ext cx="1636776" cy="1920240"/>
          </a:xfrm>
          <a:prstGeom prst="roundRect">
            <a:avLst>
              <a:gd name="adj" fmla="val 8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7" name="Rounded Rectangle 26"/>
          <p:cNvSpPr/>
          <p:nvPr/>
        </p:nvSpPr>
        <p:spPr>
          <a:xfrm>
            <a:off x="8362188" y="2286000"/>
            <a:ext cx="347472" cy="310896"/>
          </a:xfrm>
          <a:prstGeom prst="roundRect">
            <a:avLst>
              <a:gd name="adj" fmla="val 35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300" b="1" i="0">
                <a:solidFill>
                  <a:srgbClr val="FFFFFF"/>
                </a:solidFill>
                <a:latin typeface="맑은 고딕"/>
                <a:ea typeface="맑은 고딕"/>
                <a:cs typeface="맑은 고딕"/>
              </a:rPr>
              <a:t>⑤</a:t>
            </a:r>
          </a:p>
        </p:txBody>
      </p:sp>
      <p:sp>
        <p:nvSpPr>
          <p:cNvPr id="28" name="TextBox 27"/>
          <p:cNvSpPr txBox="1"/>
          <p:nvPr/>
        </p:nvSpPr>
        <p:spPr>
          <a:xfrm>
            <a:off x="7808975" y="2688336"/>
            <a:ext cx="1453896" cy="475488"/>
          </a:xfrm>
          <a:prstGeom prst="rect">
            <a:avLst/>
          </a:prstGeom>
          <a:noFill/>
        </p:spPr>
        <p:txBody>
          <a:bodyPr wrap="square" lIns="0" rIns="0" tIns="0" bIns="0" anchor="t">
            <a:spAutoFit/>
          </a:bodyPr>
          <a:lstStyle/>
          <a:p>
            <a:pPr algn="ctr">
              <a:spcBef>
                <a:spcPts val="0"/>
              </a:spcBef>
              <a:spcAft>
                <a:spcPts val="200"/>
              </a:spcAft>
            </a:pPr>
            <a:r>
              <a:rPr sz="1350" b="1" i="0">
                <a:solidFill>
                  <a:srgbClr val="004094"/>
                </a:solidFill>
                <a:latin typeface="맑은 고딕"/>
                <a:ea typeface="맑은 고딕"/>
                <a:cs typeface="맑은 고딕"/>
              </a:rPr>
              <a:t>모델 시험</a:t>
            </a:r>
          </a:p>
          <a:p>
            <a:pPr algn="ctr">
              <a:spcBef>
                <a:spcPts val="0"/>
              </a:spcBef>
              <a:spcAft>
                <a:spcPts val="200"/>
              </a:spcAft>
            </a:pPr>
            <a:r>
              <a:rPr sz="950" b="0" i="0">
                <a:solidFill>
                  <a:srgbClr val="767171"/>
                </a:solidFill>
                <a:latin typeface="맑은 고딕"/>
                <a:ea typeface="맑은 고딕"/>
                <a:cs typeface="맑은 고딕"/>
              </a:rPr>
              <a:t>Eval</a:t>
            </a:r>
          </a:p>
        </p:txBody>
      </p:sp>
      <p:sp>
        <p:nvSpPr>
          <p:cNvPr id="29" name="TextBox 28"/>
          <p:cNvSpPr txBox="1"/>
          <p:nvPr/>
        </p:nvSpPr>
        <p:spPr>
          <a:xfrm>
            <a:off x="7808975" y="3291840"/>
            <a:ext cx="1453896" cy="676656"/>
          </a:xfrm>
          <a:prstGeom prst="rect">
            <a:avLst/>
          </a:prstGeom>
          <a:noFill/>
        </p:spPr>
        <p:txBody>
          <a:bodyPr wrap="square" lIns="0" rIns="0" tIns="0" bIns="0" anchor="t">
            <a:spAutoFit/>
          </a:bodyPr>
          <a:lstStyle/>
          <a:p>
            <a:pPr algn="ctr">
              <a:lnSpc>
                <a:spcPct val="125000"/>
              </a:lnSpc>
              <a:spcBef>
                <a:spcPts val="0"/>
              </a:spcBef>
              <a:spcAft>
                <a:spcPts val="200"/>
              </a:spcAft>
            </a:pPr>
            <a:r>
              <a:rPr sz="1050" b="0" i="0">
                <a:solidFill>
                  <a:srgbClr val="27251E"/>
                </a:solidFill>
                <a:latin typeface="맑은 고딕"/>
                <a:ea typeface="맑은 고딕"/>
                <a:cs typeface="맑은 고딕"/>
              </a:rPr>
              <a:t>AI 8종에게 풀리고
세 점수로 채점</a:t>
            </a:r>
          </a:p>
        </p:txBody>
      </p:sp>
      <p:sp>
        <p:nvSpPr>
          <p:cNvPr id="30" name="Rounded Rectangle 29"/>
          <p:cNvSpPr/>
          <p:nvPr/>
        </p:nvSpPr>
        <p:spPr>
          <a:xfrm>
            <a:off x="859536" y="4315968"/>
            <a:ext cx="8183880" cy="365760"/>
          </a:xfrm>
          <a:prstGeom prst="roundRect">
            <a:avLst/>
          </a:prstGeom>
          <a:no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Up Arrow 30"/>
          <p:cNvSpPr/>
          <p:nvPr/>
        </p:nvSpPr>
        <p:spPr>
          <a:xfrm>
            <a:off x="804672" y="4078224"/>
            <a:ext cx="164592" cy="201168"/>
          </a:xfrm>
          <a:prstGeom prst="up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3856" y="4407408"/>
            <a:ext cx="7635240" cy="256032"/>
          </a:xfrm>
          <a:prstGeom prst="rect">
            <a:avLst/>
          </a:prstGeom>
          <a:noFill/>
        </p:spPr>
        <p:txBody>
          <a:bodyPr wrap="square" lIns="0" rIns="0" tIns="0" bIns="0" anchor="t">
            <a:spAutoFit/>
          </a:bodyPr>
          <a:lstStyle/>
          <a:p>
            <a:pPr algn="ctr">
              <a:spcBef>
                <a:spcPts val="0"/>
              </a:spcBef>
              <a:spcAft>
                <a:spcPts val="200"/>
              </a:spcAft>
            </a:pPr>
            <a:r>
              <a:rPr sz="1200" b="0" i="0">
                <a:solidFill>
                  <a:srgbClr val="27251E"/>
                </a:solidFill>
                <a:latin typeface="맑은 고딕"/>
                <a:ea typeface="맑은 고딕"/>
                <a:cs typeface="맑은 고딕"/>
              </a:rPr>
              <a:t>④에서 사람이 확인한 목록이 </a:t>
            </a:r>
            <a:r>
              <a:rPr sz="1200" b="1" i="0">
                <a:solidFill>
                  <a:srgbClr val="C00000"/>
                </a:solidFill>
                <a:latin typeface="맑은 고딕"/>
                <a:ea typeface="맑은 고딕"/>
                <a:cs typeface="맑은 고딕"/>
              </a:rPr>
              <a:t>①의 입력으로 되돌아갑니다</a:t>
            </a:r>
            <a:r>
              <a:rPr sz="1200" b="0" i="0">
                <a:solidFill>
                  <a:srgbClr val="27251E"/>
                </a:solidFill>
                <a:latin typeface="맑은 고딕"/>
                <a:ea typeface="맑은 고딕"/>
                <a:cs typeface="맑은 고딕"/>
              </a:rPr>
              <a:t>  —  ‘사진이 있는 조합’만 문항이 되도록</a:t>
            </a:r>
          </a:p>
        </p:txBody>
      </p:sp>
      <p:sp>
        <p:nvSpPr>
          <p:cNvPr id="33" name="TextBox 32"/>
          <p:cNvSpPr txBox="1"/>
          <p:nvPr/>
        </p:nvSpPr>
        <p:spPr>
          <a:xfrm>
            <a:off x="585216" y="4956048"/>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각 단계가 없으면 무엇이 깨지나</a:t>
            </a:r>
          </a:p>
        </p:txBody>
      </p:sp>
      <p:sp>
        <p:nvSpPr>
          <p:cNvPr id="34" name="TextBox 33"/>
          <p:cNvSpPr txBox="1"/>
          <p:nvPr/>
        </p:nvSpPr>
        <p:spPr>
          <a:xfrm>
            <a:off x="585216" y="5340096"/>
            <a:ext cx="8732520" cy="237744"/>
          </a:xfrm>
          <a:prstGeom prst="rect">
            <a:avLst/>
          </a:prstGeom>
          <a:noFill/>
        </p:spPr>
        <p:txBody>
          <a:bodyPr wrap="square" lIns="0" rIns="0" tIns="0" bIns="0" anchor="t">
            <a:spAutoFit/>
          </a:bodyPr>
          <a:lstStyle/>
          <a:p>
            <a:pPr algn="l">
              <a:spcBef>
                <a:spcPts val="0"/>
              </a:spcBef>
              <a:spcAft>
                <a:spcPts val="200"/>
              </a:spcAft>
            </a:pPr>
            <a:r>
              <a:rPr sz="1150" b="1" i="0">
                <a:solidFill>
                  <a:srgbClr val="2E75B6"/>
                </a:solidFill>
                <a:latin typeface="맑은 고딕"/>
                <a:ea typeface="맑은 고딕"/>
                <a:cs typeface="맑은 고딕"/>
              </a:rPr>
              <a:t>① 없으면</a:t>
            </a:r>
            <a:r>
              <a:rPr sz="1150" b="0" i="0">
                <a:solidFill>
                  <a:srgbClr val="27251E"/>
                </a:solidFill>
                <a:latin typeface="맑은 고딕"/>
                <a:ea typeface="맑은 고딕"/>
                <a:cs typeface="맑은 고딕"/>
              </a:rPr>
              <a:t>   제 취향이 곧 정답이 되어 버립니다</a:t>
            </a:r>
          </a:p>
        </p:txBody>
      </p:sp>
      <p:sp>
        <p:nvSpPr>
          <p:cNvPr id="35" name="TextBox 34"/>
          <p:cNvSpPr txBox="1"/>
          <p:nvPr/>
        </p:nvSpPr>
        <p:spPr>
          <a:xfrm>
            <a:off x="585216" y="5577840"/>
            <a:ext cx="8732520" cy="237744"/>
          </a:xfrm>
          <a:prstGeom prst="rect">
            <a:avLst/>
          </a:prstGeom>
          <a:noFill/>
        </p:spPr>
        <p:txBody>
          <a:bodyPr wrap="square" lIns="0" rIns="0" tIns="0" bIns="0" anchor="t">
            <a:spAutoFit/>
          </a:bodyPr>
          <a:lstStyle/>
          <a:p>
            <a:pPr algn="l">
              <a:spcBef>
                <a:spcPts val="0"/>
              </a:spcBef>
              <a:spcAft>
                <a:spcPts val="200"/>
              </a:spcAft>
            </a:pPr>
            <a:r>
              <a:rPr sz="1150" b="1" i="0">
                <a:solidFill>
                  <a:srgbClr val="2E75B6"/>
                </a:solidFill>
                <a:latin typeface="맑은 고딕"/>
                <a:ea typeface="맑은 고딕"/>
                <a:cs typeface="맑은 고딕"/>
              </a:rPr>
              <a:t>② 없으면</a:t>
            </a:r>
            <a:r>
              <a:rPr sz="1150" b="0" i="0">
                <a:solidFill>
                  <a:srgbClr val="27251E"/>
                </a:solidFill>
                <a:latin typeface="맑은 고딕"/>
                <a:ea typeface="맑은 고딕"/>
                <a:cs typeface="맑은 고딕"/>
              </a:rPr>
              <a:t>   취향을 목록으로만 줘서, 실제 대화 상황과 멀어집니다</a:t>
            </a:r>
          </a:p>
        </p:txBody>
      </p:sp>
      <p:sp>
        <p:nvSpPr>
          <p:cNvPr id="36" name="TextBox 35"/>
          <p:cNvSpPr txBox="1"/>
          <p:nvPr/>
        </p:nvSpPr>
        <p:spPr>
          <a:xfrm>
            <a:off x="585216" y="5815583"/>
            <a:ext cx="8732520" cy="237744"/>
          </a:xfrm>
          <a:prstGeom prst="rect">
            <a:avLst/>
          </a:prstGeom>
          <a:noFill/>
        </p:spPr>
        <p:txBody>
          <a:bodyPr wrap="square" lIns="0" rIns="0" tIns="0" bIns="0" anchor="t">
            <a:spAutoFit/>
          </a:bodyPr>
          <a:lstStyle/>
          <a:p>
            <a:pPr algn="l">
              <a:spcBef>
                <a:spcPts val="0"/>
              </a:spcBef>
              <a:spcAft>
                <a:spcPts val="200"/>
              </a:spcAft>
            </a:pPr>
            <a:r>
              <a:rPr sz="1150" b="1" i="0">
                <a:solidFill>
                  <a:srgbClr val="2E75B6"/>
                </a:solidFill>
                <a:latin typeface="맑은 고딕"/>
                <a:ea typeface="맑은 고딕"/>
                <a:cs typeface="맑은 고딕"/>
              </a:rPr>
              <a:t>③ 없으면</a:t>
            </a:r>
            <a:r>
              <a:rPr sz="1150" b="0" i="0">
                <a:solidFill>
                  <a:srgbClr val="27251E"/>
                </a:solidFill>
                <a:latin typeface="맑은 고딕"/>
                <a:ea typeface="맑은 고딕"/>
                <a:cs typeface="맑은 고딕"/>
              </a:rPr>
              <a:t>   선지가 글자뿐이라 ‘보고 고르는’ 능력을 못 잽니다</a:t>
            </a:r>
          </a:p>
        </p:txBody>
      </p:sp>
      <p:sp>
        <p:nvSpPr>
          <p:cNvPr id="37" name="TextBox 36"/>
          <p:cNvSpPr txBox="1"/>
          <p:nvPr/>
        </p:nvSpPr>
        <p:spPr>
          <a:xfrm>
            <a:off x="585216" y="6053327"/>
            <a:ext cx="8732520" cy="237744"/>
          </a:xfrm>
          <a:prstGeom prst="rect">
            <a:avLst/>
          </a:prstGeom>
          <a:noFill/>
        </p:spPr>
        <p:txBody>
          <a:bodyPr wrap="square" lIns="0" rIns="0" tIns="0" bIns="0" anchor="t">
            <a:spAutoFit/>
          </a:bodyPr>
          <a:lstStyle/>
          <a:p>
            <a:pPr algn="l">
              <a:spcBef>
                <a:spcPts val="0"/>
              </a:spcBef>
              <a:spcAft>
                <a:spcPts val="200"/>
              </a:spcAft>
            </a:pPr>
            <a:r>
              <a:rPr sz="1150" b="1" i="0">
                <a:solidFill>
                  <a:srgbClr val="2E75B6"/>
                </a:solidFill>
                <a:latin typeface="맑은 고딕"/>
                <a:ea typeface="맑은 고딕"/>
                <a:cs typeface="맑은 고딕"/>
              </a:rPr>
              <a:t>④ 없으면</a:t>
            </a:r>
            <a:r>
              <a:rPr sz="1150" b="0" i="0">
                <a:solidFill>
                  <a:srgbClr val="27251E"/>
                </a:solidFill>
                <a:latin typeface="맑은 고딕"/>
                <a:ea typeface="맑은 고딕"/>
                <a:cs typeface="맑은 고딕"/>
              </a:rPr>
              <a:t>   사진이 실제로 맞는지 아무도 보증하지 않습니다</a:t>
            </a:r>
          </a:p>
        </p:txBody>
      </p:sp>
      <p:sp>
        <p:nvSpPr>
          <p:cNvPr id="38" name="TextBox 37"/>
          <p:cNvSpPr txBox="1"/>
          <p:nvPr/>
        </p:nvSpPr>
        <p:spPr>
          <a:xfrm>
            <a:off x="585216" y="6291071"/>
            <a:ext cx="8732520" cy="237744"/>
          </a:xfrm>
          <a:prstGeom prst="rect">
            <a:avLst/>
          </a:prstGeom>
          <a:noFill/>
        </p:spPr>
        <p:txBody>
          <a:bodyPr wrap="square" lIns="0" rIns="0" tIns="0" bIns="0" anchor="t">
            <a:spAutoFit/>
          </a:bodyPr>
          <a:lstStyle/>
          <a:p>
            <a:pPr algn="l">
              <a:spcBef>
                <a:spcPts val="0"/>
              </a:spcBef>
              <a:spcAft>
                <a:spcPts val="200"/>
              </a:spcAft>
            </a:pPr>
            <a:r>
              <a:rPr sz="1150" b="1" i="0">
                <a:solidFill>
                  <a:srgbClr val="2E75B6"/>
                </a:solidFill>
                <a:latin typeface="맑은 고딕"/>
                <a:ea typeface="맑은 고딕"/>
                <a:cs typeface="맑은 고딕"/>
              </a:rPr>
              <a:t>⑤ 없으면</a:t>
            </a:r>
            <a:r>
              <a:rPr sz="1150" b="0" i="0">
                <a:solidFill>
                  <a:srgbClr val="27251E"/>
                </a:solidFill>
                <a:latin typeface="맑은 고딕"/>
                <a:ea typeface="맑은 고딕"/>
                <a:cs typeface="맑은 고딕"/>
              </a:rPr>
              <a:t>   만들어만 놓고 무엇을 알아냈는지 말할 수 없습니다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7</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①  Construction — 문항 만들기</a:t>
            </a:r>
            <a:r>
              <a:rPr sz="1400" b="0" i="0">
                <a:solidFill>
                  <a:srgbClr val="767171"/>
                </a:solidFill>
                <a:latin typeface="맑은 고딕"/>
                <a:ea typeface="맑은 고딕"/>
                <a:cs typeface="맑은 고딕"/>
              </a:rPr>
              <a:t>   사람 → 상황 → 문항</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문항을 손으로 쓰면 </a:t>
            </a:r>
            <a:r>
              <a:rPr sz="1500" b="1" i="0">
                <a:solidFill>
                  <a:srgbClr val="C00000"/>
                </a:solidFill>
                <a:latin typeface="맑은 고딕"/>
                <a:ea typeface="맑은 고딕"/>
                <a:cs typeface="맑은 고딕"/>
              </a:rPr>
              <a:t>제 취향이 정답이 되어 버립니다</a:t>
            </a:r>
            <a:r>
              <a:rPr sz="1500" b="0" i="0">
                <a:solidFill>
                  <a:srgbClr val="27251E"/>
                </a:solidFill>
                <a:latin typeface="맑은 고딕"/>
                <a:ea typeface="맑은 고딕"/>
                <a:cs typeface="맑은 고딕"/>
              </a:rPr>
              <a:t>. 그래서 규칙으로 만들었습니다.</a:t>
            </a:r>
          </a:p>
        </p:txBody>
      </p:sp>
      <p:sp>
        <p:nvSpPr>
          <p:cNvPr id="6" name="Rounded Rectangle 5"/>
          <p:cNvSpPr/>
          <p:nvPr/>
        </p:nvSpPr>
        <p:spPr>
          <a:xfrm>
            <a:off x="585216" y="2139696"/>
            <a:ext cx="2770632" cy="2889504"/>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49808"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사람 만들기</a:t>
            </a:r>
          </a:p>
        </p:txBody>
      </p:sp>
      <p:sp>
        <p:nvSpPr>
          <p:cNvPr id="8" name="TextBox 7"/>
          <p:cNvSpPr txBox="1"/>
          <p:nvPr/>
        </p:nvSpPr>
        <p:spPr>
          <a:xfrm>
            <a:off x="749808" y="2633472"/>
            <a:ext cx="2441448" cy="603504"/>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좋아하는·싫어하는
색·무늬·옷을 규칙으로 배정</a:t>
            </a:r>
          </a:p>
        </p:txBody>
      </p:sp>
      <p:sp>
        <p:nvSpPr>
          <p:cNvPr id="9" name="Rounded Rectangle 8"/>
          <p:cNvSpPr/>
          <p:nvPr/>
        </p:nvSpPr>
        <p:spPr>
          <a:xfrm>
            <a:off x="749808" y="3346704"/>
            <a:ext cx="2441448" cy="914400"/>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0" name="TextBox 9"/>
          <p:cNvSpPr txBox="1"/>
          <p:nvPr/>
        </p:nvSpPr>
        <p:spPr>
          <a:xfrm>
            <a:off x="859536" y="3456432"/>
            <a:ext cx="2221992" cy="713232"/>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파랑 · 베이지 좋아함
주황 · 빨강 싫어함</a:t>
            </a:r>
          </a:p>
        </p:txBody>
      </p:sp>
      <p:sp>
        <p:nvSpPr>
          <p:cNvPr id="11" name="TextBox 10"/>
          <p:cNvSpPr txBox="1"/>
          <p:nvPr/>
        </p:nvSpPr>
        <p:spPr>
          <a:xfrm>
            <a:off x="749808" y="4443984"/>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24명</a:t>
            </a:r>
          </a:p>
        </p:txBody>
      </p:sp>
      <p:sp>
        <p:nvSpPr>
          <p:cNvPr id="12" name="Right Arrow 11"/>
          <p:cNvSpPr/>
          <p:nvPr/>
        </p:nvSpPr>
        <p:spPr>
          <a:xfrm>
            <a:off x="3410712" y="340156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2139696"/>
            <a:ext cx="2770632" cy="2889504"/>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TextBox 13"/>
          <p:cNvSpPr txBox="1"/>
          <p:nvPr/>
        </p:nvSpPr>
        <p:spPr>
          <a:xfrm>
            <a:off x="3703320"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상황 만들기</a:t>
            </a:r>
          </a:p>
        </p:txBody>
      </p:sp>
      <p:sp>
        <p:nvSpPr>
          <p:cNvPr id="15" name="TextBox 14"/>
          <p:cNvSpPr txBox="1"/>
          <p:nvPr/>
        </p:nvSpPr>
        <p:spPr>
          <a:xfrm>
            <a:off x="3703320" y="2633472"/>
            <a:ext cx="2441448" cy="603504"/>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누구나 같은 답을 낼
상황만 채택</a:t>
            </a:r>
          </a:p>
        </p:txBody>
      </p:sp>
      <p:sp>
        <p:nvSpPr>
          <p:cNvPr id="16" name="Rounded Rectangle 15"/>
          <p:cNvSpPr/>
          <p:nvPr/>
        </p:nvSpPr>
        <p:spPr>
          <a:xfrm>
            <a:off x="3703320" y="3346704"/>
            <a:ext cx="2441448" cy="914400"/>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TextBox 16"/>
          <p:cNvSpPr txBox="1"/>
          <p:nvPr/>
        </p:nvSpPr>
        <p:spPr>
          <a:xfrm>
            <a:off x="3813048" y="3456432"/>
            <a:ext cx="2221992" cy="713232"/>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한겨울 야외
→ 후드 O, 원피스 X</a:t>
            </a:r>
          </a:p>
        </p:txBody>
      </p:sp>
      <p:sp>
        <p:nvSpPr>
          <p:cNvPr id="18" name="TextBox 17"/>
          <p:cNvSpPr txBox="1"/>
          <p:nvPr/>
        </p:nvSpPr>
        <p:spPr>
          <a:xfrm>
            <a:off x="3703320" y="4443984"/>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59개</a:t>
            </a:r>
          </a:p>
        </p:txBody>
      </p:sp>
      <p:sp>
        <p:nvSpPr>
          <p:cNvPr id="19" name="Right Arrow 18"/>
          <p:cNvSpPr/>
          <p:nvPr/>
        </p:nvSpPr>
        <p:spPr>
          <a:xfrm>
            <a:off x="6364224" y="3401568"/>
            <a:ext cx="109728" cy="14630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92240" y="2139696"/>
            <a:ext cx="2770632" cy="2889504"/>
          </a:xfrm>
          <a:prstGeom prst="roundRect">
            <a:avLst>
              <a:gd name="adj" fmla="val 8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1" name="TextBox 20"/>
          <p:cNvSpPr txBox="1"/>
          <p:nvPr/>
        </p:nvSpPr>
        <p:spPr>
          <a:xfrm>
            <a:off x="6656831" y="2267712"/>
            <a:ext cx="2441448" cy="310896"/>
          </a:xfrm>
          <a:prstGeom prst="rect">
            <a:avLst/>
          </a:prstGeom>
          <a:noFill/>
        </p:spPr>
        <p:txBody>
          <a:bodyPr wrap="square" lIns="0" rIns="0" tIns="0" bIns="0" anchor="t">
            <a:spAutoFit/>
          </a:bodyPr>
          <a:lstStyle/>
          <a:p>
            <a:pPr algn="l">
              <a:spcBef>
                <a:spcPts val="0"/>
              </a:spcBef>
              <a:spcAft>
                <a:spcPts val="200"/>
              </a:spcAft>
            </a:pPr>
            <a:r>
              <a:rPr sz="1500" b="1" i="0">
                <a:solidFill>
                  <a:srgbClr val="004094"/>
                </a:solidFill>
                <a:latin typeface="맑은 고딕"/>
                <a:ea typeface="맑은 고딕"/>
                <a:cs typeface="맑은 고딕"/>
              </a:rPr>
              <a:t>문항 만들기</a:t>
            </a:r>
          </a:p>
        </p:txBody>
      </p:sp>
      <p:sp>
        <p:nvSpPr>
          <p:cNvPr id="22" name="TextBox 21"/>
          <p:cNvSpPr txBox="1"/>
          <p:nvPr/>
        </p:nvSpPr>
        <p:spPr>
          <a:xfrm>
            <a:off x="6656831" y="2633472"/>
            <a:ext cx="2441448" cy="603504"/>
          </a:xfrm>
          <a:prstGeom prst="rect">
            <a:avLst/>
          </a:prstGeom>
          <a:noFill/>
        </p:spPr>
        <p:txBody>
          <a:bodyPr wrap="square" lIns="0" rIns="0" tIns="0" bIns="0" anchor="t">
            <a:spAutoFit/>
          </a:bodyPr>
          <a:lstStyle/>
          <a:p>
            <a:pPr algn="l">
              <a:lnSpc>
                <a:spcPct val="125000"/>
              </a:lnSpc>
              <a:spcBef>
                <a:spcPts val="0"/>
              </a:spcBef>
              <a:spcAft>
                <a:spcPts val="200"/>
              </a:spcAft>
            </a:pPr>
            <a:r>
              <a:rPr sz="1200" b="0" i="0">
                <a:solidFill>
                  <a:srgbClr val="27251E"/>
                </a:solidFill>
                <a:latin typeface="맑은 고딕"/>
                <a:ea typeface="맑은 고딕"/>
                <a:cs typeface="맑은 고딕"/>
              </a:rPr>
              <a:t>사람 × 상황을 곱해
4지선다 하나로</a:t>
            </a:r>
          </a:p>
        </p:txBody>
      </p:sp>
      <p:sp>
        <p:nvSpPr>
          <p:cNvPr id="23" name="Rounded Rectangle 22"/>
          <p:cNvSpPr/>
          <p:nvPr/>
        </p:nvSpPr>
        <p:spPr>
          <a:xfrm>
            <a:off x="6656831" y="3346704"/>
            <a:ext cx="2441448" cy="914400"/>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4" name="TextBox 23"/>
          <p:cNvSpPr txBox="1"/>
          <p:nvPr/>
        </p:nvSpPr>
        <p:spPr>
          <a:xfrm>
            <a:off x="6766559" y="3456432"/>
            <a:ext cx="2221992" cy="713232"/>
          </a:xfrm>
          <a:prstGeom prst="rect">
            <a:avLst/>
          </a:prstGeom>
          <a:noFill/>
        </p:spPr>
        <p:txBody>
          <a:bodyPr wrap="square" lIns="0" rIns="0" tIns="0" bIns="0" anchor="t">
            <a:spAutoFit/>
          </a:bodyPr>
          <a:lstStyle/>
          <a:p>
            <a:pPr algn="l">
              <a:spcBef>
                <a:spcPts val="0"/>
              </a:spcBef>
              <a:spcAft>
                <a:spcPts val="200"/>
              </a:spcAft>
            </a:pPr>
            <a:r>
              <a:rPr sz="1000" b="1" i="0">
                <a:solidFill>
                  <a:srgbClr val="2E75B6"/>
                </a:solidFill>
                <a:latin typeface="맑은 고딕"/>
                <a:ea typeface="맑은 고딕"/>
                <a:cs typeface="맑은 고딕"/>
              </a:rPr>
              <a:t>예시</a:t>
            </a:r>
          </a:p>
          <a:p>
            <a:pPr algn="l">
              <a:lnSpc>
                <a:spcPct val="120000"/>
              </a:lnSpc>
              <a:spcBef>
                <a:spcPts val="200"/>
              </a:spcBef>
              <a:spcAft>
                <a:spcPts val="200"/>
              </a:spcAft>
            </a:pPr>
            <a:r>
              <a:rPr sz="1100" b="0" i="0">
                <a:solidFill>
                  <a:srgbClr val="27251E"/>
                </a:solidFill>
                <a:latin typeface="맑은 고딕"/>
                <a:ea typeface="맑은 고딕"/>
                <a:cs typeface="맑은 고딕"/>
              </a:rPr>
              <a:t>파란 후드 / 주황 후드
파란 원피스 / 주황 원피스</a:t>
            </a:r>
          </a:p>
        </p:txBody>
      </p:sp>
      <p:sp>
        <p:nvSpPr>
          <p:cNvPr id="25" name="TextBox 24"/>
          <p:cNvSpPr txBox="1"/>
          <p:nvPr/>
        </p:nvSpPr>
        <p:spPr>
          <a:xfrm>
            <a:off x="6656831" y="4443984"/>
            <a:ext cx="2441448" cy="384048"/>
          </a:xfrm>
          <a:prstGeom prst="rect">
            <a:avLst/>
          </a:prstGeom>
          <a:noFill/>
        </p:spPr>
        <p:txBody>
          <a:bodyPr wrap="square" lIns="0" rIns="0" tIns="0" bIns="0" anchor="t">
            <a:spAutoFit/>
          </a:bodyPr>
          <a:lstStyle/>
          <a:p>
            <a:pPr algn="ctr">
              <a:spcBef>
                <a:spcPts val="0"/>
              </a:spcBef>
              <a:spcAft>
                <a:spcPts val="200"/>
              </a:spcAft>
            </a:pPr>
            <a:r>
              <a:rPr sz="1900" b="1" i="0">
                <a:solidFill>
                  <a:srgbClr val="004094"/>
                </a:solidFill>
                <a:latin typeface="맑은 고딕"/>
                <a:ea typeface="맑은 고딕"/>
                <a:cs typeface="맑은 고딕"/>
              </a:rPr>
              <a:t>2,621개</a:t>
            </a:r>
          </a:p>
        </p:txBody>
      </p:sp>
      <p:sp>
        <p:nvSpPr>
          <p:cNvPr id="26" name="Rounded Rectangle 25"/>
          <p:cNvSpPr/>
          <p:nvPr/>
        </p:nvSpPr>
        <p:spPr>
          <a:xfrm>
            <a:off x="585216" y="5230368"/>
            <a:ext cx="8732520"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7" name="TextBox 26"/>
          <p:cNvSpPr txBox="1"/>
          <p:nvPr/>
        </p:nvSpPr>
        <p:spPr>
          <a:xfrm>
            <a:off x="768096" y="5340096"/>
            <a:ext cx="8366760" cy="402336"/>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세 단계 모두 사람 손이 들어가지 않습니다</a:t>
            </a:r>
            <a:r>
              <a:rPr sz="1300" b="0" i="0">
                <a:solidFill>
                  <a:srgbClr val="27251E"/>
                </a:solidFill>
                <a:latin typeface="맑은 고딕"/>
                <a:ea typeface="맑은 고딕"/>
                <a:cs typeface="맑은 고딕"/>
              </a:rPr>
              <a:t> — 같은 씨앗을 넣으면 언제나 똑같은 데이터가 나옵니다.</a:t>
            </a:r>
          </a:p>
        </p:txBody>
      </p:sp>
      <p:sp>
        <p:nvSpPr>
          <p:cNvPr id="28" name="TextBox 27"/>
          <p:cNvSpPr txBox="1"/>
          <p:nvPr/>
        </p:nvSpPr>
        <p:spPr>
          <a:xfrm>
            <a:off x="585216" y="5998464"/>
            <a:ext cx="8732520" cy="402336"/>
          </a:xfrm>
          <a:prstGeom prst="rect">
            <a:avLst/>
          </a:prstGeom>
          <a:noFill/>
        </p:spPr>
        <p:txBody>
          <a:bodyPr wrap="square" lIns="0" rIns="0" tIns="0" bIns="0" anchor="t">
            <a:spAutoFit/>
          </a:bodyPr>
          <a:lstStyle/>
          <a:p>
            <a:pPr algn="l">
              <a:lnSpc>
                <a:spcPct val="120000"/>
              </a:lnSpc>
              <a:spcBef>
                <a:spcPts val="0"/>
              </a:spcBef>
              <a:spcAft>
                <a:spcPts val="200"/>
              </a:spcAft>
            </a:pPr>
            <a:r>
              <a:rPr sz="1150" b="1" i="0">
                <a:solidFill>
                  <a:srgbClr val="767171"/>
                </a:solidFill>
                <a:latin typeface="맑은 고딕"/>
                <a:ea typeface="맑은 고딕"/>
                <a:cs typeface="맑은 고딕"/>
              </a:rPr>
              <a:t>왜 중요한가  </a:t>
            </a:r>
            <a:r>
              <a:rPr sz="1150" b="0" i="0">
                <a:solidFill>
                  <a:srgbClr val="767171"/>
                </a:solidFill>
                <a:latin typeface="맑은 고딕"/>
                <a:ea typeface="맑은 고딕"/>
                <a:cs typeface="맑은 고딕"/>
              </a:rPr>
              <a:t>남이 제 결과를 다시 만들어 검증할 수 있고, 제가 데이터를 유리하게 고르지 않았다는 증거가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8</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②  Dialog — 취향을 대화로 전달</a:t>
            </a:r>
            <a:r>
              <a:rPr sz="1400" b="0" i="0">
                <a:solidFill>
                  <a:srgbClr val="767171"/>
                </a:solidFill>
                <a:latin typeface="맑은 고딕"/>
                <a:ea typeface="맑은 고딕"/>
                <a:cs typeface="맑은 고딕"/>
              </a:rPr>
              <a:t>   이번에 새로 추가한 단계</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실제 사용자는 취향을 </a:t>
            </a:r>
            <a:r>
              <a:rPr sz="1500" b="1" i="0">
                <a:solidFill>
                  <a:srgbClr val="C00000"/>
                </a:solidFill>
                <a:latin typeface="맑은 고딕"/>
                <a:ea typeface="맑은 고딕"/>
                <a:cs typeface="맑은 고딕"/>
              </a:rPr>
              <a:t>목록으로 말하지 않습니다</a:t>
            </a:r>
            <a:r>
              <a:rPr sz="1500" b="0" i="0">
                <a:solidFill>
                  <a:srgbClr val="27251E"/>
                </a:solidFill>
                <a:latin typeface="맑은 고딕"/>
                <a:ea typeface="맑은 고딕"/>
                <a:cs typeface="맑은 고딕"/>
              </a:rPr>
              <a:t> — 대화 중에 사진으로 흘립니다.</a:t>
            </a:r>
          </a:p>
        </p:txBody>
      </p:sp>
      <p:sp>
        <p:nvSpPr>
          <p:cNvPr id="6" name="Rounded Rectangle 5"/>
          <p:cNvSpPr/>
          <p:nvPr/>
        </p:nvSpPr>
        <p:spPr>
          <a:xfrm>
            <a:off x="585216" y="2048256"/>
            <a:ext cx="4160520" cy="11155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68096" y="2176272"/>
            <a:ext cx="3822191" cy="896112"/>
          </a:xfrm>
          <a:prstGeom prst="rect">
            <a:avLst/>
          </a:prstGeom>
          <a:noFill/>
        </p:spPr>
        <p:txBody>
          <a:bodyPr wrap="square" lIns="0" rIns="0" tIns="0" bIns="0" anchor="t">
            <a:spAutoFit/>
          </a:bodyPr>
          <a:lstStyle/>
          <a:p>
            <a:pPr algn="l">
              <a:spcBef>
                <a:spcPts val="0"/>
              </a:spcBef>
              <a:spcAft>
                <a:spcPts val="200"/>
              </a:spcAft>
            </a:pPr>
            <a:r>
              <a:rPr sz="1300" b="1" i="0">
                <a:solidFill>
                  <a:srgbClr val="767171"/>
                </a:solidFill>
                <a:latin typeface="맑은 고딕"/>
                <a:ea typeface="맑은 고딕"/>
                <a:cs typeface="맑은 고딕"/>
              </a:rPr>
              <a:t>지금까지 (목록·줄글)</a:t>
            </a:r>
          </a:p>
          <a:p>
            <a:pPr algn="l">
              <a:lnSpc>
                <a:spcPct val="120000"/>
              </a:lnSpc>
              <a:spcBef>
                <a:spcPts val="500"/>
              </a:spcBef>
              <a:spcAft>
                <a:spcPts val="200"/>
              </a:spcAft>
            </a:pPr>
            <a:r>
              <a:rPr sz="1150" b="0" i="0">
                <a:solidFill>
                  <a:srgbClr val="27251E"/>
                </a:solidFill>
                <a:latin typeface="맑은 고딕"/>
                <a:ea typeface="맑은 고딕"/>
                <a:cs typeface="맑은 고딕"/>
              </a:rPr>
              <a:t>“좋아하는 색: 파랑, 베이지 · 싫어하는 색: 주황 …”</a:t>
            </a:r>
          </a:p>
          <a:p>
            <a:pPr algn="l">
              <a:spcBef>
                <a:spcPts val="400"/>
              </a:spcBef>
              <a:spcAft>
                <a:spcPts val="200"/>
              </a:spcAft>
            </a:pPr>
            <a:r>
              <a:rPr sz="1100" b="0" i="0">
                <a:solidFill>
                  <a:srgbClr val="767171"/>
                </a:solidFill>
                <a:latin typeface="맑은 고딕"/>
                <a:ea typeface="맑은 고딕"/>
                <a:cs typeface="맑은 고딕"/>
              </a:rPr>
              <a:t>한 번에 다 알려주는 형태</a:t>
            </a:r>
          </a:p>
        </p:txBody>
      </p:sp>
      <p:sp>
        <p:nvSpPr>
          <p:cNvPr id="8" name="Rounded Rectangle 7"/>
          <p:cNvSpPr/>
          <p:nvPr/>
        </p:nvSpPr>
        <p:spPr>
          <a:xfrm>
            <a:off x="5074920" y="2048256"/>
            <a:ext cx="4242816" cy="1115568"/>
          </a:xfrm>
          <a:prstGeom prst="roundRect">
            <a:avLst>
              <a:gd name="adj" fmla="val 10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5239512" y="2176272"/>
            <a:ext cx="3913632" cy="896112"/>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새로 만든 것 (대화)</a:t>
            </a:r>
          </a:p>
          <a:p>
            <a:pPr algn="l">
              <a:lnSpc>
                <a:spcPct val="120000"/>
              </a:lnSpc>
              <a:spcBef>
                <a:spcPts val="500"/>
              </a:spcBef>
              <a:spcAft>
                <a:spcPts val="200"/>
              </a:spcAft>
            </a:pPr>
            <a:r>
              <a:rPr sz="1150" b="0" i="0">
                <a:solidFill>
                  <a:srgbClr val="27251E"/>
                </a:solidFill>
                <a:latin typeface="맑은 고딕"/>
                <a:ea typeface="맑은 고딕"/>
                <a:cs typeface="맑은 고딕"/>
              </a:rPr>
              <a:t>“이 둘은 하나만 다른데, </a:t>
            </a:r>
            <a:r>
              <a:rPr sz="1150" b="1" i="0">
                <a:solidFill>
                  <a:srgbClr val="004094"/>
                </a:solidFill>
                <a:latin typeface="맑은 고딕"/>
                <a:ea typeface="맑은 고딕"/>
                <a:cs typeface="맑은 고딕"/>
              </a:rPr>
              <a:t>첫 번째 옷의 커트</a:t>
            </a:r>
            <a:r>
              <a:rPr sz="1150" b="0" i="0">
                <a:solidFill>
                  <a:srgbClr val="27251E"/>
                </a:solidFill>
                <a:latin typeface="맑은 고딕"/>
                <a:ea typeface="맑은 고딕"/>
                <a:cs typeface="맑은 고딕"/>
              </a:rPr>
              <a:t>가 내가 절대 안 입는 커트야”</a:t>
            </a:r>
          </a:p>
          <a:p>
            <a:pPr algn="l">
              <a:spcBef>
                <a:spcPts val="400"/>
              </a:spcBef>
              <a:spcAft>
                <a:spcPts val="200"/>
              </a:spcAft>
            </a:pPr>
            <a:r>
              <a:rPr sz="1100" b="1" i="0">
                <a:solidFill>
                  <a:srgbClr val="C00000"/>
                </a:solidFill>
                <a:latin typeface="맑은 고딕"/>
                <a:ea typeface="맑은 고딕"/>
                <a:cs typeface="맑은 고딕"/>
              </a:rPr>
              <a:t>+ 사진 2장  →  값은 사진에만 있음</a:t>
            </a:r>
          </a:p>
        </p:txBody>
      </p:sp>
      <p:sp>
        <p:nvSpPr>
          <p:cNvPr id="10" name="TextBox 9"/>
          <p:cNvSpPr txBox="1"/>
          <p:nvPr/>
        </p:nvSpPr>
        <p:spPr>
          <a:xfrm>
            <a:off x="585216" y="3310128"/>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대화가 취향을 전달하는 네 가지 방식</a:t>
            </a:r>
          </a:p>
        </p:txBody>
      </p:sp>
      <p:sp>
        <p:nvSpPr>
          <p:cNvPr id="11" name="Rounded Rectangle 10"/>
          <p:cNvSpPr/>
          <p:nvPr/>
        </p:nvSpPr>
        <p:spPr>
          <a:xfrm>
            <a:off x="585216" y="3712463"/>
            <a:ext cx="8732520" cy="45720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86384" y="3831335"/>
            <a:ext cx="1371600" cy="256032"/>
          </a:xfrm>
          <a:prstGeom prst="rect">
            <a:avLst/>
          </a:prstGeom>
          <a:noFill/>
        </p:spPr>
        <p:txBody>
          <a:bodyPr wrap="square" lIns="0" rIns="0" tIns="0" bIns="0" anchor="t">
            <a:spAutoFit/>
          </a:bodyPr>
          <a:lstStyle/>
          <a:p>
            <a:pPr algn="l">
              <a:spcBef>
                <a:spcPts val="0"/>
              </a:spcBef>
              <a:spcAft>
                <a:spcPts val="200"/>
              </a:spcAft>
            </a:pPr>
            <a:r>
              <a:rPr sz="1300" b="1" i="0">
                <a:solidFill>
                  <a:srgbClr val="2E75B6"/>
                </a:solidFill>
                <a:latin typeface="맑은 고딕"/>
                <a:ea typeface="맑은 고딕"/>
                <a:cs typeface="맑은 고딕"/>
              </a:rPr>
              <a:t>single</a:t>
            </a:r>
          </a:p>
        </p:txBody>
      </p:sp>
      <p:sp>
        <p:nvSpPr>
          <p:cNvPr id="13" name="TextBox 12"/>
          <p:cNvSpPr txBox="1"/>
          <p:nvPr/>
        </p:nvSpPr>
        <p:spPr>
          <a:xfrm>
            <a:off x="2157984" y="3840479"/>
            <a:ext cx="822960" cy="237744"/>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사진 1장</a:t>
            </a:r>
          </a:p>
        </p:txBody>
      </p:sp>
      <p:sp>
        <p:nvSpPr>
          <p:cNvPr id="14" name="TextBox 13"/>
          <p:cNvSpPr txBox="1"/>
          <p:nvPr/>
        </p:nvSpPr>
        <p:spPr>
          <a:xfrm>
            <a:off x="3200400" y="3840479"/>
            <a:ext cx="5897880" cy="237744"/>
          </a:xfrm>
          <a:prstGeom prst="rect">
            <a:avLst/>
          </a:prstGeom>
          <a:noFill/>
        </p:spPr>
        <p:txBody>
          <a:bodyPr wrap="square" lIns="0" rIns="0" tIns="0" bIns="0" anchor="t">
            <a:spAutoFit/>
          </a:bodyPr>
          <a:lstStyle/>
          <a:p>
            <a:pPr algn="l">
              <a:spcBef>
                <a:spcPts val="0"/>
              </a:spcBef>
              <a:spcAft>
                <a:spcPts val="200"/>
              </a:spcAft>
            </a:pPr>
            <a:r>
              <a:rPr sz="1200" b="0" i="0">
                <a:solidFill>
                  <a:srgbClr val="27251E"/>
                </a:solidFill>
                <a:latin typeface="맑은 고딕"/>
                <a:ea typeface="맑은 고딕"/>
                <a:cs typeface="맑은 고딕"/>
              </a:rPr>
              <a:t>그 사진의 값을 읽으면 됨</a:t>
            </a:r>
          </a:p>
        </p:txBody>
      </p:sp>
      <p:sp>
        <p:nvSpPr>
          <p:cNvPr id="15" name="Rounded Rectangle 14"/>
          <p:cNvSpPr/>
          <p:nvPr/>
        </p:nvSpPr>
        <p:spPr>
          <a:xfrm>
            <a:off x="585216" y="4224527"/>
            <a:ext cx="8732520" cy="457200"/>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6" name="TextBox 15"/>
          <p:cNvSpPr txBox="1"/>
          <p:nvPr/>
        </p:nvSpPr>
        <p:spPr>
          <a:xfrm>
            <a:off x="786384" y="4343399"/>
            <a:ext cx="1371600" cy="256032"/>
          </a:xfrm>
          <a:prstGeom prst="rect">
            <a:avLst/>
          </a:prstGeom>
          <a:noFill/>
        </p:spPr>
        <p:txBody>
          <a:bodyPr wrap="square" lIns="0" rIns="0" tIns="0" bIns="0" anchor="t">
            <a:spAutoFit/>
          </a:bodyPr>
          <a:lstStyle/>
          <a:p>
            <a:pPr algn="l">
              <a:spcBef>
                <a:spcPts val="0"/>
              </a:spcBef>
              <a:spcAft>
                <a:spcPts val="200"/>
              </a:spcAft>
            </a:pPr>
            <a:r>
              <a:rPr sz="1300" b="1" i="0">
                <a:solidFill>
                  <a:srgbClr val="2E75B6"/>
                </a:solidFill>
                <a:latin typeface="맑은 고딕"/>
                <a:ea typeface="맑은 고딕"/>
                <a:cs typeface="맑은 고딕"/>
              </a:rPr>
              <a:t>differ</a:t>
            </a:r>
          </a:p>
        </p:txBody>
      </p:sp>
      <p:sp>
        <p:nvSpPr>
          <p:cNvPr id="17" name="TextBox 16"/>
          <p:cNvSpPr txBox="1"/>
          <p:nvPr/>
        </p:nvSpPr>
        <p:spPr>
          <a:xfrm>
            <a:off x="2157984" y="4352543"/>
            <a:ext cx="822960" cy="237744"/>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사진 2장</a:t>
            </a:r>
          </a:p>
        </p:txBody>
      </p:sp>
      <p:sp>
        <p:nvSpPr>
          <p:cNvPr id="18" name="TextBox 17"/>
          <p:cNvSpPr txBox="1"/>
          <p:nvPr/>
        </p:nvSpPr>
        <p:spPr>
          <a:xfrm>
            <a:off x="3200400" y="4352543"/>
            <a:ext cx="5897880" cy="237744"/>
          </a:xfrm>
          <a:prstGeom prst="rect">
            <a:avLst/>
          </a:prstGeom>
          <a:noFill/>
        </p:spPr>
        <p:txBody>
          <a:bodyPr wrap="square" lIns="0" rIns="0" tIns="0" bIns="0" anchor="t">
            <a:spAutoFit/>
          </a:bodyPr>
          <a:lstStyle/>
          <a:p>
            <a:pPr algn="l">
              <a:spcBef>
                <a:spcPts val="0"/>
              </a:spcBef>
              <a:spcAft>
                <a:spcPts val="200"/>
              </a:spcAft>
            </a:pPr>
            <a:r>
              <a:rPr sz="1200" b="0" i="0">
                <a:solidFill>
                  <a:srgbClr val="27251E"/>
                </a:solidFill>
                <a:latin typeface="맑은 고딕"/>
                <a:ea typeface="맑은 고딕"/>
                <a:cs typeface="맑은 고딕"/>
              </a:rPr>
              <a:t>한 축만 다름 — 어느 쪽인지 텍스트가 지정</a:t>
            </a:r>
          </a:p>
        </p:txBody>
      </p:sp>
      <p:sp>
        <p:nvSpPr>
          <p:cNvPr id="19" name="Rounded Rectangle 18"/>
          <p:cNvSpPr/>
          <p:nvPr/>
        </p:nvSpPr>
        <p:spPr>
          <a:xfrm>
            <a:off x="585216" y="4736592"/>
            <a:ext cx="8732520" cy="457200"/>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0" name="TextBox 19"/>
          <p:cNvSpPr txBox="1"/>
          <p:nvPr/>
        </p:nvSpPr>
        <p:spPr>
          <a:xfrm>
            <a:off x="786384" y="4855464"/>
            <a:ext cx="1371600" cy="256032"/>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share2</a:t>
            </a:r>
          </a:p>
        </p:txBody>
      </p:sp>
      <p:sp>
        <p:nvSpPr>
          <p:cNvPr id="21" name="TextBox 20"/>
          <p:cNvSpPr txBox="1"/>
          <p:nvPr/>
        </p:nvSpPr>
        <p:spPr>
          <a:xfrm>
            <a:off x="2157984" y="4864607"/>
            <a:ext cx="822960" cy="237744"/>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사진 2장</a:t>
            </a:r>
          </a:p>
        </p:txBody>
      </p:sp>
      <p:sp>
        <p:nvSpPr>
          <p:cNvPr id="22" name="TextBox 21"/>
          <p:cNvSpPr txBox="1"/>
          <p:nvPr/>
        </p:nvSpPr>
        <p:spPr>
          <a:xfrm>
            <a:off x="3200400" y="4864607"/>
            <a:ext cx="5897880" cy="237744"/>
          </a:xfrm>
          <a:prstGeom prst="rect">
            <a:avLst/>
          </a:prstGeom>
          <a:noFill/>
        </p:spPr>
        <p:txBody>
          <a:bodyPr wrap="square" lIns="0" rIns="0" tIns="0" bIns="0" anchor="t">
            <a:spAutoFit/>
          </a:bodyPr>
          <a:lstStyle/>
          <a:p>
            <a:pPr algn="l">
              <a:spcBef>
                <a:spcPts val="0"/>
              </a:spcBef>
              <a:spcAft>
                <a:spcPts val="200"/>
              </a:spcAft>
            </a:pPr>
            <a:r>
              <a:rPr sz="1200" b="0" i="0">
                <a:solidFill>
                  <a:srgbClr val="27251E"/>
                </a:solidFill>
                <a:latin typeface="맑은 고딕"/>
                <a:ea typeface="맑은 고딕"/>
                <a:cs typeface="맑은 고딕"/>
              </a:rPr>
              <a:t>두 장이 공유하는 값 하나를 찾아야 함</a:t>
            </a:r>
          </a:p>
        </p:txBody>
      </p:sp>
      <p:sp>
        <p:nvSpPr>
          <p:cNvPr id="23" name="Rounded Rectangle 22"/>
          <p:cNvSpPr/>
          <p:nvPr/>
        </p:nvSpPr>
        <p:spPr>
          <a:xfrm>
            <a:off x="585216" y="5248656"/>
            <a:ext cx="8732520" cy="457200"/>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4" name="TextBox 23"/>
          <p:cNvSpPr txBox="1"/>
          <p:nvPr/>
        </p:nvSpPr>
        <p:spPr>
          <a:xfrm>
            <a:off x="786384" y="5367528"/>
            <a:ext cx="1371600" cy="256032"/>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share3</a:t>
            </a:r>
          </a:p>
        </p:txBody>
      </p:sp>
      <p:sp>
        <p:nvSpPr>
          <p:cNvPr id="25" name="TextBox 24"/>
          <p:cNvSpPr txBox="1"/>
          <p:nvPr/>
        </p:nvSpPr>
        <p:spPr>
          <a:xfrm>
            <a:off x="2157984" y="5376672"/>
            <a:ext cx="822960" cy="237744"/>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사진 3장</a:t>
            </a:r>
          </a:p>
        </p:txBody>
      </p:sp>
      <p:sp>
        <p:nvSpPr>
          <p:cNvPr id="26" name="TextBox 25"/>
          <p:cNvSpPr txBox="1"/>
          <p:nvPr/>
        </p:nvSpPr>
        <p:spPr>
          <a:xfrm>
            <a:off x="3200400" y="5376672"/>
            <a:ext cx="5897880" cy="237744"/>
          </a:xfrm>
          <a:prstGeom prst="rect">
            <a:avLst/>
          </a:prstGeom>
          <a:noFill/>
        </p:spPr>
        <p:txBody>
          <a:bodyPr wrap="square" lIns="0" rIns="0" tIns="0" bIns="0" anchor="t">
            <a:spAutoFit/>
          </a:bodyPr>
          <a:lstStyle/>
          <a:p>
            <a:pPr algn="l">
              <a:spcBef>
                <a:spcPts val="0"/>
              </a:spcBef>
              <a:spcAft>
                <a:spcPts val="200"/>
              </a:spcAft>
            </a:pPr>
            <a:r>
              <a:rPr sz="1200" b="0" i="0">
                <a:solidFill>
                  <a:srgbClr val="27251E"/>
                </a:solidFill>
                <a:latin typeface="맑은 고딕"/>
                <a:ea typeface="맑은 고딕"/>
                <a:cs typeface="맑은 고딕"/>
              </a:rPr>
              <a:t>세 장의 교집합을 계산해야 함</a:t>
            </a:r>
          </a:p>
        </p:txBody>
      </p:sp>
      <p:sp>
        <p:nvSpPr>
          <p:cNvPr id="27" name="Rounded Rectangle 26"/>
          <p:cNvSpPr/>
          <p:nvPr/>
        </p:nvSpPr>
        <p:spPr>
          <a:xfrm>
            <a:off x="585216" y="5815584"/>
            <a:ext cx="8732520" cy="658368"/>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8" name="TextBox 27"/>
          <p:cNvSpPr txBox="1"/>
          <p:nvPr/>
        </p:nvSpPr>
        <p:spPr>
          <a:xfrm>
            <a:off x="768096" y="5925312"/>
            <a:ext cx="8366760" cy="457200"/>
          </a:xfrm>
          <a:prstGeom prst="rect">
            <a:avLst/>
          </a:prstGeom>
          <a:noFill/>
        </p:spPr>
        <p:txBody>
          <a:bodyPr wrap="square" lIns="0" rIns="0" tIns="0" bIns="0" anchor="t">
            <a:spAutoFit/>
          </a:bodyPr>
          <a:lstStyle/>
          <a:p>
            <a:pPr algn="l">
              <a:spcBef>
                <a:spcPts val="0"/>
              </a:spcBef>
              <a:spcAft>
                <a:spcPts val="200"/>
              </a:spcAft>
            </a:pPr>
            <a:r>
              <a:rPr sz="1300" b="1" i="0">
                <a:solidFill>
                  <a:srgbClr val="C00000"/>
                </a:solidFill>
                <a:latin typeface="맑은 고딕"/>
                <a:ea typeface="맑은 고딕"/>
                <a:cs typeface="맑은 고딕"/>
              </a:rPr>
              <a:t>절대 규칙  </a:t>
            </a:r>
            <a:r>
              <a:rPr sz="1300" b="1" i="0">
                <a:solidFill>
                  <a:srgbClr val="27251E"/>
                </a:solidFill>
                <a:latin typeface="맑은 고딕"/>
                <a:ea typeface="맑은 고딕"/>
                <a:cs typeface="맑은 고딕"/>
              </a:rPr>
              <a:t>대화에는 상황 이야기를 한 마디도 넣지 않습니다.</a:t>
            </a:r>
          </a:p>
          <a:p>
            <a:pPr algn="l">
              <a:spcBef>
                <a:spcPts val="300"/>
              </a:spcBef>
              <a:spcAft>
                <a:spcPts val="200"/>
              </a:spcAft>
            </a:pPr>
            <a:r>
              <a:rPr sz="1100" b="0" i="0">
                <a:solidFill>
                  <a:srgbClr val="767171"/>
                </a:solidFill>
                <a:latin typeface="맑은 고딕"/>
                <a:ea typeface="맑은 고딕"/>
                <a:cs typeface="맑은 고딕"/>
              </a:rPr>
              <a:t>대화 속 상대가 “결혼식엔 흰색은 피하세요”라고 말하는 순간, 재려던 능력이 대화로 새어 나갑니다.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9</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②  Dialog — 실제로 만들어진 대화</a:t>
            </a:r>
            <a:r>
              <a:rPr sz="1400" b="0" i="0">
                <a:solidFill>
                  <a:srgbClr val="767171"/>
                </a:solidFill>
                <a:latin typeface="맑은 고딕"/>
                <a:ea typeface="맑은 고딕"/>
                <a:cs typeface="맑은 고딕"/>
              </a:rPr>
              <a:t>   사진판과 글자판은 쌍둥이</a:t>
            </a:r>
          </a:p>
        </p:txBody>
      </p:sp>
      <p:sp>
        <p:nvSpPr>
          <p:cNvPr id="5" name="TextBox 4"/>
          <p:cNvSpPr txBox="1"/>
          <p:nvPr/>
        </p:nvSpPr>
        <p:spPr>
          <a:xfrm>
            <a:off x="585216" y="1591056"/>
            <a:ext cx="8732520" cy="274320"/>
          </a:xfrm>
          <a:prstGeom prst="rect">
            <a:avLst/>
          </a:prstGeom>
          <a:noFill/>
        </p:spPr>
        <p:txBody>
          <a:bodyPr wrap="square" lIns="0" rIns="0" tIns="0" bIns="0" anchor="t">
            <a:spAutoFit/>
          </a:bodyPr>
          <a:lstStyle/>
          <a:p>
            <a:pPr algn="l">
              <a:spcBef>
                <a:spcPts val="0"/>
              </a:spcBef>
              <a:spcAft>
                <a:spcPts val="200"/>
              </a:spcAft>
            </a:pPr>
            <a:r>
              <a:rPr sz="1200" b="1" i="0">
                <a:solidFill>
                  <a:srgbClr val="004094"/>
                </a:solidFill>
                <a:latin typeface="맑은 고딕"/>
                <a:ea typeface="맑은 고딕"/>
                <a:cs typeface="맑은 고딕"/>
              </a:rPr>
              <a:t>사진판  </a:t>
            </a:r>
            <a:r>
              <a:rPr sz="1200" b="0" i="0">
                <a:solidFill>
                  <a:srgbClr val="767171"/>
                </a:solidFill>
                <a:latin typeface="맑은 고딕"/>
                <a:ea typeface="맑은 고딕"/>
                <a:cs typeface="맑은 고딕"/>
              </a:rPr>
              <a:t>dlg__U001__image.json  ·  실제 2번 턴</a:t>
            </a:r>
          </a:p>
        </p:txBody>
      </p:sp>
      <p:sp>
        <p:nvSpPr>
          <p:cNvPr id="6" name="Rounded Rectangle 5"/>
          <p:cNvSpPr/>
          <p:nvPr/>
        </p:nvSpPr>
        <p:spPr>
          <a:xfrm>
            <a:off x="585216" y="1883664"/>
            <a:ext cx="6035040" cy="566928"/>
          </a:xfrm>
          <a:prstGeom prst="roundRect">
            <a:avLst>
              <a:gd name="adj" fmla="val 2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86384" y="2011680"/>
            <a:ext cx="5669280" cy="329184"/>
          </a:xfrm>
          <a:prstGeom prst="rect">
            <a:avLst/>
          </a:prstGeom>
          <a:noFill/>
        </p:spPr>
        <p:txBody>
          <a:bodyPr wrap="square" lIns="0" rIns="0" tIns="0" bIns="0" anchor="t">
            <a:spAutoFit/>
          </a:bodyPr>
          <a:lstStyle/>
          <a:p>
            <a:pPr algn="l">
              <a:spcBef>
                <a:spcPts val="0"/>
              </a:spcBef>
              <a:spcAft>
                <a:spcPts val="200"/>
              </a:spcAft>
            </a:pPr>
            <a:r>
              <a:rPr sz="1250" b="0" i="0">
                <a:solidFill>
                  <a:srgbClr val="27251E"/>
                </a:solidFill>
                <a:latin typeface="맑은 고딕"/>
                <a:ea typeface="맑은 고딕"/>
                <a:cs typeface="맑은 고딕"/>
              </a:rPr>
              <a:t>“이 둘은 같은 물건인데 하나만 달라. </a:t>
            </a:r>
            <a:r>
              <a:rPr sz="1250" b="1" i="0">
                <a:solidFill>
                  <a:srgbClr val="004094"/>
                </a:solidFill>
                <a:latin typeface="맑은 고딕"/>
                <a:ea typeface="맑은 고딕"/>
                <a:cs typeface="맑은 고딕"/>
              </a:rPr>
              <a:t>첫 번째 옷의 커트</a:t>
            </a:r>
            <a:r>
              <a:rPr sz="1250" b="0" i="0">
                <a:solidFill>
                  <a:srgbClr val="27251E"/>
                </a:solidFill>
                <a:latin typeface="맑은 고딕"/>
                <a:ea typeface="맑은 고딕"/>
                <a:cs typeface="맑은 고딕"/>
              </a:rPr>
              <a:t>는 내가 절대 안 입는 커트야.”</a:t>
            </a:r>
          </a:p>
        </p:txBody>
      </p:sp>
      <p:pic>
        <p:nvPicPr>
          <p:cNvPr id="8" name="Picture 7" descr="fig_dlg_example.png"/>
          <p:cNvPicPr>
            <a:picLocks noChangeAspect="1"/>
          </p:cNvPicPr>
          <p:nvPr/>
        </p:nvPicPr>
        <p:blipFill>
          <a:blip r:embed="rId3"/>
          <a:stretch>
            <a:fillRect/>
          </a:stretch>
        </p:blipFill>
        <p:spPr>
          <a:xfrm>
            <a:off x="1188720" y="2596896"/>
            <a:ext cx="2286000" cy="1016000"/>
          </a:xfrm>
          <a:prstGeom prst="rect">
            <a:avLst/>
          </a:prstGeom>
        </p:spPr>
      </p:pic>
      <p:sp>
        <p:nvSpPr>
          <p:cNvPr id="9" name="TextBox 8"/>
          <p:cNvSpPr txBox="1"/>
          <p:nvPr/>
        </p:nvSpPr>
        <p:spPr>
          <a:xfrm>
            <a:off x="822960" y="3730752"/>
            <a:ext cx="3017520" cy="237744"/>
          </a:xfrm>
          <a:prstGeom prst="rect">
            <a:avLst/>
          </a:prstGeom>
          <a:noFill/>
        </p:spPr>
        <p:txBody>
          <a:bodyPr wrap="square" lIns="0" rIns="0" tIns="0" bIns="0" anchor="t">
            <a:spAutoFit/>
          </a:bodyPr>
          <a:lstStyle/>
          <a:p>
            <a:pPr algn="ctr">
              <a:spcBef>
                <a:spcPts val="0"/>
              </a:spcBef>
              <a:spcAft>
                <a:spcPts val="200"/>
              </a:spcAft>
            </a:pPr>
            <a:r>
              <a:rPr sz="1050" b="0" i="0">
                <a:solidFill>
                  <a:srgbClr val="767171"/>
                </a:solidFill>
                <a:latin typeface="맑은 고딕"/>
                <a:ea typeface="맑은 고딕"/>
                <a:cs typeface="맑은 고딕"/>
              </a:rPr>
              <a:t>사진 2장만 제시  ·  옷 이름은 어디에도 없음</a:t>
            </a:r>
          </a:p>
        </p:txBody>
      </p:sp>
      <p:sp>
        <p:nvSpPr>
          <p:cNvPr id="10" name="Rounded Rectangle 9"/>
          <p:cNvSpPr/>
          <p:nvPr/>
        </p:nvSpPr>
        <p:spPr>
          <a:xfrm>
            <a:off x="4443984" y="2560320"/>
            <a:ext cx="4873752" cy="1298448"/>
          </a:xfrm>
          <a:prstGeom prst="roundRect">
            <a:avLst>
              <a:gd name="adj" fmla="val 10000"/>
            </a:avLst>
          </a:prstGeom>
          <a:solidFill>
            <a:srgbClr val="FFFFFF"/>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1" name="TextBox 10"/>
          <p:cNvSpPr txBox="1"/>
          <p:nvPr/>
        </p:nvSpPr>
        <p:spPr>
          <a:xfrm>
            <a:off x="4608576" y="2670048"/>
            <a:ext cx="4544568" cy="1078992"/>
          </a:xfrm>
          <a:prstGeom prst="rect">
            <a:avLst/>
          </a:prstGeom>
          <a:noFill/>
        </p:spPr>
        <p:txBody>
          <a:bodyPr wrap="square" lIns="0" rIns="0" tIns="0" bIns="0" anchor="t">
            <a:spAutoFit/>
          </a:bodyPr>
          <a:lstStyle/>
          <a:p>
            <a:pPr algn="l">
              <a:spcBef>
                <a:spcPts val="0"/>
              </a:spcBef>
              <a:spcAft>
                <a:spcPts val="200"/>
              </a:spcAft>
            </a:pPr>
            <a:r>
              <a:rPr sz="1250" b="1" i="0">
                <a:solidFill>
                  <a:srgbClr val="2E75B6"/>
                </a:solidFill>
                <a:latin typeface="맑은 고딕"/>
                <a:ea typeface="맑은 고딕"/>
                <a:cs typeface="맑은 고딕"/>
              </a:rPr>
              <a:t>모델이 해야 하는 일</a:t>
            </a:r>
          </a:p>
          <a:p>
            <a:pPr algn="l">
              <a:spcBef>
                <a:spcPts val="400"/>
              </a:spcBef>
              <a:spcAft>
                <a:spcPts val="200"/>
              </a:spcAft>
            </a:pPr>
            <a:r>
              <a:rPr sz="1150" b="0" i="0">
                <a:solidFill>
                  <a:srgbClr val="27251E"/>
                </a:solidFill>
                <a:latin typeface="맑은 고딕"/>
                <a:ea typeface="맑은 고딕"/>
                <a:cs typeface="맑은 고딕"/>
              </a:rPr>
              <a:t>① 두 사진을 보고 무엇이 다른지 찾는다</a:t>
            </a:r>
          </a:p>
          <a:p>
            <a:pPr algn="l">
              <a:spcBef>
                <a:spcPts val="200"/>
              </a:spcBef>
              <a:spcAft>
                <a:spcPts val="200"/>
              </a:spcAft>
            </a:pPr>
            <a:r>
              <a:rPr sz="1150" b="0" i="0">
                <a:solidFill>
                  <a:srgbClr val="27251E"/>
                </a:solidFill>
                <a:latin typeface="맑은 고딕"/>
                <a:ea typeface="맑은 고딕"/>
                <a:cs typeface="맑은 고딕"/>
              </a:rPr>
              <a:t>② ‘커트’가 옷 종류를 가리킨다는 걸 안다</a:t>
            </a:r>
          </a:p>
          <a:p>
            <a:pPr algn="l">
              <a:spcBef>
                <a:spcPts val="200"/>
              </a:spcBef>
              <a:spcAft>
                <a:spcPts val="200"/>
              </a:spcAft>
            </a:pPr>
            <a:r>
              <a:rPr sz="1150" b="0" i="0">
                <a:solidFill>
                  <a:srgbClr val="27251E"/>
                </a:solidFill>
                <a:latin typeface="맑은 고딕"/>
                <a:ea typeface="맑은 고딕"/>
                <a:cs typeface="맑은 고딕"/>
              </a:rPr>
              <a:t>③ 첫 번째 사진의 옷 종류를 </a:t>
            </a:r>
            <a:r>
              <a:rPr sz="1150" b="1" i="0">
                <a:solidFill>
                  <a:srgbClr val="C00000"/>
                </a:solidFill>
                <a:latin typeface="맑은 고딕"/>
                <a:ea typeface="맑은 고딕"/>
                <a:cs typeface="맑은 고딕"/>
              </a:rPr>
              <a:t>싫어함</a:t>
            </a:r>
            <a:r>
              <a:rPr sz="1150" b="0" i="0">
                <a:solidFill>
                  <a:srgbClr val="27251E"/>
                </a:solidFill>
                <a:latin typeface="맑은 고딕"/>
                <a:ea typeface="맑은 고딕"/>
                <a:cs typeface="맑은 고딕"/>
              </a:rPr>
              <a:t>으로 기록한다</a:t>
            </a:r>
          </a:p>
        </p:txBody>
      </p:sp>
      <p:sp>
        <p:nvSpPr>
          <p:cNvPr id="12" name="TextBox 11"/>
          <p:cNvSpPr txBox="1"/>
          <p:nvPr/>
        </p:nvSpPr>
        <p:spPr>
          <a:xfrm>
            <a:off x="585216" y="4041648"/>
            <a:ext cx="8732520" cy="274320"/>
          </a:xfrm>
          <a:prstGeom prst="rect">
            <a:avLst/>
          </a:prstGeom>
          <a:noFill/>
        </p:spPr>
        <p:txBody>
          <a:bodyPr wrap="square" lIns="0" rIns="0" tIns="0" bIns="0" anchor="t">
            <a:spAutoFit/>
          </a:bodyPr>
          <a:lstStyle/>
          <a:p>
            <a:pPr algn="l">
              <a:spcBef>
                <a:spcPts val="0"/>
              </a:spcBef>
              <a:spcAft>
                <a:spcPts val="200"/>
              </a:spcAft>
            </a:pPr>
            <a:r>
              <a:rPr sz="1200" b="1" i="0">
                <a:solidFill>
                  <a:srgbClr val="004094"/>
                </a:solidFill>
                <a:latin typeface="맑은 고딕"/>
                <a:ea typeface="맑은 고딕"/>
                <a:cs typeface="맑은 고딕"/>
              </a:rPr>
              <a:t>글자판  </a:t>
            </a:r>
            <a:r>
              <a:rPr sz="1200" b="0" i="0">
                <a:solidFill>
                  <a:srgbClr val="767171"/>
                </a:solidFill>
                <a:latin typeface="맑은 고딕"/>
                <a:ea typeface="맑은 고딕"/>
                <a:cs typeface="맑은 고딕"/>
              </a:rPr>
              <a:t>같은 대화, 같은 순서 — 사진 자리에만 이름이 들어갑니다</a:t>
            </a:r>
          </a:p>
        </p:txBody>
      </p:sp>
      <p:sp>
        <p:nvSpPr>
          <p:cNvPr id="13" name="Rounded Rectangle 12"/>
          <p:cNvSpPr/>
          <p:nvPr/>
        </p:nvSpPr>
        <p:spPr>
          <a:xfrm>
            <a:off x="585216" y="4334256"/>
            <a:ext cx="8732520" cy="530352"/>
          </a:xfrm>
          <a:prstGeom prst="roundRect">
            <a:avLst>
              <a:gd name="adj" fmla="val 22000"/>
            </a:avLst>
          </a:prstGeom>
          <a:solidFill>
            <a:srgbClr val="F5F8FC"/>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TextBox 13"/>
          <p:cNvSpPr txBox="1"/>
          <p:nvPr/>
        </p:nvSpPr>
        <p:spPr>
          <a:xfrm>
            <a:off x="786384" y="4443984"/>
            <a:ext cx="8330184" cy="329184"/>
          </a:xfrm>
          <a:prstGeom prst="rect">
            <a:avLst/>
          </a:prstGeom>
          <a:noFill/>
        </p:spPr>
        <p:txBody>
          <a:bodyPr wrap="square" lIns="0" rIns="0" tIns="0" bIns="0" anchor="t">
            <a:spAutoFit/>
          </a:bodyPr>
          <a:lstStyle/>
          <a:p>
            <a:pPr algn="l">
              <a:spcBef>
                <a:spcPts val="0"/>
              </a:spcBef>
              <a:spcAft>
                <a:spcPts val="200"/>
              </a:spcAft>
            </a:pPr>
            <a:r>
              <a:rPr sz="1200" b="0" i="0">
                <a:solidFill>
                  <a:srgbClr val="27251E"/>
                </a:solidFill>
                <a:latin typeface="맑은 고딕"/>
                <a:ea typeface="맑은 고딕"/>
                <a:cs typeface="맑은 고딕"/>
              </a:rPr>
              <a:t>“…첫 번째 옷의 커트는 내가 절대 안 입는 커트야.  </a:t>
            </a:r>
            <a:r>
              <a:rPr sz="1200" b="1" i="0">
                <a:solidFill>
                  <a:srgbClr val="2E75B6"/>
                </a:solidFill>
                <a:latin typeface="맑은 고딕"/>
                <a:ea typeface="맑은 고딕"/>
                <a:cs typeface="맑은 고딕"/>
              </a:rPr>
              <a:t>{navy solid pea coat}   {navy solid windbreaker}</a:t>
            </a:r>
          </a:p>
        </p:txBody>
      </p:sp>
      <p:sp>
        <p:nvSpPr>
          <p:cNvPr id="15" name="TextBox 14"/>
          <p:cNvSpPr txBox="1"/>
          <p:nvPr/>
        </p:nvSpPr>
        <p:spPr>
          <a:xfrm>
            <a:off x="585216" y="5010912"/>
            <a:ext cx="8732520" cy="274320"/>
          </a:xfrm>
          <a:prstGeom prst="rect">
            <a:avLst/>
          </a:prstGeom>
          <a:noFill/>
        </p:spPr>
        <p:txBody>
          <a:bodyPr wrap="square" lIns="0" rIns="0" tIns="0" bIns="0" anchor="t">
            <a:spAutoFit/>
          </a:bodyPr>
          <a:lstStyle/>
          <a:p>
            <a:pPr algn="l">
              <a:spcBef>
                <a:spcPts val="0"/>
              </a:spcBef>
              <a:spcAft>
                <a:spcPts val="200"/>
              </a:spcAft>
            </a:pPr>
            <a:r>
              <a:rPr sz="1250" b="0" i="0">
                <a:solidFill>
                  <a:srgbClr val="27251E"/>
                </a:solidFill>
                <a:latin typeface="맑은 고딕"/>
                <a:ea typeface="맑은 고딕"/>
                <a:cs typeface="맑은 고딕"/>
              </a:rPr>
              <a:t>두 판의 차이가 딱 하나 </a:t>
            </a:r>
            <a:r>
              <a:rPr sz="1250" b="1" i="0">
                <a:solidFill>
                  <a:srgbClr val="004094"/>
                </a:solidFill>
                <a:latin typeface="맑은 고딕"/>
                <a:ea typeface="맑은 고딕"/>
                <a:cs typeface="맑은 고딕"/>
              </a:rPr>
              <a:t>— 값이 사진이냐 글자냐</a:t>
            </a:r>
            <a:r>
              <a:rPr sz="1250" b="0" i="0">
                <a:solidFill>
                  <a:srgbClr val="27251E"/>
                </a:solidFill>
                <a:latin typeface="맑은 고딕"/>
                <a:ea typeface="맑은 고딕"/>
                <a:cs typeface="맑은 고딕"/>
              </a:rPr>
              <a:t>  →  성능 차이가 곧 ‘보는 능력’의 몫</a:t>
            </a:r>
          </a:p>
        </p:txBody>
      </p:sp>
      <p:sp>
        <p:nvSpPr>
          <p:cNvPr id="16" name="Rounded Rectangle 15"/>
          <p:cNvSpPr/>
          <p:nvPr/>
        </p:nvSpPr>
        <p:spPr>
          <a:xfrm>
            <a:off x="585216" y="5413248"/>
            <a:ext cx="2048256" cy="969264"/>
          </a:xfrm>
          <a:prstGeom prst="roundRect">
            <a:avLst>
              <a:gd name="adj" fmla="val 12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000" b="1" i="0">
                <a:solidFill>
                  <a:srgbClr val="004094"/>
                </a:solidFill>
                <a:latin typeface="맑은 고딕"/>
                <a:ea typeface="맑은 고딕"/>
                <a:cs typeface="맑은 고딕"/>
              </a:rPr>
              <a:t>48개</a:t>
            </a:r>
          </a:p>
          <a:p>
            <a:pPr algn="ctr">
              <a:lnSpc>
                <a:spcPct val="115000"/>
              </a:lnSpc>
              <a:spcBef>
                <a:spcPts val="0"/>
              </a:spcBef>
              <a:spcAft>
                <a:spcPts val="200"/>
              </a:spcAft>
            </a:pPr>
            <a:r>
              <a:rPr sz="950" b="0" i="0">
                <a:solidFill>
                  <a:srgbClr val="27251E"/>
                </a:solidFill>
                <a:latin typeface="맑은 고딕"/>
                <a:ea typeface="맑은 고딕"/>
                <a:cs typeface="맑은 고딕"/>
              </a:rPr>
              <a:t>만든 대화
(사진판 24 + 글자판 24)</a:t>
            </a:r>
          </a:p>
        </p:txBody>
      </p:sp>
      <p:sp>
        <p:nvSpPr>
          <p:cNvPr id="17" name="Rounded Rectangle 16"/>
          <p:cNvSpPr/>
          <p:nvPr/>
        </p:nvSpPr>
        <p:spPr>
          <a:xfrm>
            <a:off x="2724912" y="5413248"/>
            <a:ext cx="2048256" cy="969264"/>
          </a:xfrm>
          <a:prstGeom prst="roundRect">
            <a:avLst>
              <a:gd name="adj" fmla="val 12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000" b="1" i="0">
                <a:solidFill>
                  <a:srgbClr val="004094"/>
                </a:solidFill>
                <a:latin typeface="맑은 고딕"/>
                <a:ea typeface="맑은 고딕"/>
                <a:cs typeface="맑은 고딕"/>
              </a:rPr>
              <a:t>432개</a:t>
            </a:r>
          </a:p>
          <a:p>
            <a:pPr algn="ctr">
              <a:lnSpc>
                <a:spcPct val="115000"/>
              </a:lnSpc>
              <a:spcBef>
                <a:spcPts val="0"/>
              </a:spcBef>
              <a:spcAft>
                <a:spcPts val="200"/>
              </a:spcAft>
            </a:pPr>
            <a:r>
              <a:rPr sz="950" b="0" i="0">
                <a:solidFill>
                  <a:srgbClr val="27251E"/>
                </a:solidFill>
                <a:latin typeface="맑은 고딕"/>
                <a:ea typeface="맑은 고딕"/>
                <a:cs typeface="맑은 고딕"/>
              </a:rPr>
              <a:t>전달한 취향
24명 × 18개, 빠짐없이</a:t>
            </a:r>
          </a:p>
        </p:txBody>
      </p:sp>
      <p:sp>
        <p:nvSpPr>
          <p:cNvPr id="18" name="Rounded Rectangle 17"/>
          <p:cNvSpPr/>
          <p:nvPr/>
        </p:nvSpPr>
        <p:spPr>
          <a:xfrm>
            <a:off x="4864608" y="541324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000" b="1" i="0">
                <a:solidFill>
                  <a:srgbClr val="004094"/>
                </a:solidFill>
                <a:latin typeface="맑은 고딕"/>
                <a:ea typeface="맑은 고딕"/>
                <a:cs typeface="맑은 고딕"/>
              </a:rPr>
              <a:t>48/48</a:t>
            </a:r>
          </a:p>
          <a:p>
            <a:pPr algn="ctr">
              <a:lnSpc>
                <a:spcPct val="115000"/>
              </a:lnSpc>
              <a:spcBef>
                <a:spcPts val="0"/>
              </a:spcBef>
              <a:spcAft>
                <a:spcPts val="200"/>
              </a:spcAft>
            </a:pPr>
            <a:r>
              <a:rPr sz="950" b="0" i="0">
                <a:solidFill>
                  <a:srgbClr val="27251E"/>
                </a:solidFill>
                <a:latin typeface="맑은 고딕"/>
                <a:ea typeface="맑은 고딕"/>
                <a:cs typeface="맑은 고딕"/>
              </a:rPr>
              <a:t>검증 통과
규칙 5종 전수 확인</a:t>
            </a:r>
          </a:p>
        </p:txBody>
      </p:sp>
      <p:sp>
        <p:nvSpPr>
          <p:cNvPr id="19" name="Rounded Rectangle 18"/>
          <p:cNvSpPr/>
          <p:nvPr/>
        </p:nvSpPr>
        <p:spPr>
          <a:xfrm>
            <a:off x="7004304" y="5413248"/>
            <a:ext cx="2048256" cy="96926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000" b="1" i="0">
                <a:solidFill>
                  <a:srgbClr val="004094"/>
                </a:solidFill>
                <a:latin typeface="맑은 고딕"/>
                <a:ea typeface="맑은 고딕"/>
                <a:cs typeface="맑은 고딕"/>
              </a:rPr>
              <a:t>6/6</a:t>
            </a:r>
          </a:p>
          <a:p>
            <a:pPr algn="ctr">
              <a:lnSpc>
                <a:spcPct val="115000"/>
              </a:lnSpc>
              <a:spcBef>
                <a:spcPts val="0"/>
              </a:spcBef>
              <a:spcAft>
                <a:spcPts val="200"/>
              </a:spcAft>
            </a:pPr>
            <a:r>
              <a:rPr sz="950" b="0" i="0">
                <a:solidFill>
                  <a:srgbClr val="27251E"/>
                </a:solidFill>
                <a:latin typeface="맑은 고딕"/>
                <a:ea typeface="맑은 고딕"/>
                <a:cs typeface="맑은 고딕"/>
              </a:rPr>
              <a:t>일부러 망가뜨린 것을
검증기가 모두 검출</a:t>
            </a:r>
          </a:p>
        </p:txBody>
      </p:sp>
      <p:sp>
        <p:nvSpPr>
          <p:cNvPr id="20" name="TextBox 19"/>
          <p:cNvSpPr txBox="1"/>
          <p:nvPr/>
        </p:nvSpPr>
        <p:spPr>
          <a:xfrm>
            <a:off x="585216" y="6455664"/>
            <a:ext cx="8732520" cy="256032"/>
          </a:xfrm>
          <a:prstGeom prst="rect">
            <a:avLst/>
          </a:prstGeom>
          <a:noFill/>
        </p:spPr>
        <p:txBody>
          <a:bodyPr wrap="square" lIns="0" rIns="0" tIns="0" bIns="0" anchor="t">
            <a:spAutoFit/>
          </a:bodyPr>
          <a:lstStyle/>
          <a:p>
            <a:pPr algn="l">
              <a:spcBef>
                <a:spcPts val="0"/>
              </a:spcBef>
              <a:spcAft>
                <a:spcPts val="200"/>
              </a:spcAft>
            </a:pPr>
            <a:r>
              <a:rPr sz="1100" b="0" i="0">
                <a:solidFill>
                  <a:srgbClr val="767171"/>
                </a:solidFill>
                <a:latin typeface="맑은 고딕"/>
                <a:ea typeface="맑은 고딕"/>
                <a:cs typeface="맑은 고딕"/>
              </a:rPr>
              <a:t>검증기는 생성기와 별개 프로그램입니다 — 자기가 만든 걸 자기 기준으로 통과시키면 검증이 아니기 때문입니다.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10</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③  Image collection — 사진 모으기</a:t>
            </a:r>
            <a:r>
              <a:rPr sz="1400" b="0" i="0">
                <a:solidFill>
                  <a:srgbClr val="767171"/>
                </a:solidFill>
                <a:latin typeface="맑은 고딕"/>
                <a:ea typeface="맑은 고딕"/>
                <a:cs typeface="맑은 고딕"/>
              </a:rPr>
              <a:t>   문항 하나에 실제 상품 사진 4장</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검색만으로는 </a:t>
            </a:r>
            <a:r>
              <a:rPr sz="1500" b="1" i="0">
                <a:solidFill>
                  <a:srgbClr val="C00000"/>
                </a:solidFill>
                <a:latin typeface="맑은 고딕"/>
                <a:ea typeface="맑은 고딕"/>
                <a:cs typeface="맑은 고딕"/>
              </a:rPr>
              <a:t>원하는 사진이 나오지 않습니다</a:t>
            </a:r>
            <a:r>
              <a:rPr sz="1500" b="0" i="0">
                <a:solidFill>
                  <a:srgbClr val="27251E"/>
                </a:solidFill>
                <a:latin typeface="맑은 고딕"/>
                <a:ea typeface="맑은 고딕"/>
                <a:cs typeface="맑은 고딕"/>
              </a:rPr>
              <a:t> — 색·옷·무늬가 모두 맞아야 합니다.</a:t>
            </a:r>
          </a:p>
        </p:txBody>
      </p:sp>
      <p:sp>
        <p:nvSpPr>
          <p:cNvPr id="6" name="Rounded Rectangle 5"/>
          <p:cNvSpPr/>
          <p:nvPr/>
        </p:nvSpPr>
        <p:spPr>
          <a:xfrm>
            <a:off x="2304288" y="2194560"/>
            <a:ext cx="5669280" cy="402336"/>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166,100</a:t>
            </a:r>
          </a:p>
        </p:txBody>
      </p:sp>
      <p:sp>
        <p:nvSpPr>
          <p:cNvPr id="7" name="TextBox 6"/>
          <p:cNvSpPr txBox="1"/>
          <p:nvPr/>
        </p:nvSpPr>
        <p:spPr>
          <a:xfrm>
            <a:off x="585216" y="2286000"/>
            <a:ext cx="1572768" cy="256032"/>
          </a:xfrm>
          <a:prstGeom prst="rect">
            <a:avLst/>
          </a:prstGeom>
          <a:noFill/>
        </p:spPr>
        <p:txBody>
          <a:bodyPr wrap="square" lIns="0" rIns="0" tIns="0" bIns="0" anchor="t">
            <a:spAutoFit/>
          </a:bodyPr>
          <a:lstStyle/>
          <a:p>
            <a:pPr algn="r">
              <a:spcBef>
                <a:spcPts val="0"/>
              </a:spcBef>
              <a:spcAft>
                <a:spcPts val="200"/>
              </a:spcAft>
            </a:pPr>
            <a:r>
              <a:rPr sz="1200" b="1" i="0">
                <a:solidFill>
                  <a:srgbClr val="27251E"/>
                </a:solidFill>
                <a:latin typeface="맑은 고딕"/>
                <a:ea typeface="맑은 고딕"/>
                <a:cs typeface="맑은 고딕"/>
              </a:rPr>
              <a:t>검색으로 모은 사진</a:t>
            </a:r>
          </a:p>
        </p:txBody>
      </p:sp>
      <p:sp>
        <p:nvSpPr>
          <p:cNvPr id="8" name="Down Arrow 7"/>
          <p:cNvSpPr/>
          <p:nvPr/>
        </p:nvSpPr>
        <p:spPr>
          <a:xfrm>
            <a:off x="5093208" y="2606039"/>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24328" y="2724912"/>
            <a:ext cx="5029200" cy="402336"/>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127,859</a:t>
            </a:r>
          </a:p>
        </p:txBody>
      </p:sp>
      <p:sp>
        <p:nvSpPr>
          <p:cNvPr id="10" name="TextBox 9"/>
          <p:cNvSpPr txBox="1"/>
          <p:nvPr/>
        </p:nvSpPr>
        <p:spPr>
          <a:xfrm>
            <a:off x="585216" y="2816352"/>
            <a:ext cx="189280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옷 부분을 찾아낸 것</a:t>
            </a:r>
          </a:p>
        </p:txBody>
      </p:sp>
      <p:sp>
        <p:nvSpPr>
          <p:cNvPr id="11" name="TextBox 10"/>
          <p:cNvSpPr txBox="1"/>
          <p:nvPr/>
        </p:nvSpPr>
        <p:spPr>
          <a:xfrm>
            <a:off x="7799832" y="2825496"/>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나머지는 옷이 안 보임</a:t>
            </a:r>
          </a:p>
        </p:txBody>
      </p:sp>
      <p:sp>
        <p:nvSpPr>
          <p:cNvPr id="12" name="Down Arrow 11"/>
          <p:cNvSpPr/>
          <p:nvPr/>
        </p:nvSpPr>
        <p:spPr>
          <a:xfrm>
            <a:off x="5093208" y="3136391"/>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84448" y="3255264"/>
            <a:ext cx="3108960" cy="402336"/>
          </a:xfrm>
          <a:prstGeom prst="roundRect">
            <a:avLst>
              <a:gd name="adj" fmla="val 10000"/>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38,829</a:t>
            </a:r>
          </a:p>
        </p:txBody>
      </p:sp>
      <p:sp>
        <p:nvSpPr>
          <p:cNvPr id="14" name="TextBox 13"/>
          <p:cNvSpPr txBox="1"/>
          <p:nvPr/>
        </p:nvSpPr>
        <p:spPr>
          <a:xfrm>
            <a:off x="585216" y="3346704"/>
            <a:ext cx="285292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색·옷·무늬가 맞는 것</a:t>
            </a:r>
          </a:p>
        </p:txBody>
      </p:sp>
      <p:sp>
        <p:nvSpPr>
          <p:cNvPr id="15" name="TextBox 14"/>
          <p:cNvSpPr txBox="1"/>
          <p:nvPr/>
        </p:nvSpPr>
        <p:spPr>
          <a:xfrm>
            <a:off x="6839712" y="3355848"/>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셋 다 통과한 것만</a:t>
            </a:r>
          </a:p>
        </p:txBody>
      </p:sp>
      <p:sp>
        <p:nvSpPr>
          <p:cNvPr id="16" name="Down Arrow 15"/>
          <p:cNvSpPr/>
          <p:nvPr/>
        </p:nvSpPr>
        <p:spPr>
          <a:xfrm>
            <a:off x="5093208" y="3666744"/>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04487" y="3785616"/>
            <a:ext cx="2468880" cy="402336"/>
          </a:xfrm>
          <a:prstGeom prst="roundRect">
            <a:avLst>
              <a:gd name="adj" fmla="val 10000"/>
            </a:avLst>
          </a:pr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19,012</a:t>
            </a:r>
          </a:p>
        </p:txBody>
      </p:sp>
      <p:sp>
        <p:nvSpPr>
          <p:cNvPr id="18" name="TextBox 17"/>
          <p:cNvSpPr txBox="1"/>
          <p:nvPr/>
        </p:nvSpPr>
        <p:spPr>
          <a:xfrm>
            <a:off x="585216" y="3877056"/>
            <a:ext cx="3172967" cy="256032"/>
          </a:xfrm>
          <a:prstGeom prst="rect">
            <a:avLst/>
          </a:prstGeom>
          <a:noFill/>
        </p:spPr>
        <p:txBody>
          <a:bodyPr wrap="square" lIns="0" rIns="0" tIns="0" bIns="0" anchor="t">
            <a:spAutoFit/>
          </a:bodyPr>
          <a:lstStyle/>
          <a:p>
            <a:pPr algn="r">
              <a:spcBef>
                <a:spcPts val="0"/>
              </a:spcBef>
              <a:spcAft>
                <a:spcPts val="200"/>
              </a:spcAft>
            </a:pPr>
            <a:r>
              <a:rPr sz="1200" b="0" i="0">
                <a:solidFill>
                  <a:srgbClr val="27251E"/>
                </a:solidFill>
                <a:latin typeface="맑은 고딕"/>
                <a:ea typeface="맑은 고딕"/>
                <a:cs typeface="맑은 고딕"/>
              </a:rPr>
              <a:t>후보로 저장</a:t>
            </a:r>
          </a:p>
        </p:txBody>
      </p:sp>
      <p:sp>
        <p:nvSpPr>
          <p:cNvPr id="19" name="TextBox 18"/>
          <p:cNvSpPr txBox="1"/>
          <p:nvPr/>
        </p:nvSpPr>
        <p:spPr>
          <a:xfrm>
            <a:off x="6519672" y="3886200"/>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칸마다 상위 10장</a:t>
            </a:r>
          </a:p>
        </p:txBody>
      </p:sp>
      <p:sp>
        <p:nvSpPr>
          <p:cNvPr id="20" name="Down Arrow 19"/>
          <p:cNvSpPr/>
          <p:nvPr/>
        </p:nvSpPr>
        <p:spPr>
          <a:xfrm>
            <a:off x="5093208" y="4197096"/>
            <a:ext cx="91440" cy="109728"/>
          </a:xfrm>
          <a:prstGeom prst="downArrow">
            <a:avLst/>
          </a:prstGeom>
          <a:solidFill>
            <a:srgbClr val="B4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430268" y="4315968"/>
            <a:ext cx="1417320" cy="402336"/>
          </a:xfrm>
          <a:prstGeom prst="roundRect">
            <a:avLst>
              <a:gd name="adj" fmla="val 10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FFFFFF"/>
                </a:solidFill>
                <a:latin typeface="맑은 고딕"/>
                <a:ea typeface="맑은 고딕"/>
                <a:cs typeface="맑은 고딕"/>
              </a:rPr>
              <a:t>1,661</a:t>
            </a:r>
          </a:p>
        </p:txBody>
      </p:sp>
      <p:sp>
        <p:nvSpPr>
          <p:cNvPr id="22" name="TextBox 21"/>
          <p:cNvSpPr txBox="1"/>
          <p:nvPr/>
        </p:nvSpPr>
        <p:spPr>
          <a:xfrm>
            <a:off x="585216" y="4407408"/>
            <a:ext cx="3698748" cy="256032"/>
          </a:xfrm>
          <a:prstGeom prst="rect">
            <a:avLst/>
          </a:prstGeom>
          <a:noFill/>
        </p:spPr>
        <p:txBody>
          <a:bodyPr wrap="square" lIns="0" rIns="0" tIns="0" bIns="0" anchor="t">
            <a:spAutoFit/>
          </a:bodyPr>
          <a:lstStyle/>
          <a:p>
            <a:pPr algn="r">
              <a:spcBef>
                <a:spcPts val="0"/>
              </a:spcBef>
              <a:spcAft>
                <a:spcPts val="200"/>
              </a:spcAft>
            </a:pPr>
            <a:r>
              <a:rPr sz="1200" b="1" i="0">
                <a:solidFill>
                  <a:srgbClr val="004094"/>
                </a:solidFill>
                <a:latin typeface="맑은 고딕"/>
                <a:ea typeface="맑은 고딕"/>
                <a:cs typeface="맑은 고딕"/>
              </a:rPr>
              <a:t>④ 사람 확인으로 넘김</a:t>
            </a:r>
          </a:p>
        </p:txBody>
      </p:sp>
      <p:sp>
        <p:nvSpPr>
          <p:cNvPr id="23" name="TextBox 22"/>
          <p:cNvSpPr txBox="1"/>
          <p:nvPr/>
        </p:nvSpPr>
        <p:spPr>
          <a:xfrm>
            <a:off x="5993892" y="4416552"/>
            <a:ext cx="2377440" cy="237744"/>
          </a:xfrm>
          <a:prstGeom prst="rect">
            <a:avLst/>
          </a:prstGeom>
          <a:noFill/>
        </p:spPr>
        <p:txBody>
          <a:bodyPr wrap="square" lIns="0" rIns="0" tIns="0" bIns="0" anchor="t">
            <a:spAutoFit/>
          </a:bodyPr>
          <a:lstStyle/>
          <a:p>
            <a:pPr algn="l">
              <a:spcBef>
                <a:spcPts val="0"/>
              </a:spcBef>
              <a:spcAft>
                <a:spcPts val="200"/>
              </a:spcAft>
            </a:pPr>
            <a:r>
              <a:rPr sz="1050" b="0" i="0">
                <a:solidFill>
                  <a:srgbClr val="767171"/>
                </a:solidFill>
                <a:latin typeface="맑은 고딕"/>
                <a:ea typeface="맑은 고딕"/>
                <a:cs typeface="맑은 고딕"/>
              </a:rPr>
              <a:t>확인해야 할 칸</a:t>
            </a:r>
          </a:p>
        </p:txBody>
      </p:sp>
      <p:sp>
        <p:nvSpPr>
          <p:cNvPr id="24" name="TextBox 23"/>
          <p:cNvSpPr txBox="1"/>
          <p:nvPr/>
        </p:nvSpPr>
        <p:spPr>
          <a:xfrm>
            <a:off x="585216" y="5084064"/>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축마다 확인 방법을 다르게 한 이유</a:t>
            </a:r>
          </a:p>
        </p:txBody>
      </p:sp>
      <p:sp>
        <p:nvSpPr>
          <p:cNvPr id="25" name="Rounded Rectangle 24"/>
          <p:cNvSpPr/>
          <p:nvPr/>
        </p:nvSpPr>
        <p:spPr>
          <a:xfrm>
            <a:off x="585216" y="5486400"/>
            <a:ext cx="2825496" cy="96926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00" b="1" i="0">
                <a:solidFill>
                  <a:srgbClr val="004094"/>
                </a:solidFill>
                <a:latin typeface="맑은 고딕"/>
                <a:ea typeface="맑은 고딕"/>
                <a:cs typeface="맑은 고딕"/>
              </a:rPr>
              <a:t>옷 종류  </a:t>
            </a:r>
            <a:r>
              <a:rPr sz="1200" b="1" i="0">
                <a:solidFill>
                  <a:srgbClr val="27251E"/>
                </a:solidFill>
                <a:latin typeface="맑은 고딕"/>
                <a:ea typeface="맑은 고딕"/>
                <a:cs typeface="맑은 고딕"/>
              </a:rPr>
              <a:t>AI에게 물어봄</a:t>
            </a:r>
          </a:p>
          <a:p>
            <a:pPr algn="ctr">
              <a:lnSpc>
                <a:spcPct val="115000"/>
              </a:lnSpc>
              <a:spcBef>
                <a:spcPts val="0"/>
              </a:spcBef>
              <a:spcAft>
                <a:spcPts val="200"/>
              </a:spcAft>
            </a:pPr>
            <a:r>
              <a:rPr sz="1000" b="0" i="0">
                <a:solidFill>
                  <a:srgbClr val="767171"/>
                </a:solidFill>
                <a:latin typeface="맑은 고딕"/>
                <a:ea typeface="맑은 고딕"/>
                <a:cs typeface="맑은 고딕"/>
              </a:rPr>
              <a:t>옷을 오려내도 원피스와
민소매를 구분 못 함</a:t>
            </a:r>
          </a:p>
        </p:txBody>
      </p:sp>
      <p:sp>
        <p:nvSpPr>
          <p:cNvPr id="26" name="Rounded Rectangle 25"/>
          <p:cNvSpPr/>
          <p:nvPr/>
        </p:nvSpPr>
        <p:spPr>
          <a:xfrm>
            <a:off x="3538728" y="5486400"/>
            <a:ext cx="2825496" cy="96926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00" b="1" i="0">
                <a:solidFill>
                  <a:srgbClr val="2E75B6"/>
                </a:solidFill>
                <a:latin typeface="맑은 고딕"/>
                <a:ea typeface="맑은 고딕"/>
                <a:cs typeface="맑은 고딕"/>
              </a:rPr>
              <a:t>무늬  </a:t>
            </a:r>
            <a:r>
              <a:rPr sz="1200" b="1" i="0">
                <a:solidFill>
                  <a:srgbClr val="27251E"/>
                </a:solidFill>
                <a:latin typeface="맑은 고딕"/>
                <a:ea typeface="맑은 고딕"/>
                <a:cs typeface="맑은 고딕"/>
              </a:rPr>
              <a:t>큰 칸으로 나눠 확인</a:t>
            </a:r>
          </a:p>
          <a:p>
            <a:pPr algn="ctr">
              <a:lnSpc>
                <a:spcPct val="115000"/>
              </a:lnSpc>
              <a:spcBef>
                <a:spcPts val="0"/>
              </a:spcBef>
              <a:spcAft>
                <a:spcPts val="200"/>
              </a:spcAft>
            </a:pPr>
            <a:r>
              <a:rPr sz="1000" b="0" i="0">
                <a:solidFill>
                  <a:srgbClr val="767171"/>
                </a:solidFill>
                <a:latin typeface="맑은 고딕"/>
                <a:ea typeface="맑은 고딕"/>
                <a:cs typeface="맑은 고딕"/>
              </a:rPr>
              <a:t>무늬는 넓게 봐야
보이기 때문</a:t>
            </a:r>
          </a:p>
        </p:txBody>
      </p:sp>
      <p:sp>
        <p:nvSpPr>
          <p:cNvPr id="27" name="Rounded Rectangle 26"/>
          <p:cNvSpPr/>
          <p:nvPr/>
        </p:nvSpPr>
        <p:spPr>
          <a:xfrm>
            <a:off x="6492240" y="5486400"/>
            <a:ext cx="2825496" cy="96926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00" b="1" i="0">
                <a:solidFill>
                  <a:srgbClr val="2E75B6"/>
                </a:solidFill>
                <a:latin typeface="맑은 고딕"/>
                <a:ea typeface="맑은 고딕"/>
                <a:cs typeface="맑은 고딕"/>
              </a:rPr>
              <a:t>색  </a:t>
            </a:r>
            <a:r>
              <a:rPr sz="1200" b="1" i="0">
                <a:solidFill>
                  <a:srgbClr val="27251E"/>
                </a:solidFill>
                <a:latin typeface="맑은 고딕"/>
                <a:ea typeface="맑은 고딕"/>
                <a:cs typeface="맑은 고딕"/>
              </a:rPr>
              <a:t>작은 칸으로 나눠 확인</a:t>
            </a:r>
          </a:p>
          <a:p>
            <a:pPr algn="ctr">
              <a:lnSpc>
                <a:spcPct val="115000"/>
              </a:lnSpc>
              <a:spcBef>
                <a:spcPts val="0"/>
              </a:spcBef>
              <a:spcAft>
                <a:spcPts val="200"/>
              </a:spcAft>
            </a:pPr>
            <a:r>
              <a:rPr sz="1000" b="0" i="0">
                <a:solidFill>
                  <a:srgbClr val="767171"/>
                </a:solidFill>
                <a:latin typeface="맑은 고딕"/>
                <a:ea typeface="맑은 고딕"/>
                <a:cs typeface="맑은 고딕"/>
              </a:rPr>
              <a:t>남색과 파랑이 섞이는 걸
잡아내려고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11</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③에서 부딪힌 문제 — 검색이 엉뚱한 옷을 준다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“체크무늬 베이지 셔츠”를 찾으면 </a:t>
            </a:r>
            <a:r>
              <a:rPr sz="1500" b="1" i="0">
                <a:solidFill>
                  <a:srgbClr val="C00000"/>
                </a:solidFill>
                <a:latin typeface="맑은 고딕"/>
                <a:ea typeface="맑은 고딕"/>
                <a:cs typeface="맑은 고딕"/>
              </a:rPr>
              <a:t>주머니에만 체크가 있는 옷</a:t>
            </a:r>
            <a:r>
              <a:rPr sz="1500" b="0" i="0">
                <a:solidFill>
                  <a:srgbClr val="27251E"/>
                </a:solidFill>
                <a:latin typeface="맑은 고딕"/>
                <a:ea typeface="맑은 고딕"/>
                <a:cs typeface="맑은 고딕"/>
              </a:rPr>
              <a:t>이 통과했습니다.</a:t>
            </a:r>
          </a:p>
        </p:txBody>
      </p:sp>
      <p:pic>
        <p:nvPicPr>
          <p:cNvPr id="6" name="Picture 5" descr="fig_patch.png"/>
          <p:cNvPicPr>
            <a:picLocks noChangeAspect="1"/>
          </p:cNvPicPr>
          <p:nvPr/>
        </p:nvPicPr>
        <p:blipFill>
          <a:blip r:embed="rId3"/>
          <a:stretch>
            <a:fillRect/>
          </a:stretch>
        </p:blipFill>
        <p:spPr>
          <a:xfrm>
            <a:off x="1755648" y="1956816"/>
            <a:ext cx="6400800" cy="2241942"/>
          </a:xfrm>
          <a:prstGeom prst="rect">
            <a:avLst/>
          </a:prstGeom>
        </p:spPr>
      </p:pic>
      <p:sp>
        <p:nvSpPr>
          <p:cNvPr id="7" name="TextBox 6"/>
          <p:cNvSpPr txBox="1"/>
          <p:nvPr/>
        </p:nvSpPr>
        <p:spPr>
          <a:xfrm>
            <a:off x="585216" y="4297680"/>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세 가지를 시도했고, 셋 다 실패했습니다</a:t>
            </a:r>
          </a:p>
        </p:txBody>
      </p:sp>
      <p:sp>
        <p:nvSpPr>
          <p:cNvPr id="8" name="Rounded Rectangle 7"/>
          <p:cNvSpPr/>
          <p:nvPr/>
        </p:nvSpPr>
        <p:spPr>
          <a:xfrm>
            <a:off x="585216"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검색어를 더 자세히</a:t>
            </a:r>
          </a:p>
          <a:p>
            <a:pPr algn="ctr">
              <a:spcBef>
                <a:spcPts val="0"/>
              </a:spcBef>
              <a:spcAft>
                <a:spcPts val="200"/>
              </a:spcAft>
            </a:pPr>
            <a:r>
              <a:rPr sz="1150" b="1" i="0">
                <a:solidFill>
                  <a:srgbClr val="C00000"/>
                </a:solidFill>
                <a:latin typeface="맑은 고딕"/>
                <a:ea typeface="맑은 고딕"/>
                <a:cs typeface="맑은 고딕"/>
              </a:rPr>
              <a:t>✕  옷 정확도만 조금 올라감</a:t>
            </a:r>
          </a:p>
        </p:txBody>
      </p:sp>
      <p:sp>
        <p:nvSpPr>
          <p:cNvPr id="9" name="Rounded Rectangle 8"/>
          <p:cNvSpPr/>
          <p:nvPr/>
        </p:nvSpPr>
        <p:spPr>
          <a:xfrm>
            <a:off x="3538728"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재정렬 모델 추가</a:t>
            </a:r>
          </a:p>
          <a:p>
            <a:pPr algn="ctr">
              <a:spcBef>
                <a:spcPts val="0"/>
              </a:spcBef>
              <a:spcAft>
                <a:spcPts val="200"/>
              </a:spcAft>
            </a:pPr>
            <a:r>
              <a:rPr sz="1150" b="1" i="0">
                <a:solidFill>
                  <a:srgbClr val="C00000"/>
                </a:solidFill>
                <a:latin typeface="맑은 고딕"/>
                <a:ea typeface="맑은 고딕"/>
                <a:cs typeface="맑은 고딕"/>
              </a:rPr>
              <a:t>✕  효과 없음</a:t>
            </a:r>
          </a:p>
        </p:txBody>
      </p:sp>
      <p:sp>
        <p:nvSpPr>
          <p:cNvPr id="10" name="Rounded Rectangle 9"/>
          <p:cNvSpPr/>
          <p:nvPr/>
        </p:nvSpPr>
        <p:spPr>
          <a:xfrm>
            <a:off x="6492240" y="4626864"/>
            <a:ext cx="2825496" cy="62179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767171"/>
                </a:solidFill>
                <a:latin typeface="맑은 고딕"/>
                <a:ea typeface="맑은 고딕"/>
                <a:cs typeface="맑은 고딕"/>
              </a:rPr>
              <a:t>AI에게 판정 맡기기</a:t>
            </a:r>
          </a:p>
          <a:p>
            <a:pPr algn="ctr">
              <a:spcBef>
                <a:spcPts val="0"/>
              </a:spcBef>
              <a:spcAft>
                <a:spcPts val="200"/>
              </a:spcAft>
            </a:pPr>
            <a:r>
              <a:rPr sz="1150" b="1" i="0">
                <a:solidFill>
                  <a:srgbClr val="C00000"/>
                </a:solidFill>
                <a:latin typeface="맑은 고딕"/>
                <a:ea typeface="맑은 고딕"/>
                <a:cs typeface="맑은 고딕"/>
              </a:rPr>
              <a:t>✕  똑같은 한계</a:t>
            </a:r>
          </a:p>
        </p:txBody>
      </p:sp>
      <p:sp>
        <p:nvSpPr>
          <p:cNvPr id="11" name="Rounded Rectangle 10"/>
          <p:cNvSpPr/>
          <p:nvPr/>
        </p:nvSpPr>
        <p:spPr>
          <a:xfrm>
            <a:off x="585216" y="5376672"/>
            <a:ext cx="8732520" cy="987552"/>
          </a:xfrm>
          <a:prstGeom prst="roundRect">
            <a:avLst>
              <a:gd name="adj" fmla="val 8000"/>
            </a:avLst>
          </a:prstGeom>
          <a:solidFill>
            <a:srgbClr val="E9F1FA"/>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2" name="TextBox 11"/>
          <p:cNvSpPr txBox="1"/>
          <p:nvPr/>
        </p:nvSpPr>
        <p:spPr>
          <a:xfrm>
            <a:off x="768096" y="5486400"/>
            <a:ext cx="8366760" cy="786384"/>
          </a:xfrm>
          <a:prstGeom prst="rect">
            <a:avLst/>
          </a:prstGeom>
          <a:noFill/>
        </p:spPr>
        <p:txBody>
          <a:bodyPr wrap="square" lIns="0" rIns="0" tIns="0" bIns="0" anchor="t">
            <a:spAutoFit/>
          </a:bodyPr>
          <a:lstStyle/>
          <a:p>
            <a:pPr algn="l">
              <a:lnSpc>
                <a:spcPct val="120000"/>
              </a:lnSpc>
              <a:spcBef>
                <a:spcPts val="0"/>
              </a:spcBef>
              <a:spcAft>
                <a:spcPts val="200"/>
              </a:spcAft>
            </a:pPr>
            <a:r>
              <a:rPr sz="1250" b="1" i="0">
                <a:solidFill>
                  <a:srgbClr val="004094"/>
                </a:solidFill>
                <a:latin typeface="맑은 고딕"/>
                <a:ea typeface="맑은 고딕"/>
                <a:cs typeface="맑은 고딕"/>
              </a:rPr>
              <a:t>원인  </a:t>
            </a:r>
            <a:r>
              <a:rPr sz="1250" b="0" i="0">
                <a:solidFill>
                  <a:srgbClr val="27251E"/>
                </a:solidFill>
                <a:latin typeface="맑은 고딕"/>
                <a:ea typeface="맑은 고딕"/>
                <a:cs typeface="맑은 고딕"/>
              </a:rPr>
              <a:t>세 방법 모두 사진 한 장을 </a:t>
            </a:r>
            <a:r>
              <a:rPr sz="1250" b="1" i="0">
                <a:solidFill>
                  <a:srgbClr val="004094"/>
                </a:solidFill>
                <a:latin typeface="맑은 고딕"/>
                <a:ea typeface="맑은 고딕"/>
                <a:cs typeface="맑은 고딕"/>
              </a:rPr>
              <a:t>숫자 하나로 요약</a:t>
            </a:r>
            <a:r>
              <a:rPr sz="1250" b="0" i="0">
                <a:solidFill>
                  <a:srgbClr val="27251E"/>
                </a:solidFill>
                <a:latin typeface="맑은 고딕"/>
                <a:ea typeface="맑은 고딕"/>
                <a:cs typeface="맑은 고딕"/>
              </a:rPr>
              <a:t>해서 비교합니다. 무늬가 어디에 있는지가 평균에 묻힙니다.</a:t>
            </a:r>
          </a:p>
          <a:p>
            <a:pPr algn="l">
              <a:lnSpc>
                <a:spcPct val="120000"/>
              </a:lnSpc>
              <a:spcBef>
                <a:spcPts val="500"/>
              </a:spcBef>
              <a:spcAft>
                <a:spcPts val="200"/>
              </a:spcAft>
            </a:pPr>
            <a:r>
              <a:rPr sz="1250" b="1" i="0">
                <a:solidFill>
                  <a:srgbClr val="004094"/>
                </a:solidFill>
                <a:latin typeface="맑은 고딕"/>
                <a:ea typeface="맑은 고딕"/>
                <a:cs typeface="맑은 고딕"/>
              </a:rPr>
              <a:t>해결  </a:t>
            </a:r>
            <a:r>
              <a:rPr sz="1250" b="0" i="0">
                <a:solidFill>
                  <a:srgbClr val="27251E"/>
                </a:solidFill>
                <a:latin typeface="맑은 고딕"/>
                <a:ea typeface="맑은 고딕"/>
                <a:cs typeface="맑은 고딕"/>
              </a:rPr>
              <a:t>옷을 잘라 격자로 나눈 뒤 칸마다 따로 확인 — 모델을 새로 학습시키지 않고 보는 단위만 바꿨습니다.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12</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④  Annotation — 사람이 직접 확인</a:t>
            </a:r>
            <a:r>
              <a:rPr sz="1400" b="0" i="0">
                <a:solidFill>
                  <a:srgbClr val="767171"/>
                </a:solidFill>
                <a:latin typeface="맑은 고딕"/>
                <a:ea typeface="맑은 고딕"/>
                <a:cs typeface="맑은 고딕"/>
              </a:rPr>
              <a:t>   그리고 그 결과가 ①로 되돌아간다</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기계가 고른 것을 </a:t>
            </a:r>
            <a:r>
              <a:rPr sz="1500" b="1" i="0">
                <a:solidFill>
                  <a:srgbClr val="0A4D9B"/>
                </a:solidFill>
                <a:latin typeface="맑은 고딕"/>
                <a:ea typeface="맑은 고딕"/>
                <a:cs typeface="맑은 고딕"/>
              </a:rPr>
              <a:t>사람이 한 칸씩 눈으로 확인</a:t>
            </a:r>
            <a:r>
              <a:rPr sz="1500" b="0" i="0">
                <a:solidFill>
                  <a:srgbClr val="27251E"/>
                </a:solidFill>
                <a:latin typeface="맑은 고딕"/>
                <a:ea typeface="맑은 고딕"/>
                <a:cs typeface="맑은 고딕"/>
              </a:rPr>
              <a:t>했습니다. 1,661칸 전부.</a:t>
            </a:r>
          </a:p>
        </p:txBody>
      </p:sp>
      <p:sp>
        <p:nvSpPr>
          <p:cNvPr id="6" name="Rounded Rectangle 5"/>
          <p:cNvSpPr/>
          <p:nvPr/>
        </p:nvSpPr>
        <p:spPr>
          <a:xfrm>
            <a:off x="585216" y="2048256"/>
            <a:ext cx="2825496" cy="786384"/>
          </a:xfrm>
          <a:prstGeom prst="roundRect">
            <a:avLst>
              <a:gd name="adj" fmla="val 12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400" b="1" i="0">
                <a:solidFill>
                  <a:srgbClr val="27251E"/>
                </a:solidFill>
                <a:latin typeface="맑은 고딕"/>
                <a:ea typeface="맑은 고딕"/>
                <a:cs typeface="맑은 고딕"/>
              </a:rPr>
              <a:t>1,661</a:t>
            </a:r>
          </a:p>
          <a:p>
            <a:pPr algn="ctr">
              <a:spcBef>
                <a:spcPts val="0"/>
              </a:spcBef>
              <a:spcAft>
                <a:spcPts val="200"/>
              </a:spcAft>
            </a:pPr>
            <a:r>
              <a:rPr sz="1100" b="0" i="0">
                <a:solidFill>
                  <a:srgbClr val="27251E"/>
                </a:solidFill>
                <a:latin typeface="맑은 고딕"/>
                <a:ea typeface="맑은 고딕"/>
                <a:cs typeface="맑은 고딕"/>
              </a:rPr>
              <a:t>확인한 칸</a:t>
            </a:r>
          </a:p>
        </p:txBody>
      </p:sp>
      <p:sp>
        <p:nvSpPr>
          <p:cNvPr id="7" name="Rounded Rectangle 6"/>
          <p:cNvSpPr/>
          <p:nvPr/>
        </p:nvSpPr>
        <p:spPr>
          <a:xfrm>
            <a:off x="3538728" y="2048256"/>
            <a:ext cx="2825496" cy="786384"/>
          </a:xfrm>
          <a:prstGeom prst="roundRect">
            <a:avLst>
              <a:gd name="adj" fmla="val 12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400" b="1" i="0">
                <a:solidFill>
                  <a:srgbClr val="004094"/>
                </a:solidFill>
                <a:latin typeface="맑은 고딕"/>
                <a:ea typeface="맑은 고딕"/>
                <a:cs typeface="맑은 고딕"/>
              </a:rPr>
              <a:t>1,223</a:t>
            </a:r>
          </a:p>
          <a:p>
            <a:pPr algn="ctr">
              <a:spcBef>
                <a:spcPts val="0"/>
              </a:spcBef>
              <a:spcAft>
                <a:spcPts val="200"/>
              </a:spcAft>
            </a:pPr>
            <a:r>
              <a:rPr sz="1100" b="0" i="0">
                <a:solidFill>
                  <a:srgbClr val="27251E"/>
                </a:solidFill>
                <a:latin typeface="맑은 고딕"/>
                <a:ea typeface="맑은 고딕"/>
                <a:cs typeface="맑은 고딕"/>
              </a:rPr>
              <a:t>쓸 수 있음 (74%)</a:t>
            </a:r>
          </a:p>
        </p:txBody>
      </p:sp>
      <p:sp>
        <p:nvSpPr>
          <p:cNvPr id="8" name="Rounded Rectangle 7"/>
          <p:cNvSpPr/>
          <p:nvPr/>
        </p:nvSpPr>
        <p:spPr>
          <a:xfrm>
            <a:off x="6492240" y="2048256"/>
            <a:ext cx="2825496" cy="786384"/>
          </a:xfrm>
          <a:prstGeom prst="roundRect">
            <a:avLst>
              <a:gd name="adj" fmla="val 12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2400" b="1" i="0">
                <a:solidFill>
                  <a:srgbClr val="C00000"/>
                </a:solidFill>
                <a:latin typeface="맑은 고딕"/>
                <a:ea typeface="맑은 고딕"/>
                <a:cs typeface="맑은 고딕"/>
              </a:rPr>
              <a:t>438</a:t>
            </a:r>
          </a:p>
          <a:p>
            <a:pPr algn="ctr">
              <a:spcBef>
                <a:spcPts val="0"/>
              </a:spcBef>
              <a:spcAft>
                <a:spcPts val="200"/>
              </a:spcAft>
            </a:pPr>
            <a:r>
              <a:rPr sz="1100" b="0" i="0">
                <a:solidFill>
                  <a:srgbClr val="27251E"/>
                </a:solidFill>
                <a:latin typeface="맑은 고딕"/>
                <a:ea typeface="맑은 고딕"/>
                <a:cs typeface="맑은 고딕"/>
              </a:rPr>
              <a:t>제외</a:t>
            </a:r>
          </a:p>
        </p:txBody>
      </p:sp>
      <p:sp>
        <p:nvSpPr>
          <p:cNvPr id="9" name="TextBox 8"/>
          <p:cNvSpPr txBox="1"/>
          <p:nvPr/>
        </p:nvSpPr>
        <p:spPr>
          <a:xfrm>
            <a:off x="585216" y="2962656"/>
            <a:ext cx="8732520" cy="274320"/>
          </a:xfrm>
          <a:prstGeom prst="rect">
            <a:avLst/>
          </a:prstGeom>
          <a:noFill/>
        </p:spPr>
        <p:txBody>
          <a:bodyPr wrap="square" lIns="0" rIns="0" tIns="0" bIns="0" anchor="t">
            <a:spAutoFit/>
          </a:bodyPr>
          <a:lstStyle/>
          <a:p>
            <a:pPr algn="l">
              <a:spcBef>
                <a:spcPts val="0"/>
              </a:spcBef>
              <a:spcAft>
                <a:spcPts val="200"/>
              </a:spcAft>
            </a:pPr>
            <a:r>
              <a:rPr sz="1150" b="1" i="0">
                <a:solidFill>
                  <a:srgbClr val="767171"/>
                </a:solidFill>
                <a:latin typeface="맑은 고딕"/>
                <a:ea typeface="맑은 고딕"/>
                <a:cs typeface="맑은 고딕"/>
              </a:rPr>
              <a:t>제외 사유  </a:t>
            </a:r>
            <a:r>
              <a:rPr sz="1150" b="0" i="0">
                <a:solidFill>
                  <a:srgbClr val="27251E"/>
                </a:solidFill>
                <a:latin typeface="맑은 고딕"/>
                <a:ea typeface="맑은 고딕"/>
                <a:cs typeface="맑은 고딕"/>
              </a:rPr>
              <a:t>무늬가 없음 218  ·  그런 옷이 아님 210  ·  색이 다름 10</a:t>
            </a:r>
          </a:p>
        </p:txBody>
      </p:sp>
      <p:sp>
        <p:nvSpPr>
          <p:cNvPr id="10" name="TextBox 9"/>
          <p:cNvSpPr txBox="1"/>
          <p:nvPr/>
        </p:nvSpPr>
        <p:spPr>
          <a:xfrm>
            <a:off x="585216" y="3328416"/>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여기서 부딪힌 문제 — 거르는 순서</a:t>
            </a:r>
          </a:p>
        </p:txBody>
      </p:sp>
      <p:sp>
        <p:nvSpPr>
          <p:cNvPr id="11" name="TextBox 10"/>
          <p:cNvSpPr txBox="1"/>
          <p:nvPr/>
        </p:nvSpPr>
        <p:spPr>
          <a:xfrm>
            <a:off x="585216" y="3657600"/>
            <a:ext cx="6400800" cy="237744"/>
          </a:xfrm>
          <a:prstGeom prst="rect">
            <a:avLst/>
          </a:prstGeom>
          <a:noFill/>
        </p:spPr>
        <p:txBody>
          <a:bodyPr wrap="square" lIns="0" rIns="0" tIns="0" bIns="0" anchor="t">
            <a:spAutoFit/>
          </a:bodyPr>
          <a:lstStyle/>
          <a:p>
            <a:pPr algn="l">
              <a:spcBef>
                <a:spcPts val="0"/>
              </a:spcBef>
              <a:spcAft>
                <a:spcPts val="200"/>
              </a:spcAft>
            </a:pPr>
            <a:r>
              <a:rPr sz="1200" b="1" i="0">
                <a:solidFill>
                  <a:srgbClr val="C00000"/>
                </a:solidFill>
                <a:latin typeface="맑은 고딕"/>
                <a:ea typeface="맑은 고딕"/>
                <a:cs typeface="맑은 고딕"/>
              </a:rPr>
              <a:t>이전</a:t>
            </a:r>
            <a:r>
              <a:rPr sz="1200" b="0" i="0">
                <a:solidFill>
                  <a:srgbClr val="767171"/>
                </a:solidFill>
                <a:latin typeface="맑은 고딕"/>
                <a:ea typeface="맑은 고딕"/>
                <a:cs typeface="맑은 고딕"/>
              </a:rPr>
              <a:t>   다 만들고 나서 사진 없는 걸 버림</a:t>
            </a:r>
          </a:p>
        </p:txBody>
      </p:sp>
      <p:sp>
        <p:nvSpPr>
          <p:cNvPr id="12" name="Rounded Rectangle 11"/>
          <p:cNvSpPr/>
          <p:nvPr/>
        </p:nvSpPr>
        <p:spPr>
          <a:xfrm>
            <a:off x="2103120" y="3913632"/>
            <a:ext cx="6583680" cy="3840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3" name="Rounded Rectangle 12"/>
          <p:cNvSpPr/>
          <p:nvPr/>
        </p:nvSpPr>
        <p:spPr>
          <a:xfrm>
            <a:off x="2103120" y="3913632"/>
            <a:ext cx="2198949" cy="384048"/>
          </a:xfrm>
          <a:prstGeom prst="roundRect">
            <a:avLst>
              <a:gd name="adj" fmla="val 6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TextBox 13"/>
          <p:cNvSpPr txBox="1"/>
          <p:nvPr/>
        </p:nvSpPr>
        <p:spPr>
          <a:xfrm>
            <a:off x="4448373" y="3959352"/>
            <a:ext cx="1280160" cy="292608"/>
          </a:xfrm>
          <a:prstGeom prst="rect">
            <a:avLst/>
          </a:prstGeom>
          <a:noFill/>
        </p:spPr>
        <p:txBody>
          <a:bodyPr wrap="square" lIns="0" rIns="0" tIns="0" bIns="0" anchor="t">
            <a:spAutoFit/>
          </a:bodyPr>
          <a:lstStyle/>
          <a:p>
            <a:pPr algn="l">
              <a:spcBef>
                <a:spcPts val="0"/>
              </a:spcBef>
              <a:spcAft>
                <a:spcPts val="200"/>
              </a:spcAft>
            </a:pPr>
            <a:r>
              <a:rPr sz="1600" b="1" i="0">
                <a:solidFill>
                  <a:srgbClr val="767171"/>
                </a:solidFill>
                <a:latin typeface="맑은 고딕"/>
                <a:ea typeface="맑은 고딕"/>
                <a:cs typeface="맑은 고딕"/>
              </a:rPr>
              <a:t>33.4%</a:t>
            </a:r>
          </a:p>
        </p:txBody>
      </p:sp>
      <p:sp>
        <p:nvSpPr>
          <p:cNvPr id="15" name="TextBox 14"/>
          <p:cNvSpPr txBox="1"/>
          <p:nvPr/>
        </p:nvSpPr>
        <p:spPr>
          <a:xfrm>
            <a:off x="585216" y="4407407"/>
            <a:ext cx="6400800" cy="237744"/>
          </a:xfrm>
          <a:prstGeom prst="rect">
            <a:avLst/>
          </a:prstGeom>
          <a:noFill/>
        </p:spPr>
        <p:txBody>
          <a:bodyPr wrap="square" lIns="0" rIns="0" tIns="0" bIns="0" anchor="t">
            <a:spAutoFit/>
          </a:bodyPr>
          <a:lstStyle/>
          <a:p>
            <a:pPr algn="l">
              <a:spcBef>
                <a:spcPts val="0"/>
              </a:spcBef>
              <a:spcAft>
                <a:spcPts val="200"/>
              </a:spcAft>
            </a:pPr>
            <a:r>
              <a:rPr sz="1200" b="1" i="0">
                <a:solidFill>
                  <a:srgbClr val="004094"/>
                </a:solidFill>
                <a:latin typeface="맑은 고딕"/>
                <a:ea typeface="맑은 고딕"/>
                <a:cs typeface="맑은 고딕"/>
              </a:rPr>
              <a:t>현재</a:t>
            </a:r>
            <a:r>
              <a:rPr sz="1200" b="0" i="0">
                <a:solidFill>
                  <a:srgbClr val="767171"/>
                </a:solidFill>
                <a:latin typeface="맑은 고딕"/>
                <a:ea typeface="맑은 고딕"/>
                <a:cs typeface="맑은 고딕"/>
              </a:rPr>
              <a:t>   만들 때부터 사진 있는 것만 후보로</a:t>
            </a:r>
          </a:p>
        </p:txBody>
      </p:sp>
      <p:sp>
        <p:nvSpPr>
          <p:cNvPr id="16" name="Rounded Rectangle 15"/>
          <p:cNvSpPr/>
          <p:nvPr/>
        </p:nvSpPr>
        <p:spPr>
          <a:xfrm>
            <a:off x="2103120" y="4663440"/>
            <a:ext cx="6583680" cy="3840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7" name="Rounded Rectangle 16"/>
          <p:cNvSpPr/>
          <p:nvPr/>
        </p:nvSpPr>
        <p:spPr>
          <a:xfrm>
            <a:off x="2103120" y="4663440"/>
            <a:ext cx="6405920" cy="384048"/>
          </a:xfrm>
          <a:prstGeom prst="roundRect">
            <a:avLst>
              <a:gd name="adj" fmla="val 6000"/>
            </a:avLst>
          </a:prstGeom>
          <a:solidFill>
            <a:srgbClr val="0040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8" name="TextBox 17"/>
          <p:cNvSpPr txBox="1"/>
          <p:nvPr/>
        </p:nvSpPr>
        <p:spPr>
          <a:xfrm>
            <a:off x="7210592" y="4709159"/>
            <a:ext cx="1170432" cy="292608"/>
          </a:xfrm>
          <a:prstGeom prst="rect">
            <a:avLst/>
          </a:prstGeom>
          <a:noFill/>
        </p:spPr>
        <p:txBody>
          <a:bodyPr wrap="square" lIns="0" rIns="0" tIns="0" bIns="0" anchor="t">
            <a:spAutoFit/>
          </a:bodyPr>
          <a:lstStyle/>
          <a:p>
            <a:pPr algn="r">
              <a:spcBef>
                <a:spcPts val="0"/>
              </a:spcBef>
              <a:spcAft>
                <a:spcPts val="200"/>
              </a:spcAft>
            </a:pPr>
            <a:r>
              <a:rPr sz="1600" b="1" i="0">
                <a:solidFill>
                  <a:srgbClr val="FFFFFF"/>
                </a:solidFill>
                <a:latin typeface="맑은 고딕"/>
                <a:ea typeface="맑은 고딕"/>
                <a:cs typeface="맑은 고딕"/>
              </a:rPr>
              <a:t>97.3%</a:t>
            </a:r>
          </a:p>
        </p:txBody>
      </p:sp>
      <p:sp>
        <p:nvSpPr>
          <p:cNvPr id="19" name="TextBox 18"/>
          <p:cNvSpPr txBox="1"/>
          <p:nvPr/>
        </p:nvSpPr>
        <p:spPr>
          <a:xfrm>
            <a:off x="6492240" y="4352544"/>
            <a:ext cx="2194560" cy="292608"/>
          </a:xfrm>
          <a:prstGeom prst="rect">
            <a:avLst/>
          </a:prstGeom>
          <a:noFill/>
        </p:spPr>
        <p:txBody>
          <a:bodyPr wrap="square" lIns="0" rIns="0" tIns="0" bIns="0" anchor="t">
            <a:spAutoFit/>
          </a:bodyPr>
          <a:lstStyle/>
          <a:p>
            <a:pPr algn="r">
              <a:spcBef>
                <a:spcPts val="0"/>
              </a:spcBef>
              <a:spcAft>
                <a:spcPts val="200"/>
              </a:spcAft>
            </a:pPr>
            <a:r>
              <a:rPr sz="1600" b="1" i="0">
                <a:solidFill>
                  <a:srgbClr val="C00000"/>
                </a:solidFill>
                <a:latin typeface="맑은 고딕"/>
                <a:ea typeface="맑은 고딕"/>
                <a:cs typeface="맑은 고딕"/>
              </a:rPr>
              <a:t>약 3배</a:t>
            </a:r>
          </a:p>
        </p:txBody>
      </p:sp>
      <p:sp>
        <p:nvSpPr>
          <p:cNvPr id="20" name="TextBox 19"/>
          <p:cNvSpPr txBox="1"/>
          <p:nvPr/>
        </p:nvSpPr>
        <p:spPr>
          <a:xfrm>
            <a:off x="585216" y="5138928"/>
            <a:ext cx="8732520" cy="237744"/>
          </a:xfrm>
          <a:prstGeom prst="rect">
            <a:avLst/>
          </a:prstGeom>
          <a:noFill/>
        </p:spPr>
        <p:txBody>
          <a:bodyPr wrap="square" lIns="0" rIns="0" tIns="0" bIns="0" anchor="t">
            <a:spAutoFit/>
          </a:bodyPr>
          <a:lstStyle/>
          <a:p>
            <a:pPr algn="l">
              <a:spcBef>
                <a:spcPts val="0"/>
              </a:spcBef>
              <a:spcAft>
                <a:spcPts val="200"/>
              </a:spcAft>
            </a:pPr>
            <a:r>
              <a:rPr sz="1100" b="0" i="0">
                <a:solidFill>
                  <a:srgbClr val="767171"/>
                </a:solidFill>
                <a:latin typeface="맑은 고딕"/>
                <a:ea typeface="맑은 고딕"/>
                <a:cs typeface="맑은 고딕"/>
              </a:rPr>
              <a:t>사진 네 장이 모두 있는 문항의 비율</a:t>
            </a:r>
          </a:p>
        </p:txBody>
      </p:sp>
      <p:sp>
        <p:nvSpPr>
          <p:cNvPr id="21" name="Rounded Rectangle 20"/>
          <p:cNvSpPr/>
          <p:nvPr/>
        </p:nvSpPr>
        <p:spPr>
          <a:xfrm>
            <a:off x="585216" y="5504688"/>
            <a:ext cx="8732520" cy="932688"/>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TextBox 21"/>
          <p:cNvSpPr txBox="1"/>
          <p:nvPr/>
        </p:nvSpPr>
        <p:spPr>
          <a:xfrm>
            <a:off x="768096" y="5614416"/>
            <a:ext cx="8366760" cy="731520"/>
          </a:xfrm>
          <a:prstGeom prst="rect">
            <a:avLst/>
          </a:prstGeom>
          <a:noFill/>
        </p:spPr>
        <p:txBody>
          <a:bodyPr wrap="square" lIns="0" rIns="0" tIns="0" bIns="0" anchor="t">
            <a:spAutoFit/>
          </a:bodyPr>
          <a:lstStyle/>
          <a:p>
            <a:pPr algn="l">
              <a:lnSpc>
                <a:spcPct val="120000"/>
              </a:lnSpc>
              <a:spcBef>
                <a:spcPts val="0"/>
              </a:spcBef>
              <a:spcAft>
                <a:spcPts val="200"/>
              </a:spcAft>
            </a:pPr>
            <a:r>
              <a:rPr sz="1250" b="1" i="0">
                <a:solidFill>
                  <a:srgbClr val="004094"/>
                </a:solidFill>
                <a:latin typeface="맑은 고딕"/>
                <a:ea typeface="맑은 고딕"/>
                <a:cs typeface="맑은 고딕"/>
              </a:rPr>
              <a:t>배운 것  </a:t>
            </a:r>
            <a:r>
              <a:rPr sz="1250" b="0" i="0">
                <a:solidFill>
                  <a:srgbClr val="27251E"/>
                </a:solidFill>
                <a:latin typeface="맑은 고딕"/>
                <a:ea typeface="맑은 고딕"/>
                <a:cs typeface="맑은 고딕"/>
              </a:rPr>
              <a:t>‘나중에 거르면 된다’가 사실이 아니었습니다. 버려진 문항이 한쪽에 몰려서 맞춰 놓은 균형이 깨졌습니다.</a:t>
            </a:r>
          </a:p>
          <a:p>
            <a:pPr algn="l">
              <a:lnSpc>
                <a:spcPct val="120000"/>
              </a:lnSpc>
              <a:spcBef>
                <a:spcPts val="400"/>
              </a:spcBef>
              <a:spcAft>
                <a:spcPts val="200"/>
              </a:spcAft>
            </a:pPr>
            <a:r>
              <a:rPr sz="1150" b="0" i="0">
                <a:solidFill>
                  <a:srgbClr val="767171"/>
                </a:solidFill>
                <a:latin typeface="맑은 고딕"/>
                <a:ea typeface="맑은 고딕"/>
                <a:cs typeface="맑은 고딕"/>
              </a:rPr>
              <a:t>그래서 ④의 결과를 ①의 입력으로 되돌렸습니다 — 조건을 새로 만든 게 아니라 앞으로 옮겼을 뿐입니다.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13</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⑤  Eval — 결과</a:t>
            </a:r>
            <a:r>
              <a:rPr sz="1400" b="0" i="0">
                <a:solidFill>
                  <a:srgbClr val="767171"/>
                </a:solidFill>
                <a:latin typeface="맑은 고딕"/>
                <a:ea typeface="맑은 고딕"/>
                <a:cs typeface="맑은 고딕"/>
              </a:rPr>
              <a:t>   AI 8종 · 문항 2,550개 · 조건 5가지</a:t>
            </a:r>
          </a:p>
        </p:txBody>
      </p:sp>
      <p:sp>
        <p:nvSpPr>
          <p:cNvPr id="5" name="TextBox 4"/>
          <p:cNvSpPr txBox="1"/>
          <p:nvPr/>
        </p:nvSpPr>
        <p:spPr>
          <a:xfrm>
            <a:off x="585216" y="1591056"/>
            <a:ext cx="8732520" cy="384048"/>
          </a:xfrm>
          <a:prstGeom prst="rect">
            <a:avLst/>
          </a:prstGeom>
          <a:noFill/>
        </p:spPr>
        <p:txBody>
          <a:bodyPr wrap="square" lIns="0" rIns="0" tIns="0" bIns="0" anchor="t">
            <a:spAutoFit/>
          </a:bodyPr>
          <a:lstStyle/>
          <a:p>
            <a:pPr algn="l">
              <a:spcBef>
                <a:spcPts val="0"/>
              </a:spcBef>
              <a:spcAft>
                <a:spcPts val="200"/>
              </a:spcAft>
            </a:pPr>
            <a:r>
              <a:rPr sz="1700" b="1" i="0">
                <a:solidFill>
                  <a:srgbClr val="27251E"/>
                </a:solidFill>
                <a:latin typeface="맑은 고딕"/>
                <a:ea typeface="맑은 고딕"/>
                <a:cs typeface="맑은 고딕"/>
              </a:rPr>
              <a:t>따로 물어보면 잘합니다. </a:t>
            </a:r>
            <a:r>
              <a:rPr sz="1700" b="1" i="0">
                <a:solidFill>
                  <a:srgbClr val="C00000"/>
                </a:solidFill>
                <a:latin typeface="맑은 고딕"/>
                <a:ea typeface="맑은 고딕"/>
                <a:cs typeface="맑은 고딕"/>
              </a:rPr>
              <a:t>그런데 같이 물어보면 상황 쪽이 무너집니다</a:t>
            </a:r>
          </a:p>
        </p:txBody>
      </p:sp>
      <p:pic>
        <p:nvPicPr>
          <p:cNvPr id="6" name="Picture 5" descr="fig_models.png"/>
          <p:cNvPicPr>
            <a:picLocks noChangeAspect="1"/>
          </p:cNvPicPr>
          <p:nvPr/>
        </p:nvPicPr>
        <p:blipFill>
          <a:blip r:embed="rId3"/>
          <a:stretch>
            <a:fillRect/>
          </a:stretch>
        </p:blipFill>
        <p:spPr>
          <a:xfrm>
            <a:off x="658368" y="2066543"/>
            <a:ext cx="8595360" cy="3122659"/>
          </a:xfrm>
          <a:prstGeom prst="rect">
            <a:avLst/>
          </a:prstGeom>
        </p:spPr>
      </p:pic>
      <p:sp>
        <p:nvSpPr>
          <p:cNvPr id="7" name="TextBox 6"/>
          <p:cNvSpPr txBox="1"/>
          <p:nvPr/>
        </p:nvSpPr>
        <p:spPr>
          <a:xfrm>
            <a:off x="585216" y="5394960"/>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읽는 법</a:t>
            </a:r>
          </a:p>
        </p:txBody>
      </p:sp>
      <p:sp>
        <p:nvSpPr>
          <p:cNvPr id="8" name="Rounded Rectangle 7"/>
          <p:cNvSpPr/>
          <p:nvPr/>
        </p:nvSpPr>
        <p:spPr>
          <a:xfrm>
            <a:off x="585216" y="5779008"/>
            <a:ext cx="2825496" cy="69494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2E75B6"/>
                </a:solidFill>
                <a:latin typeface="맑은 고딕"/>
                <a:ea typeface="맑은 고딕"/>
                <a:cs typeface="맑은 고딕"/>
              </a:rPr>
              <a:t>예외가 없다</a:t>
            </a:r>
          </a:p>
          <a:p>
            <a:pPr algn="ctr">
              <a:spcBef>
                <a:spcPts val="0"/>
              </a:spcBef>
              <a:spcAft>
                <a:spcPts val="200"/>
              </a:spcAft>
            </a:pPr>
            <a:r>
              <a:rPr sz="1100" b="0" i="0">
                <a:solidFill>
                  <a:srgbClr val="27251E"/>
                </a:solidFill>
                <a:latin typeface="맑은 고딕"/>
                <a:ea typeface="맑은 고딕"/>
                <a:cs typeface="맑은 고딕"/>
              </a:rPr>
              <a:t>여섯 모델 전부 같은 방향으로 떨어짐</a:t>
            </a:r>
          </a:p>
        </p:txBody>
      </p:sp>
      <p:sp>
        <p:nvSpPr>
          <p:cNvPr id="9" name="Rounded Rectangle 8"/>
          <p:cNvSpPr/>
          <p:nvPr/>
        </p:nvSpPr>
        <p:spPr>
          <a:xfrm>
            <a:off x="3538728" y="5779008"/>
            <a:ext cx="2825496" cy="694944"/>
          </a:xfrm>
          <a:prstGeom prst="roundRect">
            <a:avLst>
              <a:gd name="adj" fmla="val 10000"/>
            </a:avLst>
          </a:prstGeom>
          <a:solidFill>
            <a:srgbClr val="FFF3F3"/>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C00000"/>
                </a:solidFill>
                <a:latin typeface="맑은 고딕"/>
                <a:ea typeface="맑은 고딕"/>
                <a:cs typeface="맑은 고딕"/>
              </a:rPr>
              <a:t>좋은 모델도 못 넘는다</a:t>
            </a:r>
          </a:p>
          <a:p>
            <a:pPr algn="ctr">
              <a:spcBef>
                <a:spcPts val="0"/>
              </a:spcBef>
              <a:spcAft>
                <a:spcPts val="200"/>
              </a:spcAft>
            </a:pPr>
            <a:r>
              <a:rPr sz="1100" b="0" i="0">
                <a:solidFill>
                  <a:srgbClr val="27251E"/>
                </a:solidFill>
                <a:latin typeface="맑은 고딕"/>
                <a:ea typeface="맑은 고딕"/>
                <a:cs typeface="맑은 고딕"/>
              </a:rPr>
              <a:t>가장 좋은 모델의 둘 다 맞춘 비율 73%</a:t>
            </a:r>
          </a:p>
        </p:txBody>
      </p:sp>
      <p:sp>
        <p:nvSpPr>
          <p:cNvPr id="10" name="Rounded Rectangle 9"/>
          <p:cNvSpPr/>
          <p:nvPr/>
        </p:nvSpPr>
        <p:spPr>
          <a:xfrm>
            <a:off x="6492240" y="5779008"/>
            <a:ext cx="2825496" cy="69494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250" b="1" i="0">
                <a:solidFill>
                  <a:srgbClr val="004094"/>
                </a:solidFill>
                <a:latin typeface="맑은 고딕"/>
                <a:ea typeface="맑은 고딕"/>
                <a:cs typeface="맑은 고딕"/>
              </a:rPr>
              <a:t>설계가 맞았다</a:t>
            </a:r>
          </a:p>
          <a:p>
            <a:pPr algn="ctr">
              <a:spcBef>
                <a:spcPts val="0"/>
              </a:spcBef>
              <a:spcAft>
                <a:spcPts val="200"/>
              </a:spcAft>
            </a:pPr>
            <a:r>
              <a:rPr sz="1100" b="0" i="0">
                <a:solidFill>
                  <a:srgbClr val="27251E"/>
                </a:solidFill>
                <a:latin typeface="맑은 고딕"/>
                <a:ea typeface="맑은 고딕"/>
                <a:cs typeface="맑은 고딕"/>
              </a:rPr>
              <a:t>한쪽만 주면 다른 쪽은 딱 찍기 수준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14</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⑤  Eval — 못 하는 이유는 무엇인가</a:t>
            </a:r>
            <a:r>
              <a:rPr sz="1400" b="0" i="0">
                <a:solidFill>
                  <a:srgbClr val="767171"/>
                </a:solidFill>
                <a:latin typeface="맑은 고딕"/>
                <a:ea typeface="맑은 고딕"/>
                <a:cs typeface="맑은 고딕"/>
              </a:rPr>
              <a:t>   보는 문제인가, 판단 문제인가</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같은 모델에게 </a:t>
            </a:r>
            <a:r>
              <a:rPr sz="1500" b="1" i="0">
                <a:solidFill>
                  <a:srgbClr val="0A4D9B"/>
                </a:solidFill>
                <a:latin typeface="맑은 고딕"/>
                <a:ea typeface="맑은 고딕"/>
                <a:cs typeface="맑은 고딕"/>
              </a:rPr>
              <a:t>같은 문항 2,550개</a:t>
            </a:r>
            <a:r>
              <a:rPr sz="1500" b="0" i="0">
                <a:solidFill>
                  <a:srgbClr val="27251E"/>
                </a:solidFill>
                <a:latin typeface="맑은 고딕"/>
                <a:ea typeface="맑은 고딕"/>
                <a:cs typeface="맑은 고딕"/>
              </a:rPr>
              <a:t>를 사진 대신 글자로 주면 어떻게 될까?</a:t>
            </a:r>
          </a:p>
        </p:txBody>
      </p:sp>
      <p:pic>
        <p:nvPicPr>
          <p:cNvPr id="6" name="Picture 5" descr="fig_modality.png"/>
          <p:cNvPicPr>
            <a:picLocks noChangeAspect="1"/>
          </p:cNvPicPr>
          <p:nvPr/>
        </p:nvPicPr>
        <p:blipFill>
          <a:blip r:embed="rId3"/>
          <a:stretch>
            <a:fillRect/>
          </a:stretch>
        </p:blipFill>
        <p:spPr>
          <a:xfrm>
            <a:off x="877824" y="2139696"/>
            <a:ext cx="8156448" cy="1638720"/>
          </a:xfrm>
          <a:prstGeom prst="rect">
            <a:avLst/>
          </a:prstGeom>
        </p:spPr>
      </p:pic>
      <p:sp>
        <p:nvSpPr>
          <p:cNvPr id="7" name="Rounded Rectangle 6"/>
          <p:cNvSpPr/>
          <p:nvPr/>
        </p:nvSpPr>
        <p:spPr>
          <a:xfrm>
            <a:off x="585216" y="4480560"/>
            <a:ext cx="8732520" cy="676656"/>
          </a:xfrm>
          <a:prstGeom prst="roundRect">
            <a:avLst>
              <a:gd name="adj" fmla="val 10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8" name="TextBox 7"/>
          <p:cNvSpPr txBox="1"/>
          <p:nvPr/>
        </p:nvSpPr>
        <p:spPr>
          <a:xfrm>
            <a:off x="768096" y="4608576"/>
            <a:ext cx="8366760" cy="457200"/>
          </a:xfrm>
          <a:prstGeom prst="rect">
            <a:avLst/>
          </a:prstGeom>
          <a:noFill/>
        </p:spPr>
        <p:txBody>
          <a:bodyPr wrap="square" lIns="0" rIns="0" tIns="0" bIns="0" anchor="t">
            <a:spAutoFit/>
          </a:bodyPr>
          <a:lstStyle/>
          <a:p>
            <a:pPr algn="l">
              <a:spcBef>
                <a:spcPts val="0"/>
              </a:spcBef>
              <a:spcAft>
                <a:spcPts val="200"/>
              </a:spcAft>
            </a:pPr>
            <a:r>
              <a:rPr sz="1400" b="1" i="0">
                <a:solidFill>
                  <a:srgbClr val="004094"/>
                </a:solidFill>
                <a:latin typeface="맑은 고딕"/>
                <a:ea typeface="맑은 고딕"/>
                <a:cs typeface="맑은 고딕"/>
              </a:rPr>
              <a:t>글자로 줘도 83.8%에서 멈춥니다</a:t>
            </a:r>
            <a:r>
              <a:rPr sz="1400" b="0" i="0">
                <a:solidFill>
                  <a:srgbClr val="27251E"/>
                </a:solidFill>
                <a:latin typeface="맑은 고딕"/>
                <a:ea typeface="맑은 고딕"/>
                <a:cs typeface="맑은 고딕"/>
              </a:rPr>
              <a:t>  —  남은 16%는 </a:t>
            </a:r>
            <a:r>
              <a:rPr sz="1400" b="1" i="0">
                <a:solidFill>
                  <a:srgbClr val="C00000"/>
                </a:solidFill>
                <a:latin typeface="맑은 고딕"/>
                <a:ea typeface="맑은 고딕"/>
                <a:cs typeface="맑은 고딕"/>
              </a:rPr>
              <a:t>보는 문제가 아니라 판단의 문제</a:t>
            </a:r>
            <a:r>
              <a:rPr sz="1400" b="0" i="0">
                <a:solidFill>
                  <a:srgbClr val="27251E"/>
                </a:solidFill>
                <a:latin typeface="맑은 고딕"/>
                <a:ea typeface="맑은 고딕"/>
                <a:cs typeface="맑은 고딕"/>
              </a:rPr>
              <a:t>입니다.</a:t>
            </a:r>
          </a:p>
        </p:txBody>
      </p:sp>
      <p:sp>
        <p:nvSpPr>
          <p:cNvPr id="9" name="Rounded Rectangle 8"/>
          <p:cNvSpPr/>
          <p:nvPr/>
        </p:nvSpPr>
        <p:spPr>
          <a:xfrm>
            <a:off x="585216" y="5358384"/>
            <a:ext cx="4261104" cy="969264"/>
          </a:xfrm>
          <a:prstGeom prst="roundRect">
            <a:avLst>
              <a:gd name="adj" fmla="val 10000"/>
            </a:avLst>
          </a:prstGeom>
          <a:solidFill>
            <a:srgbClr val="FFFFFF"/>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2E75B6"/>
                </a:solidFill>
                <a:latin typeface="맑은 고딕"/>
                <a:ea typeface="맑은 고딕"/>
                <a:cs typeface="맑은 고딕"/>
              </a:rPr>
              <a:t>10.6%p</a:t>
            </a:r>
            <a:r>
              <a:rPr sz="1400" b="1" i="0">
                <a:solidFill>
                  <a:srgbClr val="27251E"/>
                </a:solidFill>
                <a:latin typeface="맑은 고딕"/>
                <a:ea typeface="맑은 고딕"/>
                <a:cs typeface="맑은 고딕"/>
              </a:rPr>
              <a:t>   사진을 읽느라 잃는 몫</a:t>
            </a:r>
          </a:p>
          <a:p>
            <a:pPr algn="ctr">
              <a:spcBef>
                <a:spcPts val="0"/>
              </a:spcBef>
              <a:spcAft>
                <a:spcPts val="200"/>
              </a:spcAft>
            </a:pPr>
            <a:r>
              <a:rPr sz="1150" b="0" i="0">
                <a:solidFill>
                  <a:srgbClr val="767171"/>
                </a:solidFill>
                <a:latin typeface="맑은 고딕"/>
                <a:ea typeface="맑은 고딕"/>
                <a:cs typeface="맑은 고딕"/>
              </a:rPr>
              <a:t>옷을 보고 색·무늬를 알아보는 능력</a:t>
            </a:r>
          </a:p>
        </p:txBody>
      </p:sp>
      <p:sp>
        <p:nvSpPr>
          <p:cNvPr id="10" name="Rounded Rectangle 9"/>
          <p:cNvSpPr/>
          <p:nvPr/>
        </p:nvSpPr>
        <p:spPr>
          <a:xfrm>
            <a:off x="5056631" y="5358384"/>
            <a:ext cx="4261104" cy="969264"/>
          </a:xfrm>
          <a:prstGeom prst="roundRect">
            <a:avLst>
              <a:gd name="adj" fmla="val 10000"/>
            </a:avLst>
          </a:prstGeom>
          <a:solidFill>
            <a:srgbClr val="FFF3F3"/>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Bef>
                <a:spcPts val="0"/>
              </a:spcBef>
              <a:spcAft>
                <a:spcPts val="200"/>
              </a:spcAft>
            </a:pPr>
            <a:r>
              <a:rPr sz="1400" b="1" i="0">
                <a:solidFill>
                  <a:srgbClr val="C00000"/>
                </a:solidFill>
                <a:latin typeface="맑은 고딕"/>
                <a:ea typeface="맑은 고딕"/>
                <a:cs typeface="맑은 고딕"/>
              </a:rPr>
              <a:t>16.2%p</a:t>
            </a:r>
            <a:r>
              <a:rPr sz="1400" b="1" i="0">
                <a:solidFill>
                  <a:srgbClr val="27251E"/>
                </a:solidFill>
                <a:latin typeface="맑은 고딕"/>
                <a:ea typeface="맑은 고딕"/>
                <a:cs typeface="맑은 고딕"/>
              </a:rPr>
              <a:t>   글자로 줘도 남는 몫</a:t>
            </a:r>
          </a:p>
          <a:p>
            <a:pPr algn="ctr">
              <a:spcBef>
                <a:spcPts val="0"/>
              </a:spcBef>
              <a:spcAft>
                <a:spcPts val="200"/>
              </a:spcAft>
            </a:pPr>
            <a:r>
              <a:rPr sz="1150" b="0" i="0">
                <a:solidFill>
                  <a:srgbClr val="767171"/>
                </a:solidFill>
                <a:latin typeface="맑은 고딕"/>
                <a:ea typeface="맑은 고딕"/>
                <a:cs typeface="맑은 고딕"/>
              </a:rPr>
              <a:t>두 조건을 동시에 지키는 판단 능력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15</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⑤  Eval — 어디가 특히 약한가</a:t>
            </a:r>
            <a:r>
              <a:rPr sz="1400" b="0" i="0">
                <a:solidFill>
                  <a:srgbClr val="767171"/>
                </a:solidFill>
                <a:latin typeface="맑은 고딕"/>
                <a:ea typeface="맑은 고딕"/>
                <a:cs typeface="맑은 고딕"/>
              </a:rPr>
              <a:t>   Qwen3-VL 30B · 둘 다 알려준 조건</a:t>
            </a:r>
          </a:p>
        </p:txBody>
      </p:sp>
      <p:sp>
        <p:nvSpPr>
          <p:cNvPr id="5" name="TextBox 4"/>
          <p:cNvSpPr txBox="1"/>
          <p:nvPr/>
        </p:nvSpPr>
        <p:spPr>
          <a:xfrm>
            <a:off x="585216" y="1609344"/>
            <a:ext cx="8732520" cy="384048"/>
          </a:xfrm>
          <a:prstGeom prst="rect">
            <a:avLst/>
          </a:prstGeom>
          <a:noFill/>
        </p:spPr>
        <p:txBody>
          <a:bodyPr wrap="square" lIns="0" rIns="0" tIns="0" bIns="0" anchor="t">
            <a:spAutoFit/>
          </a:bodyPr>
          <a:lstStyle/>
          <a:p>
            <a:pPr algn="l">
              <a:lnSpc>
                <a:spcPct val="120000"/>
              </a:lnSpc>
              <a:spcBef>
                <a:spcPts val="0"/>
              </a:spcBef>
              <a:spcAft>
                <a:spcPts val="200"/>
              </a:spcAft>
            </a:pPr>
            <a:r>
              <a:rPr sz="1500" b="0" i="0">
                <a:solidFill>
                  <a:srgbClr val="27251E"/>
                </a:solidFill>
                <a:latin typeface="맑은 고딕"/>
                <a:ea typeface="맑은 고딕"/>
                <a:cs typeface="맑은 고딕"/>
              </a:rPr>
              <a:t>문항을 세 가지 기준으로 갈라 보면 </a:t>
            </a:r>
            <a:r>
              <a:rPr sz="1500" b="1" i="0">
                <a:solidFill>
                  <a:srgbClr val="0A4D9B"/>
                </a:solidFill>
                <a:latin typeface="맑은 고딕"/>
                <a:ea typeface="맑은 고딕"/>
                <a:cs typeface="맑은 고딕"/>
              </a:rPr>
              <a:t>약한 곳이 분명하게 드러납니다</a:t>
            </a:r>
            <a:r>
              <a:rPr sz="1500" b="0" i="0">
                <a:solidFill>
                  <a:srgbClr val="27251E"/>
                </a:solidFill>
                <a:latin typeface="맑은 고딕"/>
                <a:ea typeface="맑은 고딕"/>
                <a:cs typeface="맑은 고딕"/>
              </a:rPr>
              <a:t>.</a:t>
            </a:r>
          </a:p>
        </p:txBody>
      </p:sp>
      <p:pic>
        <p:nvPicPr>
          <p:cNvPr id="6" name="Picture 5" descr="fig_weakspots.png"/>
          <p:cNvPicPr>
            <a:picLocks noChangeAspect="1"/>
          </p:cNvPicPr>
          <p:nvPr/>
        </p:nvPicPr>
        <p:blipFill>
          <a:blip r:embed="rId3"/>
          <a:stretch>
            <a:fillRect/>
          </a:stretch>
        </p:blipFill>
        <p:spPr>
          <a:xfrm>
            <a:off x="749808" y="2121408"/>
            <a:ext cx="8412480" cy="2472370"/>
          </a:xfrm>
          <a:prstGeom prst="rect">
            <a:avLst/>
          </a:prstGeom>
        </p:spPr>
      </p:pic>
      <p:sp>
        <p:nvSpPr>
          <p:cNvPr id="7" name="TextBox 6"/>
          <p:cNvSpPr txBox="1"/>
          <p:nvPr/>
        </p:nvSpPr>
        <p:spPr>
          <a:xfrm>
            <a:off x="585216" y="4828032"/>
            <a:ext cx="8732520"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이 세 가지가 다음 연구의 출발점입니다</a:t>
            </a:r>
          </a:p>
        </p:txBody>
      </p:sp>
      <p:sp>
        <p:nvSpPr>
          <p:cNvPr id="8" name="Rounded Rectangle 7"/>
          <p:cNvSpPr/>
          <p:nvPr/>
        </p:nvSpPr>
        <p:spPr>
          <a:xfrm>
            <a:off x="585216" y="5175504"/>
            <a:ext cx="8732520" cy="384048"/>
          </a:xfrm>
          <a:prstGeom prst="roundRect">
            <a:avLst>
              <a:gd name="adj" fmla="val 10000"/>
            </a:avLst>
          </a:prstGeom>
          <a:solidFill>
            <a:srgbClr val="FF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786384" y="5257800"/>
            <a:ext cx="8330184" cy="237744"/>
          </a:xfrm>
          <a:prstGeom prst="rect">
            <a:avLst/>
          </a:prstGeom>
          <a:noFill/>
        </p:spPr>
        <p:txBody>
          <a:bodyPr wrap="square" lIns="0" rIns="0" tIns="0" bIns="0" anchor="t">
            <a:spAutoFit/>
          </a:bodyPr>
          <a:lstStyle/>
          <a:p>
            <a:pPr algn="l">
              <a:spcBef>
                <a:spcPts val="0"/>
              </a:spcBef>
              <a:spcAft>
                <a:spcPts val="200"/>
              </a:spcAft>
            </a:pPr>
            <a:r>
              <a:rPr sz="1250" b="1" i="0">
                <a:solidFill>
                  <a:srgbClr val="C00000"/>
                </a:solidFill>
                <a:latin typeface="맑은 고딕"/>
                <a:ea typeface="맑은 고딕"/>
                <a:cs typeface="맑은 고딕"/>
              </a:rPr>
              <a:t>무늬가 가장 어렵다</a:t>
            </a:r>
            <a:r>
              <a:rPr sz="1250" b="0" i="0">
                <a:solidFill>
                  <a:srgbClr val="27251E"/>
                </a:solidFill>
                <a:latin typeface="맑은 고딕"/>
                <a:ea typeface="맑은 고딕"/>
                <a:cs typeface="맑은 고딕"/>
              </a:rPr>
              <a:t>      색은 80점인데 무늬는 63점 — 17점 차이</a:t>
            </a:r>
          </a:p>
        </p:txBody>
      </p:sp>
      <p:sp>
        <p:nvSpPr>
          <p:cNvPr id="10" name="Rounded Rectangle 9"/>
          <p:cNvSpPr/>
          <p:nvPr/>
        </p:nvSpPr>
        <p:spPr>
          <a:xfrm>
            <a:off x="585216" y="5577840"/>
            <a:ext cx="8732520" cy="384048"/>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1" name="TextBox 10"/>
          <p:cNvSpPr txBox="1"/>
          <p:nvPr/>
        </p:nvSpPr>
        <p:spPr>
          <a:xfrm>
            <a:off x="786384" y="5660136"/>
            <a:ext cx="8330184" cy="237744"/>
          </a:xfrm>
          <a:prstGeom prst="rect">
            <a:avLst/>
          </a:prstGeom>
          <a:noFill/>
        </p:spPr>
        <p:txBody>
          <a:bodyPr wrap="square" lIns="0" rIns="0" tIns="0" bIns="0" anchor="t">
            <a:spAutoFit/>
          </a:bodyPr>
          <a:lstStyle/>
          <a:p>
            <a:pPr algn="l">
              <a:spcBef>
                <a:spcPts val="0"/>
              </a:spcBef>
              <a:spcAft>
                <a:spcPts val="200"/>
              </a:spcAft>
            </a:pPr>
            <a:r>
              <a:rPr sz="1250" b="1" i="0">
                <a:solidFill>
                  <a:srgbClr val="2E75B6"/>
                </a:solidFill>
                <a:latin typeface="맑은 고딕"/>
                <a:ea typeface="맑은 고딕"/>
                <a:cs typeface="맑은 고딕"/>
              </a:rPr>
              <a:t>격식 상황이 더 어렵다</a:t>
            </a:r>
            <a:r>
              <a:rPr sz="1250" b="0" i="0">
                <a:solidFill>
                  <a:srgbClr val="27251E"/>
                </a:solidFill>
                <a:latin typeface="맑은 고딕"/>
                <a:ea typeface="맑은 고딕"/>
                <a:cs typeface="맑은 고딕"/>
              </a:rPr>
              <a:t>      춥다·덥다보다 사회적 규범 쪽이 5점 낮음</a:t>
            </a:r>
          </a:p>
        </p:txBody>
      </p:sp>
      <p:sp>
        <p:nvSpPr>
          <p:cNvPr id="12" name="Rounded Rectangle 11"/>
          <p:cNvSpPr/>
          <p:nvPr/>
        </p:nvSpPr>
        <p:spPr>
          <a:xfrm>
            <a:off x="585216" y="5980176"/>
            <a:ext cx="8732520" cy="384048"/>
          </a:xfrm>
          <a:prstGeom prst="roundRect">
            <a:avLst>
              <a:gd name="adj" fmla="val 10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3" name="TextBox 12"/>
          <p:cNvSpPr txBox="1"/>
          <p:nvPr/>
        </p:nvSpPr>
        <p:spPr>
          <a:xfrm>
            <a:off x="786384" y="6062472"/>
            <a:ext cx="8330184" cy="237744"/>
          </a:xfrm>
          <a:prstGeom prst="rect">
            <a:avLst/>
          </a:prstGeom>
          <a:noFill/>
        </p:spPr>
        <p:txBody>
          <a:bodyPr wrap="square" lIns="0" rIns="0" tIns="0" bIns="0" anchor="t">
            <a:spAutoFit/>
          </a:bodyPr>
          <a:lstStyle/>
          <a:p>
            <a:pPr algn="l">
              <a:spcBef>
                <a:spcPts val="0"/>
              </a:spcBef>
              <a:spcAft>
                <a:spcPts val="200"/>
              </a:spcAft>
            </a:pPr>
            <a:r>
              <a:rPr sz="1250" b="1" i="0">
                <a:solidFill>
                  <a:srgbClr val="2E75B6"/>
                </a:solidFill>
                <a:latin typeface="맑은 고딕"/>
                <a:ea typeface="맑은 고딕"/>
                <a:cs typeface="맑은 고딕"/>
              </a:rPr>
              <a:t>돌려 말하면 더 어렵다</a:t>
            </a:r>
            <a:r>
              <a:rPr sz="1250" b="0" i="0">
                <a:solidFill>
                  <a:srgbClr val="27251E"/>
                </a:solidFill>
                <a:latin typeface="맑은 고딕"/>
                <a:ea typeface="맑은 고딕"/>
                <a:cs typeface="맑은 고딕"/>
              </a:rPr>
              <a:t>      ‘한겨울’처럼 간접적으로 주면 6점 하락</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16</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기여</a:t>
            </a:r>
            <a:r>
              <a:rPr sz="1400" b="0" i="0">
                <a:solidFill>
                  <a:srgbClr val="767171"/>
                </a:solidFill>
                <a:latin typeface="맑은 고딕"/>
                <a:ea typeface="맑은 고딕"/>
                <a:cs typeface="맑은 고딕"/>
              </a:rPr>
              <a:t>   이번 인턴십에서 남긴 것</a:t>
            </a:r>
          </a:p>
        </p:txBody>
      </p:sp>
      <p:sp>
        <p:nvSpPr>
          <p:cNvPr id="5" name="Rounded Rectangle 4"/>
          <p:cNvSpPr/>
          <p:nvPr/>
        </p:nvSpPr>
        <p:spPr>
          <a:xfrm>
            <a:off x="585216" y="1828800"/>
            <a:ext cx="8732520" cy="6766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6" name="Rounded Rectangle 5"/>
          <p:cNvSpPr/>
          <p:nvPr/>
        </p:nvSpPr>
        <p:spPr>
          <a:xfrm>
            <a:off x="768096" y="2011680"/>
            <a:ext cx="5669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설계</a:t>
            </a:r>
          </a:p>
        </p:txBody>
      </p:sp>
      <p:sp>
        <p:nvSpPr>
          <p:cNvPr id="7" name="TextBox 6"/>
          <p:cNvSpPr txBox="1"/>
          <p:nvPr/>
        </p:nvSpPr>
        <p:spPr>
          <a:xfrm>
            <a:off x="1499616" y="1947672"/>
            <a:ext cx="7598664" cy="274320"/>
          </a:xfrm>
          <a:prstGeom prst="rect">
            <a:avLst/>
          </a:prstGeom>
          <a:noFill/>
        </p:spPr>
        <p:txBody>
          <a:bodyPr wrap="square" lIns="0" rIns="0" tIns="0" bIns="0" anchor="t">
            <a:spAutoFit/>
          </a:bodyPr>
          <a:lstStyle/>
          <a:p>
            <a:pPr algn="l">
              <a:spcBef>
                <a:spcPts val="0"/>
              </a:spcBef>
              <a:spcAft>
                <a:spcPts val="200"/>
              </a:spcAft>
            </a:pPr>
            <a:r>
              <a:rPr sz="1350" b="1" i="0">
                <a:solidFill>
                  <a:srgbClr val="0A4D9B"/>
                </a:solidFill>
                <a:latin typeface="맑은 고딕"/>
                <a:ea typeface="맑은 고딕"/>
                <a:cs typeface="맑은 고딕"/>
              </a:rPr>
              <a:t>문제를 나눌 수 있는 형태로 바꿈</a:t>
            </a:r>
          </a:p>
        </p:txBody>
      </p:sp>
      <p:sp>
        <p:nvSpPr>
          <p:cNvPr id="8" name="TextBox 7"/>
          <p:cNvSpPr txBox="1"/>
          <p:nvPr/>
        </p:nvSpPr>
        <p:spPr>
          <a:xfrm>
            <a:off x="1499616" y="2231136"/>
            <a:ext cx="7598664" cy="237744"/>
          </a:xfrm>
          <a:prstGeom prst="rect">
            <a:avLst/>
          </a:prstGeom>
          <a:noFill/>
        </p:spPr>
        <p:txBody>
          <a:bodyPr wrap="square" lIns="0" rIns="0" tIns="0" bIns="0" anchor="t">
            <a:spAutoFit/>
          </a:bodyPr>
          <a:lstStyle/>
          <a:p>
            <a:pPr algn="l">
              <a:spcBef>
                <a:spcPts val="0"/>
              </a:spcBef>
              <a:spcAft>
                <a:spcPts val="200"/>
              </a:spcAft>
            </a:pPr>
            <a:r>
              <a:rPr sz="1150" b="0" i="0">
                <a:solidFill>
                  <a:srgbClr val="27251E"/>
                </a:solidFill>
                <a:latin typeface="맑은 고딕"/>
                <a:ea typeface="맑은 고딕"/>
                <a:cs typeface="맑은 고딕"/>
              </a:rPr>
              <a:t>‘틀렸다’를 ‘어느 쪽에서 틀렸다’로 — 답 하나로 두 능력을 분해</a:t>
            </a:r>
          </a:p>
        </p:txBody>
      </p:sp>
      <p:sp>
        <p:nvSpPr>
          <p:cNvPr id="9" name="Rounded Rectangle 8"/>
          <p:cNvSpPr/>
          <p:nvPr/>
        </p:nvSpPr>
        <p:spPr>
          <a:xfrm>
            <a:off x="585216" y="2596896"/>
            <a:ext cx="8732520" cy="6766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0" name="Rounded Rectangle 9"/>
          <p:cNvSpPr/>
          <p:nvPr/>
        </p:nvSpPr>
        <p:spPr>
          <a:xfrm>
            <a:off x="768096" y="2779776"/>
            <a:ext cx="5669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신규</a:t>
            </a:r>
          </a:p>
        </p:txBody>
      </p:sp>
      <p:sp>
        <p:nvSpPr>
          <p:cNvPr id="11" name="TextBox 10"/>
          <p:cNvSpPr txBox="1"/>
          <p:nvPr/>
        </p:nvSpPr>
        <p:spPr>
          <a:xfrm>
            <a:off x="1499616" y="2715768"/>
            <a:ext cx="7598664" cy="274320"/>
          </a:xfrm>
          <a:prstGeom prst="rect">
            <a:avLst/>
          </a:prstGeom>
          <a:noFill/>
        </p:spPr>
        <p:txBody>
          <a:bodyPr wrap="square" lIns="0" rIns="0" tIns="0" bIns="0" anchor="t">
            <a:spAutoFit/>
          </a:bodyPr>
          <a:lstStyle/>
          <a:p>
            <a:pPr algn="l">
              <a:spcBef>
                <a:spcPts val="0"/>
              </a:spcBef>
              <a:spcAft>
                <a:spcPts val="200"/>
              </a:spcAft>
            </a:pPr>
            <a:r>
              <a:rPr sz="1350" b="1" i="0">
                <a:solidFill>
                  <a:srgbClr val="0A4D9B"/>
                </a:solidFill>
                <a:latin typeface="맑은 고딕"/>
                <a:ea typeface="맑은 고딕"/>
                <a:cs typeface="맑은 고딕"/>
              </a:rPr>
              <a:t>취향을 대화로 주는 조건을 새로 만듦</a:t>
            </a:r>
          </a:p>
        </p:txBody>
      </p:sp>
      <p:sp>
        <p:nvSpPr>
          <p:cNvPr id="12" name="TextBox 11"/>
          <p:cNvSpPr txBox="1"/>
          <p:nvPr/>
        </p:nvSpPr>
        <p:spPr>
          <a:xfrm>
            <a:off x="1499616" y="2999232"/>
            <a:ext cx="7598664" cy="237744"/>
          </a:xfrm>
          <a:prstGeom prst="rect">
            <a:avLst/>
          </a:prstGeom>
          <a:noFill/>
        </p:spPr>
        <p:txBody>
          <a:bodyPr wrap="square" lIns="0" rIns="0" tIns="0" bIns="0" anchor="t">
            <a:spAutoFit/>
          </a:bodyPr>
          <a:lstStyle/>
          <a:p>
            <a:pPr algn="l">
              <a:spcBef>
                <a:spcPts val="0"/>
              </a:spcBef>
              <a:spcAft>
                <a:spcPts val="200"/>
              </a:spcAft>
            </a:pPr>
            <a:r>
              <a:rPr sz="1150" b="0" i="0">
                <a:solidFill>
                  <a:srgbClr val="27251E"/>
                </a:solidFill>
                <a:latin typeface="맑은 고딕"/>
                <a:ea typeface="맑은 고딕"/>
                <a:cs typeface="맑은 고딕"/>
              </a:rPr>
              <a:t>값을 사진에만 담은 대화 48개 · 검증 48/48 · 돌연변이 6/6 검출</a:t>
            </a:r>
          </a:p>
        </p:txBody>
      </p:sp>
      <p:sp>
        <p:nvSpPr>
          <p:cNvPr id="13" name="Rounded Rectangle 12"/>
          <p:cNvSpPr/>
          <p:nvPr/>
        </p:nvSpPr>
        <p:spPr>
          <a:xfrm>
            <a:off x="585216" y="3364991"/>
            <a:ext cx="8732520" cy="6766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4" name="Rounded Rectangle 13"/>
          <p:cNvSpPr/>
          <p:nvPr/>
        </p:nvSpPr>
        <p:spPr>
          <a:xfrm>
            <a:off x="768096" y="3547872"/>
            <a:ext cx="5669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실험</a:t>
            </a:r>
          </a:p>
        </p:txBody>
      </p:sp>
      <p:sp>
        <p:nvSpPr>
          <p:cNvPr id="15" name="TextBox 14"/>
          <p:cNvSpPr txBox="1"/>
          <p:nvPr/>
        </p:nvSpPr>
        <p:spPr>
          <a:xfrm>
            <a:off x="1499616" y="3483863"/>
            <a:ext cx="7598664" cy="274320"/>
          </a:xfrm>
          <a:prstGeom prst="rect">
            <a:avLst/>
          </a:prstGeom>
          <a:noFill/>
        </p:spPr>
        <p:txBody>
          <a:bodyPr wrap="square" lIns="0" rIns="0" tIns="0" bIns="0" anchor="t">
            <a:spAutoFit/>
          </a:bodyPr>
          <a:lstStyle/>
          <a:p>
            <a:pPr algn="l">
              <a:spcBef>
                <a:spcPts val="0"/>
              </a:spcBef>
              <a:spcAft>
                <a:spcPts val="200"/>
              </a:spcAft>
            </a:pPr>
            <a:r>
              <a:rPr sz="1350" b="1" i="0">
                <a:solidFill>
                  <a:srgbClr val="0A4D9B"/>
                </a:solidFill>
                <a:latin typeface="맑은 고딕"/>
                <a:ea typeface="맑은 고딕"/>
                <a:cs typeface="맑은 고딕"/>
              </a:rPr>
              <a:t>가설을 8종 모델로 확인</a:t>
            </a:r>
          </a:p>
        </p:txBody>
      </p:sp>
      <p:sp>
        <p:nvSpPr>
          <p:cNvPr id="16" name="TextBox 15"/>
          <p:cNvSpPr txBox="1"/>
          <p:nvPr/>
        </p:nvSpPr>
        <p:spPr>
          <a:xfrm>
            <a:off x="1499616" y="3767328"/>
            <a:ext cx="7598664" cy="237744"/>
          </a:xfrm>
          <a:prstGeom prst="rect">
            <a:avLst/>
          </a:prstGeom>
          <a:noFill/>
        </p:spPr>
        <p:txBody>
          <a:bodyPr wrap="square" lIns="0" rIns="0" tIns="0" bIns="0" anchor="t">
            <a:spAutoFit/>
          </a:bodyPr>
          <a:lstStyle/>
          <a:p>
            <a:pPr algn="l">
              <a:spcBef>
                <a:spcPts val="0"/>
              </a:spcBef>
              <a:spcAft>
                <a:spcPts val="200"/>
              </a:spcAft>
            </a:pPr>
            <a:r>
              <a:rPr sz="1150" b="0" i="0">
                <a:solidFill>
                  <a:srgbClr val="27251E"/>
                </a:solidFill>
                <a:latin typeface="맑은 고딕"/>
                <a:ea typeface="맑은 고딕"/>
                <a:cs typeface="맑은 고딕"/>
              </a:rPr>
              <a:t>여섯 모델 전부에서 같은 방향 — 모델을 키워도 사라지지 않음</a:t>
            </a:r>
          </a:p>
        </p:txBody>
      </p:sp>
      <p:sp>
        <p:nvSpPr>
          <p:cNvPr id="17" name="Rounded Rectangle 16"/>
          <p:cNvSpPr/>
          <p:nvPr/>
        </p:nvSpPr>
        <p:spPr>
          <a:xfrm>
            <a:off x="585216" y="4133087"/>
            <a:ext cx="8732520" cy="6766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8" name="Rounded Rectangle 17"/>
          <p:cNvSpPr/>
          <p:nvPr/>
        </p:nvSpPr>
        <p:spPr>
          <a:xfrm>
            <a:off x="768096" y="4315968"/>
            <a:ext cx="5669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분석</a:t>
            </a:r>
          </a:p>
        </p:txBody>
      </p:sp>
      <p:sp>
        <p:nvSpPr>
          <p:cNvPr id="19" name="TextBox 18"/>
          <p:cNvSpPr txBox="1"/>
          <p:nvPr/>
        </p:nvSpPr>
        <p:spPr>
          <a:xfrm>
            <a:off x="1499616" y="4251959"/>
            <a:ext cx="7598664" cy="274320"/>
          </a:xfrm>
          <a:prstGeom prst="rect">
            <a:avLst/>
          </a:prstGeom>
          <a:noFill/>
        </p:spPr>
        <p:txBody>
          <a:bodyPr wrap="square" lIns="0" rIns="0" tIns="0" bIns="0" anchor="t">
            <a:spAutoFit/>
          </a:bodyPr>
          <a:lstStyle/>
          <a:p>
            <a:pPr algn="l">
              <a:spcBef>
                <a:spcPts val="0"/>
              </a:spcBef>
              <a:spcAft>
                <a:spcPts val="200"/>
              </a:spcAft>
            </a:pPr>
            <a:r>
              <a:rPr sz="1350" b="1" i="0">
                <a:solidFill>
                  <a:srgbClr val="0A4D9B"/>
                </a:solidFill>
                <a:latin typeface="맑은 고딕"/>
                <a:ea typeface="맑은 고딕"/>
                <a:cs typeface="맑은 고딕"/>
              </a:rPr>
              <a:t>병목의 위치를 갈라냄</a:t>
            </a:r>
          </a:p>
        </p:txBody>
      </p:sp>
      <p:sp>
        <p:nvSpPr>
          <p:cNvPr id="20" name="TextBox 19"/>
          <p:cNvSpPr txBox="1"/>
          <p:nvPr/>
        </p:nvSpPr>
        <p:spPr>
          <a:xfrm>
            <a:off x="1499616" y="4535424"/>
            <a:ext cx="7598664" cy="237744"/>
          </a:xfrm>
          <a:prstGeom prst="rect">
            <a:avLst/>
          </a:prstGeom>
          <a:noFill/>
        </p:spPr>
        <p:txBody>
          <a:bodyPr wrap="square" lIns="0" rIns="0" tIns="0" bIns="0" anchor="t">
            <a:spAutoFit/>
          </a:bodyPr>
          <a:lstStyle/>
          <a:p>
            <a:pPr algn="l">
              <a:spcBef>
                <a:spcPts val="0"/>
              </a:spcBef>
              <a:spcAft>
                <a:spcPts val="200"/>
              </a:spcAft>
            </a:pPr>
            <a:r>
              <a:rPr sz="1150" b="0" i="0">
                <a:solidFill>
                  <a:srgbClr val="27251E"/>
                </a:solidFill>
                <a:latin typeface="맑은 고딕"/>
                <a:ea typeface="맑은 고딕"/>
                <a:cs typeface="맑은 고딕"/>
              </a:rPr>
              <a:t>사진을 글자로 바꿔도 83.8% — 보는 문제가 아니라 판단의 문제</a:t>
            </a:r>
          </a:p>
        </p:txBody>
      </p:sp>
      <p:sp>
        <p:nvSpPr>
          <p:cNvPr id="21" name="Rounded Rectangle 20"/>
          <p:cNvSpPr/>
          <p:nvPr/>
        </p:nvSpPr>
        <p:spPr>
          <a:xfrm>
            <a:off x="585216" y="4901183"/>
            <a:ext cx="8732520" cy="676656"/>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Rounded Rectangle 21"/>
          <p:cNvSpPr/>
          <p:nvPr/>
        </p:nvSpPr>
        <p:spPr>
          <a:xfrm>
            <a:off x="768096" y="5084064"/>
            <a:ext cx="566928" cy="310896"/>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재현</a:t>
            </a:r>
          </a:p>
        </p:txBody>
      </p:sp>
      <p:sp>
        <p:nvSpPr>
          <p:cNvPr id="23" name="TextBox 22"/>
          <p:cNvSpPr txBox="1"/>
          <p:nvPr/>
        </p:nvSpPr>
        <p:spPr>
          <a:xfrm>
            <a:off x="1499616" y="5020055"/>
            <a:ext cx="7598664" cy="274320"/>
          </a:xfrm>
          <a:prstGeom prst="rect">
            <a:avLst/>
          </a:prstGeom>
          <a:noFill/>
        </p:spPr>
        <p:txBody>
          <a:bodyPr wrap="square" lIns="0" rIns="0" tIns="0" bIns="0" anchor="t">
            <a:spAutoFit/>
          </a:bodyPr>
          <a:lstStyle/>
          <a:p>
            <a:pPr algn="l">
              <a:spcBef>
                <a:spcPts val="0"/>
              </a:spcBef>
              <a:spcAft>
                <a:spcPts val="200"/>
              </a:spcAft>
            </a:pPr>
            <a:r>
              <a:rPr sz="1350" b="1" i="0">
                <a:solidFill>
                  <a:srgbClr val="0A4D9B"/>
                </a:solidFill>
                <a:latin typeface="맑은 고딕"/>
                <a:ea typeface="맑은 고딕"/>
                <a:cs typeface="맑은 고딕"/>
              </a:rPr>
              <a:t>누구나 다시 만들 수 있게 남김</a:t>
            </a:r>
          </a:p>
        </p:txBody>
      </p:sp>
      <p:sp>
        <p:nvSpPr>
          <p:cNvPr id="24" name="TextBox 23"/>
          <p:cNvSpPr txBox="1"/>
          <p:nvPr/>
        </p:nvSpPr>
        <p:spPr>
          <a:xfrm>
            <a:off x="1499616" y="5303520"/>
            <a:ext cx="7598664" cy="237744"/>
          </a:xfrm>
          <a:prstGeom prst="rect">
            <a:avLst/>
          </a:prstGeom>
          <a:noFill/>
        </p:spPr>
        <p:txBody>
          <a:bodyPr wrap="square" lIns="0" rIns="0" tIns="0" bIns="0" anchor="t">
            <a:spAutoFit/>
          </a:bodyPr>
          <a:lstStyle/>
          <a:p>
            <a:pPr algn="l">
              <a:spcBef>
                <a:spcPts val="0"/>
              </a:spcBef>
              <a:spcAft>
                <a:spcPts val="200"/>
              </a:spcAft>
            </a:pPr>
            <a:r>
              <a:rPr sz="1150" b="0" i="0">
                <a:solidFill>
                  <a:srgbClr val="27251E"/>
                </a:solidFill>
                <a:latin typeface="맑은 고딕"/>
                <a:ea typeface="맑은 고딕"/>
                <a:cs typeface="맑은 고딕"/>
              </a:rPr>
              <a:t>씨앗 고정 · 사람 검수 1,661칸 · 검증기를 생성기와 분리</a:t>
            </a:r>
          </a:p>
        </p:txBody>
      </p:sp>
      <p:sp>
        <p:nvSpPr>
          <p:cNvPr id="25" name="Rounded Rectangle 24"/>
          <p:cNvSpPr/>
          <p:nvPr/>
        </p:nvSpPr>
        <p:spPr>
          <a:xfrm>
            <a:off x="585216" y="5760720"/>
            <a:ext cx="8732520" cy="566928"/>
          </a:xfrm>
          <a:prstGeom prst="roundRect">
            <a:avLst>
              <a:gd name="adj" fmla="val 10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6" name="TextBox 25"/>
          <p:cNvSpPr txBox="1"/>
          <p:nvPr/>
        </p:nvSpPr>
        <p:spPr>
          <a:xfrm>
            <a:off x="768096" y="5870448"/>
            <a:ext cx="8366760" cy="365760"/>
          </a:xfrm>
          <a:prstGeom prst="rect">
            <a:avLst/>
          </a:prstGeom>
          <a:noFill/>
        </p:spPr>
        <p:txBody>
          <a:bodyPr wrap="square" lIns="0" rIns="0" tIns="0" bIns="0" anchor="t">
            <a:spAutoFit/>
          </a:bodyPr>
          <a:lstStyle/>
          <a:p>
            <a:pPr algn="l">
              <a:spcBef>
                <a:spcPts val="0"/>
              </a:spcBef>
              <a:spcAft>
                <a:spcPts val="200"/>
              </a:spcAft>
            </a:pPr>
            <a:r>
              <a:rPr sz="1250" b="1" i="0">
                <a:solidFill>
                  <a:srgbClr val="C00000"/>
                </a:solidFill>
                <a:latin typeface="맑은 고딕"/>
                <a:ea typeface="맑은 고딕"/>
                <a:cs typeface="맑은 고딕"/>
              </a:rPr>
              <a:t>한계  </a:t>
            </a:r>
            <a:r>
              <a:rPr sz="1250" b="0" i="0">
                <a:solidFill>
                  <a:srgbClr val="27251E"/>
                </a:solidFill>
                <a:latin typeface="맑은 고딕"/>
                <a:ea typeface="맑은 고딕"/>
                <a:cs typeface="맑은 고딕"/>
              </a:rPr>
              <a:t>대화 조건은 만들고 검증까지 마쳤지만 </a:t>
            </a:r>
            <a:r>
              <a:rPr sz="1250" b="1" i="0">
                <a:solidFill>
                  <a:srgbClr val="27251E"/>
                </a:solidFill>
                <a:latin typeface="맑은 고딕"/>
                <a:ea typeface="맑은 고딕"/>
                <a:cs typeface="맑은 고딕"/>
              </a:rPr>
              <a:t>아직 모델에 태워 보지 못했습니다</a:t>
            </a:r>
            <a:r>
              <a:rPr sz="1250" b="0" i="0">
                <a:solidFill>
                  <a:srgbClr val="27251E"/>
                </a:solidFill>
                <a:latin typeface="맑은 고딕"/>
                <a:ea typeface="맑은 고딕"/>
                <a:cs typeface="맑은 고딕"/>
              </a:rPr>
              <a:t> — 다음 단계입니다.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8945849" y="6455664"/>
            <a:ext cx="548640" cy="256032"/>
          </a:xfrm>
          <a:prstGeom prst="rect">
            <a:avLst/>
          </a:prstGeom>
          <a:noFill/>
        </p:spPr>
        <p:txBody>
          <a:bodyPr wrap="none">
            <a:spAutoFit/>
          </a:bodyPr>
          <a:lstStyle/>
          <a:p>
            <a:pPr algn="r"/>
            <a:r>
              <a:rPr sz="1000" b="0" i="0">
                <a:solidFill>
                  <a:srgbClr val="767171"/>
                </a:solidFill>
                <a:latin typeface="맑은 고딕"/>
                <a:ea typeface="맑은 고딕"/>
                <a:cs typeface="맑은 고딕"/>
              </a:rPr>
              <a:t>17</a:t>
            </a:r>
          </a:p>
        </p:txBody>
      </p:sp>
      <p:sp>
        <p:nvSpPr>
          <p:cNvPr id="4" name="TextBox 3"/>
          <p:cNvSpPr txBox="1"/>
          <p:nvPr/>
        </p:nvSpPr>
        <p:spPr>
          <a:xfrm>
            <a:off x="585216" y="877824"/>
            <a:ext cx="8833104" cy="475488"/>
          </a:xfrm>
          <a:prstGeom prst="rect">
            <a:avLst/>
          </a:prstGeom>
          <a:noFill/>
        </p:spPr>
        <p:txBody>
          <a:bodyPr wrap="square" lIns="0" rIns="0" tIns="0" bIns="0" anchor="t">
            <a:spAutoFit/>
          </a:bodyPr>
          <a:lstStyle/>
          <a:p>
            <a:r>
              <a:rPr sz="2400" b="1" i="0">
                <a:solidFill>
                  <a:srgbClr val="004094"/>
                </a:solidFill>
                <a:latin typeface="맑은 고딕"/>
                <a:ea typeface="맑은 고딕"/>
                <a:cs typeface="맑은 고딕"/>
              </a:rPr>
              <a:t>향후 계획 · 소감</a:t>
            </a:r>
          </a:p>
        </p:txBody>
      </p:sp>
      <p:sp>
        <p:nvSpPr>
          <p:cNvPr id="5" name="TextBox 4"/>
          <p:cNvSpPr txBox="1"/>
          <p:nvPr/>
        </p:nvSpPr>
        <p:spPr>
          <a:xfrm>
            <a:off x="585216" y="1645920"/>
            <a:ext cx="4224528"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남은 일</a:t>
            </a:r>
          </a:p>
        </p:txBody>
      </p:sp>
      <p:sp>
        <p:nvSpPr>
          <p:cNvPr id="6" name="Rounded Rectangle 5"/>
          <p:cNvSpPr/>
          <p:nvPr/>
        </p:nvSpPr>
        <p:spPr>
          <a:xfrm>
            <a:off x="585216" y="2048256"/>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7" name="TextBox 6"/>
          <p:cNvSpPr txBox="1"/>
          <p:nvPr/>
        </p:nvSpPr>
        <p:spPr>
          <a:xfrm>
            <a:off x="749808" y="2157984"/>
            <a:ext cx="3968496"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대화 조건 평가 실행</a:t>
            </a:r>
          </a:p>
          <a:p>
            <a:pPr algn="l">
              <a:lnSpc>
                <a:spcPct val="110000"/>
              </a:lnSpc>
              <a:spcBef>
                <a:spcPts val="0"/>
              </a:spcBef>
              <a:spcAft>
                <a:spcPts val="200"/>
              </a:spcAft>
            </a:pPr>
            <a:r>
              <a:rPr sz="1100" b="0" i="0">
                <a:solidFill>
                  <a:srgbClr val="767171"/>
                </a:solidFill>
                <a:latin typeface="맑은 고딕"/>
                <a:ea typeface="맑은 고딕"/>
                <a:cs typeface="맑은 고딕"/>
              </a:rPr>
              <a:t>만든 대화 48개를 모델에 태우기</a:t>
            </a:r>
          </a:p>
        </p:txBody>
      </p:sp>
      <p:sp>
        <p:nvSpPr>
          <p:cNvPr id="8" name="Rounded Rectangle 7"/>
          <p:cNvSpPr/>
          <p:nvPr/>
        </p:nvSpPr>
        <p:spPr>
          <a:xfrm>
            <a:off x="585216" y="2743200"/>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9" name="TextBox 8"/>
          <p:cNvSpPr txBox="1"/>
          <p:nvPr/>
        </p:nvSpPr>
        <p:spPr>
          <a:xfrm>
            <a:off x="749808" y="2852928"/>
            <a:ext cx="3968496"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사진 라벨 검증 마무리</a:t>
            </a:r>
          </a:p>
          <a:p>
            <a:pPr algn="l">
              <a:lnSpc>
                <a:spcPct val="110000"/>
              </a:lnSpc>
              <a:spcBef>
                <a:spcPts val="0"/>
              </a:spcBef>
              <a:spcAft>
                <a:spcPts val="200"/>
              </a:spcAft>
            </a:pPr>
            <a:r>
              <a:rPr sz="1100" b="0" i="0">
                <a:solidFill>
                  <a:srgbClr val="767171"/>
                </a:solidFill>
                <a:latin typeface="맑은 고딕"/>
                <a:ea typeface="맑은 고딕"/>
                <a:cs typeface="맑은 고딕"/>
              </a:rPr>
              <a:t>관습 기반 35개 상황</a:t>
            </a:r>
          </a:p>
        </p:txBody>
      </p:sp>
      <p:sp>
        <p:nvSpPr>
          <p:cNvPr id="10" name="Rounded Rectangle 9"/>
          <p:cNvSpPr/>
          <p:nvPr/>
        </p:nvSpPr>
        <p:spPr>
          <a:xfrm>
            <a:off x="585216" y="3438144"/>
            <a:ext cx="4224528" cy="603504"/>
          </a:xfrm>
          <a:prstGeom prst="roundRect">
            <a:avLst>
              <a:gd name="adj" fmla="val 10000"/>
            </a:avLst>
          </a:prstGeom>
          <a:solidFill>
            <a:srgbClr val="F5F8FC"/>
          </a:solidFill>
          <a:ln w="1270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11" name="TextBox 10"/>
          <p:cNvSpPr txBox="1"/>
          <p:nvPr/>
        </p:nvSpPr>
        <p:spPr>
          <a:xfrm>
            <a:off x="749808" y="3547872"/>
            <a:ext cx="3968496" cy="402336"/>
          </a:xfrm>
          <a:prstGeom prst="rect">
            <a:avLst/>
          </a:prstGeom>
          <a:noFill/>
        </p:spPr>
        <p:txBody>
          <a:bodyPr wrap="square" lIns="0" rIns="0" tIns="0" bIns="0" anchor="t">
            <a:spAutoFit/>
          </a:bodyPr>
          <a:lstStyle/>
          <a:p>
            <a:pPr algn="l">
              <a:spcBef>
                <a:spcPts val="0"/>
              </a:spcBef>
              <a:spcAft>
                <a:spcPts val="200"/>
              </a:spcAft>
            </a:pPr>
            <a:r>
              <a:rPr sz="1300" b="1" i="0">
                <a:solidFill>
                  <a:srgbClr val="0A4D9B"/>
                </a:solidFill>
                <a:latin typeface="맑은 고딕"/>
                <a:ea typeface="맑은 고딕"/>
                <a:cs typeface="맑은 고딕"/>
              </a:rPr>
              <a:t>상용 모델 확대</a:t>
            </a:r>
          </a:p>
          <a:p>
            <a:pPr algn="l">
              <a:lnSpc>
                <a:spcPct val="110000"/>
              </a:lnSpc>
              <a:spcBef>
                <a:spcPts val="0"/>
              </a:spcBef>
              <a:spcAft>
                <a:spcPts val="200"/>
              </a:spcAft>
            </a:pPr>
            <a:r>
              <a:rPr sz="1100" b="0" i="0">
                <a:solidFill>
                  <a:srgbClr val="767171"/>
                </a:solidFill>
                <a:latin typeface="맑은 고딕"/>
                <a:ea typeface="맑은 고딕"/>
                <a:cs typeface="맑은 고딕"/>
              </a:rPr>
              <a:t>GPT · Gemini 계열 추가</a:t>
            </a:r>
          </a:p>
        </p:txBody>
      </p:sp>
      <p:sp>
        <p:nvSpPr>
          <p:cNvPr id="12" name="TextBox 11"/>
          <p:cNvSpPr txBox="1"/>
          <p:nvPr/>
        </p:nvSpPr>
        <p:spPr>
          <a:xfrm>
            <a:off x="5093208" y="1645920"/>
            <a:ext cx="4224528" cy="365760"/>
          </a:xfrm>
          <a:prstGeom prst="rect">
            <a:avLst/>
          </a:prstGeom>
          <a:noFill/>
        </p:spPr>
        <p:txBody>
          <a:bodyPr wrap="square" lIns="0" rIns="0" tIns="0" bIns="0" anchor="t">
            <a:spAutoFit/>
          </a:bodyPr>
          <a:lstStyle/>
          <a:p>
            <a:pPr algn="l">
              <a:spcBef>
                <a:spcPts val="0"/>
              </a:spcBef>
              <a:spcAft>
                <a:spcPts val="300"/>
              </a:spcAft>
            </a:pPr>
            <a:r>
              <a:rPr sz="1550" b="1" i="0">
                <a:solidFill>
                  <a:srgbClr val="0A4D9B"/>
                </a:solidFill>
                <a:latin typeface="맑은 고딕"/>
                <a:ea typeface="맑은 고딕"/>
                <a:cs typeface="맑은 고딕"/>
              </a:rPr>
              <a:t>학업 · 진로 계획</a:t>
            </a:r>
          </a:p>
        </p:txBody>
      </p:sp>
      <p:sp>
        <p:nvSpPr>
          <p:cNvPr id="13" name="Rounded Rectangle 12"/>
          <p:cNvSpPr/>
          <p:nvPr/>
        </p:nvSpPr>
        <p:spPr>
          <a:xfrm>
            <a:off x="5093208" y="2084831"/>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단기</a:t>
            </a:r>
          </a:p>
        </p:txBody>
      </p:sp>
      <p:sp>
        <p:nvSpPr>
          <p:cNvPr id="14" name="TextBox 13"/>
          <p:cNvSpPr txBox="1"/>
          <p:nvPr/>
        </p:nvSpPr>
        <p:spPr>
          <a:xfrm>
            <a:off x="5833872" y="2103120"/>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이 연구를 논문 투고 수준으로 정리</a:t>
            </a:r>
          </a:p>
        </p:txBody>
      </p:sp>
      <p:sp>
        <p:nvSpPr>
          <p:cNvPr id="15" name="Rounded Rectangle 14"/>
          <p:cNvSpPr/>
          <p:nvPr/>
        </p:nvSpPr>
        <p:spPr>
          <a:xfrm>
            <a:off x="5093208" y="2688336"/>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중기</a:t>
            </a:r>
          </a:p>
        </p:txBody>
      </p:sp>
      <p:sp>
        <p:nvSpPr>
          <p:cNvPr id="16" name="TextBox 15"/>
          <p:cNvSpPr txBox="1"/>
          <p:nvPr/>
        </p:nvSpPr>
        <p:spPr>
          <a:xfrm>
            <a:off x="5833872" y="2706624"/>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AI 평가 방법론을 주제로 대학원 진학 준비</a:t>
            </a:r>
          </a:p>
        </p:txBody>
      </p:sp>
      <p:sp>
        <p:nvSpPr>
          <p:cNvPr id="17" name="Rounded Rectangle 16"/>
          <p:cNvSpPr/>
          <p:nvPr/>
        </p:nvSpPr>
        <p:spPr>
          <a:xfrm>
            <a:off x="5093208" y="3291840"/>
            <a:ext cx="603504" cy="274320"/>
          </a:xfrm>
          <a:prstGeom prst="roundRect">
            <a:avLst>
              <a:gd name="adj" fmla="val 35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9144" rIns="9144"/>
          <a:lstStyle/>
          <a:p>
            <a:pPr algn="ctr"/>
            <a:r>
              <a:rPr sz="1100" b="1" i="0">
                <a:solidFill>
                  <a:srgbClr val="FFFFFF"/>
                </a:solidFill>
                <a:latin typeface="맑은 고딕"/>
                <a:ea typeface="맑은 고딕"/>
                <a:cs typeface="맑은 고딕"/>
              </a:rPr>
              <a:t>장기</a:t>
            </a:r>
          </a:p>
        </p:txBody>
      </p:sp>
      <p:sp>
        <p:nvSpPr>
          <p:cNvPr id="18" name="TextBox 17"/>
          <p:cNvSpPr txBox="1"/>
          <p:nvPr/>
        </p:nvSpPr>
        <p:spPr>
          <a:xfrm>
            <a:off x="5833872" y="3310128"/>
            <a:ext cx="3483864" cy="493776"/>
          </a:xfrm>
          <a:prstGeom prst="rect">
            <a:avLst/>
          </a:prstGeom>
          <a:noFill/>
        </p:spPr>
        <p:txBody>
          <a:bodyPr wrap="square" lIns="0" rIns="0" tIns="0" bIns="0" anchor="t">
            <a:spAutoFit/>
          </a:bodyPr>
          <a:lstStyle/>
          <a:p>
            <a:pPr algn="l">
              <a:lnSpc>
                <a:spcPct val="120000"/>
              </a:lnSpc>
              <a:spcBef>
                <a:spcPts val="0"/>
              </a:spcBef>
              <a:spcAft>
                <a:spcPts val="200"/>
              </a:spcAft>
            </a:pPr>
            <a:r>
              <a:rPr sz="1250" b="0" i="0">
                <a:solidFill>
                  <a:srgbClr val="27251E"/>
                </a:solidFill>
                <a:latin typeface="맑은 고딕"/>
                <a:ea typeface="맑은 고딕"/>
                <a:cs typeface="맑은 고딕"/>
              </a:rPr>
              <a:t>‘모델이 무엇을 못하는지’를 재는 연구자</a:t>
            </a:r>
          </a:p>
        </p:txBody>
      </p:sp>
      <p:sp>
        <p:nvSpPr>
          <p:cNvPr id="19" name="Rounded Rectangle 18"/>
          <p:cNvSpPr/>
          <p:nvPr/>
        </p:nvSpPr>
        <p:spPr>
          <a:xfrm>
            <a:off x="5093208" y="3931920"/>
            <a:ext cx="4224528" cy="1956816"/>
          </a:xfrm>
          <a:prstGeom prst="roundRect">
            <a:avLst>
              <a:gd name="adj" fmla="val 8000"/>
            </a:avLst>
          </a:prstGeom>
          <a:solidFill>
            <a:srgbClr val="E9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0" name="TextBox 19"/>
          <p:cNvSpPr txBox="1"/>
          <p:nvPr/>
        </p:nvSpPr>
        <p:spPr>
          <a:xfrm>
            <a:off x="5276088" y="4059936"/>
            <a:ext cx="3877056" cy="1719072"/>
          </a:xfrm>
          <a:prstGeom prst="rect">
            <a:avLst/>
          </a:prstGeom>
          <a:noFill/>
        </p:spPr>
        <p:txBody>
          <a:bodyPr wrap="square" lIns="0" rIns="0" tIns="0" bIns="0" anchor="t">
            <a:spAutoFit/>
          </a:bodyPr>
          <a:lstStyle/>
          <a:p>
            <a:pPr algn="l">
              <a:spcBef>
                <a:spcPts val="0"/>
              </a:spcBef>
              <a:spcAft>
                <a:spcPts val="200"/>
              </a:spcAft>
            </a:pPr>
            <a:r>
              <a:rPr sz="1350" b="1" i="0">
                <a:solidFill>
                  <a:srgbClr val="004094"/>
                </a:solidFill>
                <a:latin typeface="맑은 고딕"/>
                <a:ea typeface="맑은 고딕"/>
                <a:cs typeface="맑은 고딕"/>
              </a:rPr>
              <a:t>소감</a:t>
            </a:r>
          </a:p>
          <a:p>
            <a:pPr algn="l">
              <a:lnSpc>
                <a:spcPct val="125000"/>
              </a:lnSpc>
              <a:spcBef>
                <a:spcPts val="700"/>
              </a:spcBef>
              <a:spcAft>
                <a:spcPts val="200"/>
              </a:spcAft>
            </a:pPr>
            <a:r>
              <a:rPr sz="1250" b="0" i="0">
                <a:solidFill>
                  <a:srgbClr val="27251E"/>
                </a:solidFill>
                <a:latin typeface="맑은 고딕"/>
                <a:ea typeface="맑은 고딕"/>
                <a:cs typeface="맑은 고딕"/>
              </a:rPr>
              <a:t>가장 크게 배운 것은 </a:t>
            </a:r>
            <a:r>
              <a:rPr sz="1250" b="1" i="0">
                <a:solidFill>
                  <a:srgbClr val="27251E"/>
                </a:solidFill>
                <a:latin typeface="맑은 고딕"/>
                <a:ea typeface="맑은 고딕"/>
                <a:cs typeface="맑은 고딕"/>
              </a:rPr>
              <a:t>실패한 결과를 그대로 남기는 법</a:t>
            </a:r>
            <a:r>
              <a:rPr sz="1250" b="0" i="0">
                <a:solidFill>
                  <a:srgbClr val="27251E"/>
                </a:solidFill>
                <a:latin typeface="맑은 고딕"/>
                <a:ea typeface="맑은 고딕"/>
                <a:cs typeface="맑은 고딕"/>
              </a:rPr>
              <a:t>이었습니다.</a:t>
            </a:r>
          </a:p>
          <a:p>
            <a:pPr algn="l">
              <a:lnSpc>
                <a:spcPct val="125000"/>
              </a:lnSpc>
              <a:spcBef>
                <a:spcPts val="500"/>
              </a:spcBef>
              <a:spcAft>
                <a:spcPts val="200"/>
              </a:spcAft>
            </a:pPr>
            <a:r>
              <a:rPr sz="1250" b="0" i="0">
                <a:solidFill>
                  <a:srgbClr val="27251E"/>
                </a:solidFill>
                <a:latin typeface="맑은 고딕"/>
                <a:ea typeface="맑은 고딕"/>
                <a:cs typeface="맑은 고딕"/>
              </a:rPr>
              <a:t>숫자가 나쁘면 숫자를 고치고 싶어지는데, 두 번 다 원인을 찾아 다시 설계해야 했습니다.</a:t>
            </a:r>
          </a:p>
          <a:p>
            <a:pPr algn="l">
              <a:lnSpc>
                <a:spcPct val="125000"/>
              </a:lnSpc>
              <a:spcBef>
                <a:spcPts val="500"/>
              </a:spcBef>
              <a:spcAft>
                <a:spcPts val="200"/>
              </a:spcAft>
            </a:pPr>
            <a:r>
              <a:rPr sz="1250" b="0" i="0">
                <a:solidFill>
                  <a:srgbClr val="27251E"/>
                </a:solidFill>
                <a:latin typeface="맑은 고딕"/>
                <a:ea typeface="맑은 고딕"/>
                <a:cs typeface="맑은 고딕"/>
              </a:rPr>
              <a:t>성능보다 </a:t>
            </a:r>
            <a:r>
              <a:rPr sz="1250" b="1" i="0">
                <a:solidFill>
                  <a:srgbClr val="004094"/>
                </a:solidFill>
                <a:latin typeface="맑은 고딕"/>
                <a:ea typeface="맑은 고딕"/>
                <a:cs typeface="맑은 고딕"/>
              </a:rPr>
              <a:t>측정이 옳은지</a:t>
            </a:r>
            <a:r>
              <a:rPr sz="1250" b="0" i="0">
                <a:solidFill>
                  <a:srgbClr val="27251E"/>
                </a:solidFill>
                <a:latin typeface="맑은 고딕"/>
                <a:ea typeface="맑은 고딕"/>
                <a:cs typeface="맑은 고딕"/>
              </a:rPr>
              <a:t>를 먼저 의심하게 됐습니다.</a:t>
            </a:r>
          </a:p>
        </p:txBody>
      </p:sp>
      <p:sp>
        <p:nvSpPr>
          <p:cNvPr id="21" name="Rounded Rectangle 20"/>
          <p:cNvSpPr/>
          <p:nvPr/>
        </p:nvSpPr>
        <p:spPr>
          <a:xfrm>
            <a:off x="585216" y="4261104"/>
            <a:ext cx="4224528" cy="1627632"/>
          </a:xfrm>
          <a:prstGeom prst="roundRect">
            <a:avLst>
              <a:gd name="adj" fmla="val 8000"/>
            </a:avLst>
          </a:prstGeom>
          <a:solidFill>
            <a:srgbClr val="FFFFFF"/>
          </a:solidFill>
          <a:ln w="12700">
            <a:solidFill>
              <a:srgbClr val="00409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p>
        </p:txBody>
      </p:sp>
      <p:sp>
        <p:nvSpPr>
          <p:cNvPr id="22" name="TextBox 21"/>
          <p:cNvSpPr txBox="1"/>
          <p:nvPr/>
        </p:nvSpPr>
        <p:spPr>
          <a:xfrm>
            <a:off x="749808" y="4389120"/>
            <a:ext cx="3931920" cy="1389888"/>
          </a:xfrm>
          <a:prstGeom prst="rect">
            <a:avLst/>
          </a:prstGeom>
          <a:noFill/>
        </p:spPr>
        <p:txBody>
          <a:bodyPr wrap="square" lIns="0" rIns="0" tIns="0" bIns="0" anchor="t">
            <a:spAutoFit/>
          </a:bodyPr>
          <a:lstStyle/>
          <a:p>
            <a:pPr algn="l">
              <a:spcBef>
                <a:spcPts val="0"/>
              </a:spcBef>
              <a:spcAft>
                <a:spcPts val="200"/>
              </a:spcAft>
            </a:pPr>
            <a:r>
              <a:rPr sz="1300" b="1" i="0">
                <a:solidFill>
                  <a:srgbClr val="004094"/>
                </a:solidFill>
                <a:latin typeface="맑은 고딕"/>
                <a:ea typeface="맑은 고딕"/>
                <a:cs typeface="맑은 고딕"/>
              </a:rPr>
              <a:t>전공 수업이 어디에 쓰였나</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실험설계 · 통계</a:t>
            </a:r>
            <a:r>
              <a:rPr sz="1150" b="0" i="0">
                <a:solidFill>
                  <a:srgbClr val="767171"/>
                </a:solidFill>
                <a:latin typeface="맑은 고딕"/>
                <a:ea typeface="맑은 고딕"/>
                <a:cs typeface="맑은 고딕"/>
              </a:rPr>
              <a:t>   두 축을 분리하는 설계</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컴퓨터비전</a:t>
            </a:r>
            <a:r>
              <a:rPr sz="1150" b="0" i="0">
                <a:solidFill>
                  <a:srgbClr val="767171"/>
                </a:solidFill>
                <a:latin typeface="맑은 고딕"/>
                <a:ea typeface="맑은 고딕"/>
                <a:cs typeface="맑은 고딕"/>
              </a:rPr>
              <a:t>   검색 모델이 무엇을 놓치는지</a:t>
            </a:r>
          </a:p>
          <a:p>
            <a:pPr algn="l">
              <a:lnSpc>
                <a:spcPct val="115000"/>
              </a:lnSpc>
              <a:spcBef>
                <a:spcPts val="600"/>
              </a:spcBef>
              <a:spcAft>
                <a:spcPts val="200"/>
              </a:spcAft>
            </a:pPr>
            <a:r>
              <a:rPr sz="1150" b="0" i="0">
                <a:solidFill>
                  <a:srgbClr val="2E75B6"/>
                </a:solidFill>
                <a:latin typeface="맑은 고딕"/>
                <a:ea typeface="맑은 고딕"/>
                <a:cs typeface="맑은 고딕"/>
              </a:rPr>
              <a:t>· </a:t>
            </a:r>
            <a:r>
              <a:rPr sz="1150" b="1" i="0">
                <a:solidFill>
                  <a:srgbClr val="27251E"/>
                </a:solidFill>
                <a:latin typeface="맑은 고딕"/>
                <a:ea typeface="맑은 고딕"/>
                <a:cs typeface="맑은 고딕"/>
              </a:rPr>
              <a:t>소프트웨어공학</a:t>
            </a:r>
            <a:r>
              <a:rPr sz="1150" b="0" i="0">
                <a:solidFill>
                  <a:srgbClr val="767171"/>
                </a:solidFill>
                <a:latin typeface="맑은 고딕"/>
                <a:ea typeface="맑은 고딕"/>
                <a:cs typeface="맑은 고딕"/>
              </a:rPr>
              <a:t>   다시 만들 수 있는 파이프라인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rule.png"/>
          <p:cNvPicPr>
            <a:picLocks noChangeAspect="1"/>
          </p:cNvPicPr>
          <p:nvPr/>
        </p:nvPicPr>
        <p:blipFill>
          <a:blip r:embed="rId2"/>
          <a:stretch>
            <a:fillRect/>
          </a:stretch>
        </p:blipFill>
        <p:spPr>
          <a:xfrm>
            <a:off x="658368" y="402336"/>
            <a:ext cx="9262872" cy="155448"/>
          </a:xfrm>
          <a:prstGeom prst="rect">
            <a:avLst/>
          </a:prstGeom>
        </p:spPr>
      </p:pic>
      <p:sp>
        <p:nvSpPr>
          <p:cNvPr id="3" name="TextBox 2"/>
          <p:cNvSpPr txBox="1"/>
          <p:nvPr/>
        </p:nvSpPr>
        <p:spPr>
          <a:xfrm>
            <a:off x="0" y="2944368"/>
            <a:ext cx="9905969" cy="822960"/>
          </a:xfrm>
          <a:prstGeom prst="rect">
            <a:avLst/>
          </a:prstGeom>
          <a:noFill/>
        </p:spPr>
        <p:txBody>
          <a:bodyPr wrap="square" lIns="0" rIns="0" tIns="0" bIns="0" anchor="t">
            <a:spAutoFit/>
          </a:bodyPr>
          <a:lstStyle/>
          <a:p>
            <a:pPr algn="ctr">
              <a:spcBef>
                <a:spcPts val="0"/>
              </a:spcBef>
              <a:spcAft>
                <a:spcPts val="200"/>
              </a:spcAft>
            </a:pPr>
            <a:r>
              <a:rPr sz="5200" b="1" i="0">
                <a:solidFill>
                  <a:srgbClr val="0A4D9B"/>
                </a:solidFill>
                <a:latin typeface="맑은 고딕"/>
                <a:ea typeface="맑은 고딕"/>
                <a:cs typeface="맑은 고딕"/>
              </a:rPr>
              <a:t>Q &amp; A</a:t>
            </a:r>
          </a:p>
        </p:txBody>
      </p:sp>
      <p:sp>
        <p:nvSpPr>
          <p:cNvPr id="4" name="TextBox 3"/>
          <p:cNvSpPr txBox="1"/>
          <p:nvPr/>
        </p:nvSpPr>
        <p:spPr>
          <a:xfrm>
            <a:off x="0" y="3858768"/>
            <a:ext cx="9905969" cy="365760"/>
          </a:xfrm>
          <a:prstGeom prst="rect">
            <a:avLst/>
          </a:prstGeom>
          <a:noFill/>
        </p:spPr>
        <p:txBody>
          <a:bodyPr wrap="square" lIns="0" rIns="0" tIns="0" bIns="0" anchor="t">
            <a:spAutoFit/>
          </a:bodyPr>
          <a:lstStyle/>
          <a:p>
            <a:pPr algn="ctr">
              <a:spcBef>
                <a:spcPts val="0"/>
              </a:spcBef>
              <a:spcAft>
                <a:spcPts val="200"/>
              </a:spcAft>
            </a:pPr>
            <a:r>
              <a:rPr sz="1500" b="0" i="0">
                <a:solidFill>
                  <a:srgbClr val="767171"/>
                </a:solidFill>
                <a:latin typeface="맑은 고딕"/>
                <a:ea typeface="맑은 고딕"/>
                <a:cs typeface="맑은 고딕"/>
              </a:rPr>
              <a:t>감사합니다.</a:t>
            </a:r>
          </a:p>
        </p:txBody>
      </p:sp>
      <p:sp>
        <p:nvSpPr>
          <p:cNvPr id="5" name="TextBox 4"/>
          <p:cNvSpPr txBox="1"/>
          <p:nvPr/>
        </p:nvSpPr>
        <p:spPr>
          <a:xfrm>
            <a:off x="0" y="4261104"/>
            <a:ext cx="9905969" cy="310896"/>
          </a:xfrm>
          <a:prstGeom prst="rect">
            <a:avLst/>
          </a:prstGeom>
          <a:noFill/>
        </p:spPr>
        <p:txBody>
          <a:bodyPr wrap="square" lIns="0" rIns="0" tIns="0" bIns="0" anchor="t">
            <a:spAutoFit/>
          </a:bodyPr>
          <a:lstStyle/>
          <a:p>
            <a:pPr algn="ctr">
              <a:spcBef>
                <a:spcPts val="0"/>
              </a:spcBef>
              <a:spcAft>
                <a:spcPts val="200"/>
              </a:spcAft>
            </a:pPr>
            <a:r>
              <a:rPr sz="1200" b="0" i="0">
                <a:solidFill>
                  <a:srgbClr val="767171"/>
                </a:solidFill>
                <a:latin typeface="맑은 고딕"/>
                <a:ea typeface="맑은 고딕"/>
                <a:cs typeface="맑은 고딕"/>
              </a:rPr>
              <a:t>인공지능학과  2023480017  조현준   ·   VisAGI Lab</a:t>
            </a:r>
          </a:p>
        </p:txBody>
      </p:sp>
      <p:pic>
        <p:nvPicPr>
          <p:cNvPr id="6" name="Picture 5" descr="uos_logo.png"/>
          <p:cNvPicPr>
            <a:picLocks noChangeAspect="1"/>
          </p:cNvPicPr>
          <p:nvPr/>
        </p:nvPicPr>
        <p:blipFill>
          <a:blip r:embed="rId3"/>
          <a:stretch>
            <a:fillRect/>
          </a:stretch>
        </p:blipFill>
        <p:spPr>
          <a:xfrm>
            <a:off x="7543800" y="6163056"/>
            <a:ext cx="1783080" cy="292608"/>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A4 용지(210x297mm)</PresentationFormat>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공학연구인턴십 성과발표</dc:title>
  <dc:creator>조현준</dc:creator>
  <cp:lastModifiedBy>조현준</cp:lastModifiedBy>
  <cp:revision>1</cp:revision>
</cp:coreProperties>
</file>