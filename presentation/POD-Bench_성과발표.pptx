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78"/>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906000" cy="6858000" type="A4"/>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9BBB59"/>
    <a:srgbClr val="018CFF"/>
    <a:srgbClr val="FFC000"/>
    <a:srgbClr val="0A4D9B"/>
    <a:srgbClr val="FFBDEE"/>
    <a:srgbClr val="FF0D0D"/>
    <a:srgbClr val="E5BEA9"/>
    <a:srgbClr val="FF19C3"/>
    <a:srgbClr val="BDD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보통 스타일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012ECD-51FC-41F1-AA8D-1B2483CD663E}" styleName="밝은 스타일 2 - 강조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테마 스타일 2 - 강조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239" autoAdjust="0"/>
    <p:restoredTop sz="96318" autoAdjust="0"/>
  </p:normalViewPr>
  <p:slideViewPr>
    <p:cSldViewPr>
      <p:cViewPr varScale="1">
        <p:scale>
          <a:sx n="113" d="100"/>
          <a:sy n="113" d="100"/>
        </p:scale>
        <p:origin x="1536" y="96"/>
      </p:cViewPr>
      <p:guideLst>
        <p:guide orient="horz" pos="2160"/>
        <p:guide pos="31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78"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928037-2B04-46CE-8533-72F6D85990BC}" type="datetimeFigureOut">
              <a:rPr lang="ko-KR" altLang="en-US" smtClean="0"/>
              <a:t>2026-08-02</a:t>
            </a:fld>
            <a:endParaRPr lang="ko-KR" altLang="en-US"/>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5B08F9-6C7C-4ABC-B18C-511AA116288E}" type="slidenum">
              <a:rPr lang="ko-KR" altLang="en-US" smtClean="0"/>
              <a:t>‹#›</a:t>
            </a:fld>
            <a:endParaRPr lang="ko-KR" altLang="en-US"/>
          </a:p>
        </p:txBody>
      </p:sp>
    </p:spTree>
    <p:extLst>
      <p:ext uri="{BB962C8B-B14F-4D97-AF65-F5344CB8AC3E}">
        <p14:creationId xmlns:p14="http://schemas.microsoft.com/office/powerpoint/2010/main" val="50238964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안녕하십니까. 인공지능학과 조현준입니다. VisAGI Lab에서 진행한 공학연구인턴십 결과를 발표하겠습니다. 주제는 AI가 사용자의 취향과 그때그때의 상황을 동시에 만족시킬 수 있는지를 재는 시험지를 만드는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발표는 여섯 부분입니다. 무엇을 풀려고 했는지, 어떻게 만들었는지, 만들면서 부딪힌 문제를 어떻게 풀었는지, 그리고 결과와 향후 계획입니다.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VisAGI Lab은 AI가 이미지와 언어를 함께 이해하는 능력을 평가하는 연구실입니다. 저는 8주 동안 설계부터 데이터 수집 구현, 검수, 평가 실험까지 전 과정을 맡았습니다.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예를 하나 들겠습니다. 파란색을 좋아하고 주황색을 싫어하는 사람이, 한겨울 야외 시장에 하루 종일 있어야 합니다. 취향만 맞추면 파란 원피스를 추천하게 되는데 춥습니다. 상황만 맞추면 주황 후드를 추천하는데 싫어하는 색입니다. 기존 평가는 이 둘을 모두 '개인화된 답'으로 봅니다. 그래서 저는 네 가지 선지를 만들었고, 둘 다 만족하는 A만 정답으로 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채점 방식이 이 연구의 핵심입니다. 답을 하나만 받아도 두 가지를 따로 잴 수 있게 했습니다. A를 고르면 둘 다 맞춘 것이고, B를 고르면 상황은 아는데 취향을 무시한 것, C를 고르면 반대입니다. 그래서 '틀렸다'가 아니라 '어느 쪽에서 틀렸다'까지 나옵니다. 찍어서 맞을 확률은 정확히 25%로 맞춰 뒀습니다.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문항은 세 단계로 만듭니다. 먼저 사람 24명의 취향을 규칙으로 배정하고, 다음으로 누구나 같은 답을 낼 상황 59개를 만듭니다. 한겨울 야외라면 후드는 맞고 원피스는 아니다, 이렇게 이견이 없는 것만 골랐습니다. 마지막으로 둘을 곱해 2,621개 문항이 나옵니다. 세 단계 모두 사람 손이 안 들어가서, 같은 씨앗이면 항상 같은 데이터가 나옵니다. 제가 유리한 데이터만 골랐을 가능성을 없애는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그런데 진짜 어려운 건 사진이었습니다. 문항 하나에 사진이 네 장 필요한데, 색과 옷과 무늬가 정확히 맞아야 합니다. '파란 후드'를 검색한다고 그런 사진이 그냥 나오지 않습니다. 16만 장에서 시작해 옷 부분만 잘라내고 세 가지를 각각 확인한 뒤, 마지막엔 제가 직접 1,223칸을 눈으로 확인했습니다. 그 결과 문항의 97.3%가 사진 네 장을 모두 확보했습니다.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첫 번째 문제입니다. 체크무늬 셔츠를 찾으면 주머니에만 체크가 있는 옷이 통과했습니다. 검색어를 자세히 쓰고, 재정렬 모델을 붙이고, AI에게 판정을 맡겨 봤지만 셋 다 실패했습니다. 원인을 파보니 세 방법 모두 사진 한 장을 숫자 하나로 요약해서 비교한다는 공통점이 있었습니다. 무늬가 어디 있는지가 평균에 묻힌 겁니다. 그래서 옷을 격자로 나눠 칸마다 따로 확인하도록 바꿨고, 모델을 새로 학습시키지 않고 해결했습니다.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 두 번째 문제입니다. 문항 3,027개를 만들었는데 사진 네 장이 다 있는 건 33%뿐이었습니다. 그런데 진짜 문제는 수율이 아니었습니다. 버려진 문항이 한쪽에 몰려 있어서, 설계 단계에서 맞춰 놓은 균형이 깨져 버린 겁니다. 그래서 만들 때부터 사진이 있는 것만 후보로 두도록 순서를 바꿨더니 97%로 올라가면서 균형도 그대로 남았습니다. 나중에 거르면 된다는 생각이 틀렸다는 걸 배웠습니다.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 결과입니다. 상황만 물어보면 86점, 취향만 물어보면 95점으로 각각은 잘합니다. 그리고 한쪽만 줬을 때 다른 쪽 점수가 정확히 찍기 수준으로 나오는데, 이게 두 가지를 제대로 분리했다는 증거입니다. 그런데 둘을 같이 주면 상황 점수가 86에서 70으로 16점 떨어집니다. 취향은 그대로인데 상황 쪽이 밀려납니다. 결국 둘 다 맞춘 비율은 64%에 그칩니다.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세부적으로 보면 두 종류의 상황 모두 같은 패턴이고, 취향 중에서는 무늬가 가장 약합니다. 색은 75점인데 무늬는 51점입니다. 이번 인턴십에서 남긴 것은 네 가지입니다. 문제를 나눌 수 있는 형태로 바꿨고, 세운 가설을 데이터로 확인했고, 누구나 다시 만들 수 있는 데이터셋을 남겼고, 검색 단계의 한계를 진단해 우회했습니다.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 앞으로는 남은 사진 라벨 검증을 마무리하고 상용 모델로 평가를 넓혀서 논문 투고 수준으로 정리하려 합니다. 진로로는 AI 평가 방법론을 주제로 대학원 진학을 준비하고 있습니다. 소감을 말씀드리면, 가장 크게 배운 것은 실패한 결과를 그대로 남기는 법이었습니다. 숫자가 나쁘면 숫자를 고치고 싶어지는데, 두 번 다 원인을 찾아 다시 설계해야 했습니다. 성능보다 측정이 옳은지를 먼저 의심하게 됐고, 그게 전공 수업에서 배운 실험 설계를 처음으로 제 손으로 써 본 경험이었습니다.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6"/>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579397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9492264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82506" y="4406901"/>
            <a:ext cx="8420100" cy="1362075"/>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839379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73182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2346403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2599342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63686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95300" y="273050"/>
            <a:ext cx="3259006" cy="1162050"/>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19443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941645" y="4800600"/>
            <a:ext cx="5943600" cy="566738"/>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p>
        </p:txBody>
      </p:sp>
      <p:sp>
        <p:nvSpPr>
          <p:cNvPr id="4" name="텍스트 개체 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638323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3059891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181850" y="274639"/>
            <a:ext cx="2228850" cy="5851525"/>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95300" y="274639"/>
            <a:ext cx="6521450" cy="5851525"/>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7701021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434405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585216" y="3803904"/>
            <a:ext cx="8778240" cy="822960"/>
          </a:xfrm>
          <a:prstGeom prst="rect">
            <a:avLst/>
          </a:prstGeom>
          <a:noFill/>
        </p:spPr>
        <p:txBody>
          <a:bodyPr wrap="square" lIns="0" rIns="0" tIns="0" bIns="0" anchor="t">
            <a:spAutoFit/>
          </a:bodyPr>
          <a:lstStyle/>
          <a:p>
            <a:pPr algn="l">
              <a:spcBef>
                <a:spcPts val="0"/>
              </a:spcBef>
              <a:spcAft>
                <a:spcPts val="200"/>
              </a:spcAft>
            </a:pPr>
            <a:r>
              <a:rPr sz="4000" b="1" i="0">
                <a:solidFill>
                  <a:srgbClr val="004094"/>
                </a:solidFill>
                <a:latin typeface="맑은 고딕"/>
                <a:ea typeface="맑은 고딕"/>
                <a:cs typeface="맑은 고딕"/>
              </a:rPr>
              <a:t>공학연구인턴십 </a:t>
            </a:r>
            <a:r>
              <a:rPr sz="4000" b="1" i="0">
                <a:solidFill>
                  <a:srgbClr val="004094"/>
                </a:solidFill>
                <a:latin typeface="맑은 고딕"/>
                <a:ea typeface="맑은 고딕"/>
                <a:cs typeface="맑은 고딕"/>
              </a:rPr>
              <a:t>성과발표</a:t>
            </a:r>
          </a:p>
        </p:txBody>
      </p:sp>
      <p:sp>
        <p:nvSpPr>
          <p:cNvPr id="4" name="TextBox 3"/>
          <p:cNvSpPr txBox="1"/>
          <p:nvPr/>
        </p:nvSpPr>
        <p:spPr>
          <a:xfrm>
            <a:off x="585216" y="4681728"/>
            <a:ext cx="8869680" cy="868680"/>
          </a:xfrm>
          <a:prstGeom prst="rect">
            <a:avLst/>
          </a:prstGeom>
          <a:noFill/>
        </p:spPr>
        <p:txBody>
          <a:bodyPr wrap="square" lIns="0" rIns="0" tIns="0" bIns="0" anchor="t">
            <a:spAutoFit/>
          </a:bodyPr>
          <a:lstStyle/>
          <a:p>
            <a:pPr algn="l">
              <a:spcBef>
                <a:spcPts val="0"/>
              </a:spcBef>
              <a:spcAft>
                <a:spcPts val="200"/>
              </a:spcAft>
            </a:pPr>
            <a:r>
              <a:rPr sz="1700" b="1" i="0">
                <a:solidFill>
                  <a:srgbClr val="0A4D9B"/>
                </a:solidFill>
                <a:latin typeface="맑은 고딕"/>
                <a:ea typeface="맑은 고딕"/>
                <a:cs typeface="맑은 고딕"/>
              </a:rPr>
              <a:t>POD-Bench</a:t>
            </a:r>
            <a:r>
              <a:rPr sz="1700" b="0" i="0">
                <a:solidFill>
                  <a:srgbClr val="27251E"/>
                </a:solidFill>
                <a:latin typeface="맑은 고딕"/>
                <a:ea typeface="맑은 고딕"/>
                <a:cs typeface="맑은 고딕"/>
              </a:rPr>
              <a:t>  ·  AI는 </a:t>
            </a:r>
            <a:r>
              <a:rPr sz="1700" b="1" i="0">
                <a:solidFill>
                  <a:srgbClr val="27251E"/>
                </a:solidFill>
                <a:latin typeface="맑은 고딕"/>
                <a:ea typeface="맑은 고딕"/>
                <a:cs typeface="맑은 고딕"/>
              </a:rPr>
              <a:t>내 취향</a:t>
            </a:r>
            <a:r>
              <a:rPr sz="1700" b="0" i="0">
                <a:solidFill>
                  <a:srgbClr val="27251E"/>
                </a:solidFill>
                <a:latin typeface="맑은 고딕"/>
                <a:ea typeface="맑은 고딕"/>
                <a:cs typeface="맑은 고딕"/>
              </a:rPr>
              <a:t>과 </a:t>
            </a:r>
            <a:r>
              <a:rPr sz="1700" b="1" i="0">
                <a:solidFill>
                  <a:srgbClr val="27251E"/>
                </a:solidFill>
                <a:latin typeface="맑은 고딕"/>
                <a:ea typeface="맑은 고딕"/>
                <a:cs typeface="맑은 고딕"/>
              </a:rPr>
              <a:t>지금 상황</a:t>
            </a:r>
            <a:r>
              <a:rPr sz="1700" b="0" i="0">
                <a:solidFill>
                  <a:srgbClr val="27251E"/>
                </a:solidFill>
                <a:latin typeface="맑은 고딕"/>
                <a:ea typeface="맑은 고딕"/>
                <a:cs typeface="맑은 고딕"/>
              </a:rPr>
              <a:t>을 동시에 만족시킬 수 있는가?</a:t>
            </a:r>
          </a:p>
          <a:p>
            <a:pPr algn="l">
              <a:spcBef>
                <a:spcPts val="400"/>
              </a:spcBef>
              <a:spcAft>
                <a:spcPts val="200"/>
              </a:spcAft>
            </a:pPr>
            <a:r>
              <a:rPr sz="1250" b="0" i="0">
                <a:solidFill>
                  <a:srgbClr val="767171"/>
                </a:solidFill>
                <a:latin typeface="맑은 고딕"/>
                <a:ea typeface="맑은 고딕"/>
                <a:cs typeface="맑은 고딕"/>
              </a:rPr>
              <a:t>Personalized Outfit Decision Benchmark for Vision-Language Models</a:t>
            </a:r>
          </a:p>
        </p:txBody>
      </p:sp>
      <p:sp>
        <p:nvSpPr>
          <p:cNvPr id="5" name="TextBox 4"/>
          <p:cNvSpPr txBox="1"/>
          <p:nvPr/>
        </p:nvSpPr>
        <p:spPr>
          <a:xfrm>
            <a:off x="585216" y="5888736"/>
            <a:ext cx="3840480" cy="566928"/>
          </a:xfrm>
          <a:prstGeom prst="rect">
            <a:avLst/>
          </a:prstGeom>
          <a:noFill/>
        </p:spPr>
        <p:txBody>
          <a:bodyPr wrap="square" lIns="0" rIns="0" tIns="0" bIns="0" anchor="t">
            <a:spAutoFit/>
          </a:bodyPr>
          <a:lstStyle/>
          <a:p>
            <a:pPr algn="l">
              <a:spcBef>
                <a:spcPts val="0"/>
              </a:spcBef>
              <a:spcAft>
                <a:spcPts val="200"/>
              </a:spcAft>
            </a:pPr>
            <a:r>
              <a:rPr sz="1400" b="1" i="0">
                <a:solidFill>
                  <a:srgbClr val="004094"/>
                </a:solidFill>
                <a:latin typeface="맑은 고딕"/>
                <a:ea typeface="맑은 고딕"/>
                <a:cs typeface="맑은 고딕"/>
              </a:rPr>
              <a:t>VisAGI Lab</a:t>
            </a:r>
          </a:p>
          <a:p>
            <a:pPr algn="l">
              <a:spcBef>
                <a:spcPts val="0"/>
              </a:spcBef>
              <a:spcAft>
                <a:spcPts val="200"/>
              </a:spcAft>
            </a:pPr>
            <a:r>
              <a:rPr sz="1400" b="1" i="0">
                <a:solidFill>
                  <a:srgbClr val="004094"/>
                </a:solidFill>
                <a:latin typeface="맑은 고딕"/>
                <a:ea typeface="맑은 고딕"/>
                <a:cs typeface="맑은 고딕"/>
              </a:rPr>
              <a:t>인공지능학과  2023480017  조현준</a:t>
            </a:r>
          </a:p>
        </p:txBody>
      </p:sp>
      <p:sp>
        <p:nvSpPr>
          <p:cNvPr id="6" name="TextBox 5"/>
          <p:cNvSpPr txBox="1"/>
          <p:nvPr/>
        </p:nvSpPr>
        <p:spPr>
          <a:xfrm>
            <a:off x="6035040" y="5943600"/>
            <a:ext cx="2103120" cy="274320"/>
          </a:xfrm>
          <a:prstGeom prst="rect">
            <a:avLst/>
          </a:prstGeom>
          <a:noFill/>
        </p:spPr>
        <p:txBody>
          <a:bodyPr wrap="square" lIns="0" rIns="0" tIns="0" bIns="0" anchor="t">
            <a:spAutoFit/>
          </a:bodyPr>
          <a:lstStyle/>
          <a:p>
            <a:pPr algn="r">
              <a:spcBef>
                <a:spcPts val="0"/>
              </a:spcBef>
              <a:spcAft>
                <a:spcPts val="200"/>
              </a:spcAft>
            </a:pPr>
            <a:r>
              <a:rPr sz="1200" b="0" i="0">
                <a:solidFill>
                  <a:srgbClr val="767171"/>
                </a:solidFill>
                <a:latin typeface="맑은 고딕"/>
                <a:ea typeface="맑은 고딕"/>
                <a:cs typeface="맑은 고딕"/>
              </a:rPr>
              <a:t>2026. 08. 05.</a:t>
            </a:r>
          </a:p>
        </p:txBody>
      </p:sp>
      <p:pic>
        <p:nvPicPr>
          <p:cNvPr id="7" name="Picture 6" descr="uos_logo.png"/>
          <p:cNvPicPr>
            <a:picLocks noChangeAspect="1"/>
          </p:cNvPicPr>
          <p:nvPr/>
        </p:nvPicPr>
        <p:blipFill>
          <a:blip r:embed="rId3"/>
          <a:stretch>
            <a:fillRect/>
          </a:stretch>
        </p:blipFill>
        <p:spPr>
          <a:xfrm>
            <a:off x="7543800" y="6163056"/>
            <a:ext cx="1783080" cy="29260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2</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목차</a:t>
            </a:r>
          </a:p>
        </p:txBody>
      </p:sp>
      <p:sp>
        <p:nvSpPr>
          <p:cNvPr id="5" name="Rounded Rectangle 4"/>
          <p:cNvSpPr/>
          <p:nvPr/>
        </p:nvSpPr>
        <p:spPr>
          <a:xfrm>
            <a:off x="585216" y="1810512"/>
            <a:ext cx="8732520" cy="658368"/>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6" name="Rounded Rectangle 5"/>
          <p:cNvSpPr/>
          <p:nvPr/>
        </p:nvSpPr>
        <p:spPr>
          <a:xfrm>
            <a:off x="749808" y="1965960"/>
            <a:ext cx="402336"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01</a:t>
            </a:r>
          </a:p>
        </p:txBody>
      </p:sp>
      <p:sp>
        <p:nvSpPr>
          <p:cNvPr id="7" name="TextBox 6"/>
          <p:cNvSpPr txBox="1"/>
          <p:nvPr/>
        </p:nvSpPr>
        <p:spPr>
          <a:xfrm>
            <a:off x="1353312" y="1975104"/>
            <a:ext cx="5852160" cy="365760"/>
          </a:xfrm>
          <a:prstGeom prst="rect">
            <a:avLst/>
          </a:prstGeom>
          <a:noFill/>
        </p:spPr>
        <p:txBody>
          <a:bodyPr wrap="square" lIns="0" rIns="0" tIns="0" bIns="0" anchor="t">
            <a:spAutoFit/>
          </a:bodyPr>
          <a:lstStyle/>
          <a:p>
            <a:pPr algn="l">
              <a:spcBef>
                <a:spcPts val="0"/>
              </a:spcBef>
              <a:spcAft>
                <a:spcPts val="200"/>
              </a:spcAft>
            </a:pPr>
            <a:r>
              <a:rPr sz="1600" b="1" i="0">
                <a:solidFill>
                  <a:srgbClr val="0A4D9B"/>
                </a:solidFill>
                <a:latin typeface="맑은 고딕"/>
                <a:ea typeface="맑은 고딕"/>
                <a:cs typeface="맑은 고딕"/>
              </a:rPr>
              <a:t>연구실 · 인턴십 개요</a:t>
            </a:r>
          </a:p>
        </p:txBody>
      </p:sp>
      <p:sp>
        <p:nvSpPr>
          <p:cNvPr id="8" name="TextBox 7"/>
          <p:cNvSpPr txBox="1"/>
          <p:nvPr/>
        </p:nvSpPr>
        <p:spPr>
          <a:xfrm>
            <a:off x="8311896" y="1993392"/>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0:20</a:t>
            </a:r>
          </a:p>
        </p:txBody>
      </p:sp>
      <p:sp>
        <p:nvSpPr>
          <p:cNvPr id="9" name="Rounded Rectangle 8"/>
          <p:cNvSpPr/>
          <p:nvPr/>
        </p:nvSpPr>
        <p:spPr>
          <a:xfrm>
            <a:off x="585216" y="2542032"/>
            <a:ext cx="8732520" cy="658368"/>
          </a:xfrm>
          <a:prstGeom prst="roundRect">
            <a:avLst>
              <a:gd name="adj" fmla="val 16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0" name="Rounded Rectangle 9"/>
          <p:cNvSpPr/>
          <p:nvPr/>
        </p:nvSpPr>
        <p:spPr>
          <a:xfrm>
            <a:off x="749808" y="2697480"/>
            <a:ext cx="402336"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02</a:t>
            </a:r>
          </a:p>
        </p:txBody>
      </p:sp>
      <p:sp>
        <p:nvSpPr>
          <p:cNvPr id="11" name="TextBox 10"/>
          <p:cNvSpPr txBox="1"/>
          <p:nvPr/>
        </p:nvSpPr>
        <p:spPr>
          <a:xfrm>
            <a:off x="1353312" y="2706624"/>
            <a:ext cx="5852160" cy="365760"/>
          </a:xfrm>
          <a:prstGeom prst="rect">
            <a:avLst/>
          </a:prstGeom>
          <a:noFill/>
        </p:spPr>
        <p:txBody>
          <a:bodyPr wrap="square" lIns="0" rIns="0" tIns="0" bIns="0" anchor="t">
            <a:spAutoFit/>
          </a:bodyPr>
          <a:lstStyle/>
          <a:p>
            <a:pPr algn="l">
              <a:spcBef>
                <a:spcPts val="0"/>
              </a:spcBef>
              <a:spcAft>
                <a:spcPts val="200"/>
              </a:spcAft>
            </a:pPr>
            <a:r>
              <a:rPr sz="1600" b="1" i="0">
                <a:solidFill>
                  <a:srgbClr val="0A4D9B"/>
                </a:solidFill>
                <a:latin typeface="맑은 고딕"/>
                <a:ea typeface="맑은 고딕"/>
                <a:cs typeface="맑은 고딕"/>
              </a:rPr>
              <a:t>무엇을 풀려고 했나</a:t>
            </a:r>
          </a:p>
        </p:txBody>
      </p:sp>
      <p:sp>
        <p:nvSpPr>
          <p:cNvPr id="12" name="TextBox 11"/>
          <p:cNvSpPr txBox="1"/>
          <p:nvPr/>
        </p:nvSpPr>
        <p:spPr>
          <a:xfrm>
            <a:off x="8311896" y="2724912"/>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0:40</a:t>
            </a:r>
          </a:p>
        </p:txBody>
      </p:sp>
      <p:sp>
        <p:nvSpPr>
          <p:cNvPr id="13" name="Rounded Rectangle 12"/>
          <p:cNvSpPr/>
          <p:nvPr/>
        </p:nvSpPr>
        <p:spPr>
          <a:xfrm>
            <a:off x="585216" y="3273552"/>
            <a:ext cx="8732520" cy="658368"/>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4" name="Rounded Rectangle 13"/>
          <p:cNvSpPr/>
          <p:nvPr/>
        </p:nvSpPr>
        <p:spPr>
          <a:xfrm>
            <a:off x="749808" y="3429000"/>
            <a:ext cx="402336"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03</a:t>
            </a:r>
          </a:p>
        </p:txBody>
      </p:sp>
      <p:sp>
        <p:nvSpPr>
          <p:cNvPr id="15" name="TextBox 14"/>
          <p:cNvSpPr txBox="1"/>
          <p:nvPr/>
        </p:nvSpPr>
        <p:spPr>
          <a:xfrm>
            <a:off x="1353312" y="3438144"/>
            <a:ext cx="5852160" cy="365760"/>
          </a:xfrm>
          <a:prstGeom prst="rect">
            <a:avLst/>
          </a:prstGeom>
          <a:noFill/>
        </p:spPr>
        <p:txBody>
          <a:bodyPr wrap="square" lIns="0" rIns="0" tIns="0" bIns="0" anchor="t">
            <a:spAutoFit/>
          </a:bodyPr>
          <a:lstStyle/>
          <a:p>
            <a:pPr algn="l">
              <a:spcBef>
                <a:spcPts val="0"/>
              </a:spcBef>
              <a:spcAft>
                <a:spcPts val="200"/>
              </a:spcAft>
            </a:pPr>
            <a:r>
              <a:rPr sz="1600" b="1" i="0">
                <a:solidFill>
                  <a:srgbClr val="0A4D9B"/>
                </a:solidFill>
                <a:latin typeface="맑은 고딕"/>
                <a:ea typeface="맑은 고딕"/>
                <a:cs typeface="맑은 고딕"/>
              </a:rPr>
              <a:t>어떻게 만들었나 — Method</a:t>
            </a:r>
          </a:p>
        </p:txBody>
      </p:sp>
      <p:sp>
        <p:nvSpPr>
          <p:cNvPr id="16" name="TextBox 15"/>
          <p:cNvSpPr txBox="1"/>
          <p:nvPr/>
        </p:nvSpPr>
        <p:spPr>
          <a:xfrm>
            <a:off x="8311896" y="3456432"/>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1:30</a:t>
            </a:r>
          </a:p>
        </p:txBody>
      </p:sp>
      <p:sp>
        <p:nvSpPr>
          <p:cNvPr id="17" name="Rounded Rectangle 16"/>
          <p:cNvSpPr/>
          <p:nvPr/>
        </p:nvSpPr>
        <p:spPr>
          <a:xfrm>
            <a:off x="585216" y="4005072"/>
            <a:ext cx="8732520" cy="658368"/>
          </a:xfrm>
          <a:prstGeom prst="roundRect">
            <a:avLst>
              <a:gd name="adj" fmla="val 16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8" name="Rounded Rectangle 17"/>
          <p:cNvSpPr/>
          <p:nvPr/>
        </p:nvSpPr>
        <p:spPr>
          <a:xfrm>
            <a:off x="749808" y="4160520"/>
            <a:ext cx="402336"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04</a:t>
            </a:r>
          </a:p>
        </p:txBody>
      </p:sp>
      <p:sp>
        <p:nvSpPr>
          <p:cNvPr id="19" name="TextBox 18"/>
          <p:cNvSpPr txBox="1"/>
          <p:nvPr/>
        </p:nvSpPr>
        <p:spPr>
          <a:xfrm>
            <a:off x="1353312" y="4169663"/>
            <a:ext cx="5852160" cy="365760"/>
          </a:xfrm>
          <a:prstGeom prst="rect">
            <a:avLst/>
          </a:prstGeom>
          <a:noFill/>
        </p:spPr>
        <p:txBody>
          <a:bodyPr wrap="square" lIns="0" rIns="0" tIns="0" bIns="0" anchor="t">
            <a:spAutoFit/>
          </a:bodyPr>
          <a:lstStyle/>
          <a:p>
            <a:pPr algn="l">
              <a:spcBef>
                <a:spcPts val="0"/>
              </a:spcBef>
              <a:spcAft>
                <a:spcPts val="200"/>
              </a:spcAft>
            </a:pPr>
            <a:r>
              <a:rPr sz="1600" b="1" i="0">
                <a:solidFill>
                  <a:srgbClr val="0A4D9B"/>
                </a:solidFill>
                <a:latin typeface="맑은 고딕"/>
                <a:ea typeface="맑은 고딕"/>
                <a:cs typeface="맑은 고딕"/>
              </a:rPr>
              <a:t>부딪힌 문제와 해결</a:t>
            </a:r>
          </a:p>
        </p:txBody>
      </p:sp>
      <p:sp>
        <p:nvSpPr>
          <p:cNvPr id="20" name="TextBox 19"/>
          <p:cNvSpPr txBox="1"/>
          <p:nvPr/>
        </p:nvSpPr>
        <p:spPr>
          <a:xfrm>
            <a:off x="8311896" y="4187952"/>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1:20</a:t>
            </a:r>
          </a:p>
        </p:txBody>
      </p:sp>
      <p:sp>
        <p:nvSpPr>
          <p:cNvPr id="21" name="Rounded Rectangle 20"/>
          <p:cNvSpPr/>
          <p:nvPr/>
        </p:nvSpPr>
        <p:spPr>
          <a:xfrm>
            <a:off x="585216" y="4736592"/>
            <a:ext cx="8732520" cy="658368"/>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2" name="Rounded Rectangle 21"/>
          <p:cNvSpPr/>
          <p:nvPr/>
        </p:nvSpPr>
        <p:spPr>
          <a:xfrm>
            <a:off x="749808" y="4892040"/>
            <a:ext cx="402336"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05</a:t>
            </a:r>
          </a:p>
        </p:txBody>
      </p:sp>
      <p:sp>
        <p:nvSpPr>
          <p:cNvPr id="23" name="TextBox 22"/>
          <p:cNvSpPr txBox="1"/>
          <p:nvPr/>
        </p:nvSpPr>
        <p:spPr>
          <a:xfrm>
            <a:off x="1353312" y="4901183"/>
            <a:ext cx="5852160" cy="365760"/>
          </a:xfrm>
          <a:prstGeom prst="rect">
            <a:avLst/>
          </a:prstGeom>
          <a:noFill/>
        </p:spPr>
        <p:txBody>
          <a:bodyPr wrap="square" lIns="0" rIns="0" tIns="0" bIns="0" anchor="t">
            <a:spAutoFit/>
          </a:bodyPr>
          <a:lstStyle/>
          <a:p>
            <a:pPr algn="l">
              <a:spcBef>
                <a:spcPts val="0"/>
              </a:spcBef>
              <a:spcAft>
                <a:spcPts val="200"/>
              </a:spcAft>
            </a:pPr>
            <a:r>
              <a:rPr sz="1600" b="1" i="0">
                <a:solidFill>
                  <a:srgbClr val="0A4D9B"/>
                </a:solidFill>
                <a:latin typeface="맑은 고딕"/>
                <a:ea typeface="맑은 고딕"/>
                <a:cs typeface="맑은 고딕"/>
              </a:rPr>
              <a:t>결과와 기여</a:t>
            </a:r>
          </a:p>
        </p:txBody>
      </p:sp>
      <p:sp>
        <p:nvSpPr>
          <p:cNvPr id="24" name="TextBox 23"/>
          <p:cNvSpPr txBox="1"/>
          <p:nvPr/>
        </p:nvSpPr>
        <p:spPr>
          <a:xfrm>
            <a:off x="8311896" y="4919472"/>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0:50</a:t>
            </a:r>
          </a:p>
        </p:txBody>
      </p:sp>
      <p:sp>
        <p:nvSpPr>
          <p:cNvPr id="25" name="Rounded Rectangle 24"/>
          <p:cNvSpPr/>
          <p:nvPr/>
        </p:nvSpPr>
        <p:spPr>
          <a:xfrm>
            <a:off x="585216" y="5468112"/>
            <a:ext cx="8732520" cy="658368"/>
          </a:xfrm>
          <a:prstGeom prst="roundRect">
            <a:avLst>
              <a:gd name="adj" fmla="val 16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6" name="Rounded Rectangle 25"/>
          <p:cNvSpPr/>
          <p:nvPr/>
        </p:nvSpPr>
        <p:spPr>
          <a:xfrm>
            <a:off x="749808" y="5623559"/>
            <a:ext cx="402336"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06</a:t>
            </a:r>
          </a:p>
        </p:txBody>
      </p:sp>
      <p:sp>
        <p:nvSpPr>
          <p:cNvPr id="27" name="TextBox 26"/>
          <p:cNvSpPr txBox="1"/>
          <p:nvPr/>
        </p:nvSpPr>
        <p:spPr>
          <a:xfrm>
            <a:off x="1353312" y="5632703"/>
            <a:ext cx="5852160" cy="365760"/>
          </a:xfrm>
          <a:prstGeom prst="rect">
            <a:avLst/>
          </a:prstGeom>
          <a:noFill/>
        </p:spPr>
        <p:txBody>
          <a:bodyPr wrap="square" lIns="0" rIns="0" tIns="0" bIns="0" anchor="t">
            <a:spAutoFit/>
          </a:bodyPr>
          <a:lstStyle/>
          <a:p>
            <a:pPr algn="l">
              <a:spcBef>
                <a:spcPts val="0"/>
              </a:spcBef>
              <a:spcAft>
                <a:spcPts val="200"/>
              </a:spcAft>
            </a:pPr>
            <a:r>
              <a:rPr sz="1600" b="1" i="0">
                <a:solidFill>
                  <a:srgbClr val="0A4D9B"/>
                </a:solidFill>
                <a:latin typeface="맑은 고딕"/>
                <a:ea typeface="맑은 고딕"/>
                <a:cs typeface="맑은 고딕"/>
              </a:rPr>
              <a:t>향후 계획 · 소감</a:t>
            </a:r>
          </a:p>
        </p:txBody>
      </p:sp>
      <p:sp>
        <p:nvSpPr>
          <p:cNvPr id="28" name="TextBox 27"/>
          <p:cNvSpPr txBox="1"/>
          <p:nvPr/>
        </p:nvSpPr>
        <p:spPr>
          <a:xfrm>
            <a:off x="8311896" y="5650992"/>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0:30</a:t>
            </a:r>
          </a:p>
        </p:txBody>
      </p:sp>
      <p:sp>
        <p:nvSpPr>
          <p:cNvPr id="29" name="TextBox 28"/>
          <p:cNvSpPr txBox="1"/>
          <p:nvPr/>
        </p:nvSpPr>
        <p:spPr>
          <a:xfrm>
            <a:off x="585216" y="6272784"/>
            <a:ext cx="8732520" cy="310896"/>
          </a:xfrm>
          <a:prstGeom prst="rect">
            <a:avLst/>
          </a:prstGeom>
          <a:noFill/>
        </p:spPr>
        <p:txBody>
          <a:bodyPr wrap="square" lIns="0" rIns="0" tIns="0" bIns="0" anchor="t">
            <a:spAutoFit/>
          </a:bodyPr>
          <a:lstStyle/>
          <a:p>
            <a:pPr algn="l">
              <a:spcBef>
                <a:spcPts val="0"/>
              </a:spcBef>
              <a:spcAft>
                <a:spcPts val="200"/>
              </a:spcAft>
            </a:pPr>
            <a:r>
              <a:rPr sz="1200" b="1" i="0">
                <a:solidFill>
                  <a:srgbClr val="C00000"/>
                </a:solidFill>
                <a:latin typeface="맑은 고딕"/>
                <a:ea typeface="맑은 고딕"/>
                <a:cs typeface="맑은 고딕"/>
              </a:rPr>
              <a:t>발표 5분</a:t>
            </a:r>
            <a:r>
              <a:rPr sz="1200" b="0" i="0">
                <a:solidFill>
                  <a:srgbClr val="767171"/>
                </a:solidFill>
                <a:latin typeface="맑은 고딕"/>
                <a:ea typeface="맑은 고딕"/>
                <a:cs typeface="맑은 고딕"/>
              </a:rPr>
              <a:t>  ·  핵심 method와 결과 중심으로 구성했습니다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3</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연구실 · 인턴십 개요</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1" i="0">
                <a:solidFill>
                  <a:srgbClr val="0A4D9B"/>
                </a:solidFill>
                <a:latin typeface="맑은 고딕"/>
                <a:ea typeface="맑은 고딕"/>
                <a:cs typeface="맑은 고딕"/>
              </a:rPr>
              <a:t>VisAGI Lab</a:t>
            </a:r>
            <a:r>
              <a:rPr sz="1500" b="0" i="0">
                <a:solidFill>
                  <a:srgbClr val="27251E"/>
                </a:solidFill>
                <a:latin typeface="맑은 고딕"/>
                <a:ea typeface="맑은 고딕"/>
                <a:cs typeface="맑은 고딕"/>
              </a:rPr>
              <a:t>  ·  AI가 이미지와 언어를 함께 이해하는 능력을 </a:t>
            </a:r>
            <a:r>
              <a:rPr sz="1500" b="1" i="0">
                <a:solidFill>
                  <a:srgbClr val="27251E"/>
                </a:solidFill>
                <a:latin typeface="맑은 고딕"/>
                <a:ea typeface="맑은 고딕"/>
                <a:cs typeface="맑은 고딕"/>
              </a:rPr>
              <a:t>평가하고 개선</a:t>
            </a:r>
            <a:r>
              <a:rPr sz="1500" b="0" i="0">
                <a:solidFill>
                  <a:srgbClr val="27251E"/>
                </a:solidFill>
                <a:latin typeface="맑은 고딕"/>
                <a:ea typeface="맑은 고딕"/>
                <a:cs typeface="맑은 고딕"/>
              </a:rPr>
              <a:t>하는 연구실</a:t>
            </a:r>
          </a:p>
        </p:txBody>
      </p:sp>
      <p:sp>
        <p:nvSpPr>
          <p:cNvPr id="6" name="Rounded Rectangle 5"/>
          <p:cNvSpPr/>
          <p:nvPr/>
        </p:nvSpPr>
        <p:spPr>
          <a:xfrm>
            <a:off x="585216" y="2212848"/>
            <a:ext cx="2048256" cy="932688"/>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000" b="1" i="0">
                <a:solidFill>
                  <a:srgbClr val="004094"/>
                </a:solidFill>
                <a:latin typeface="맑은 고딕"/>
                <a:ea typeface="맑은 고딕"/>
                <a:cs typeface="맑은 고딕"/>
              </a:rPr>
              <a:t>2,621</a:t>
            </a:r>
          </a:p>
          <a:p>
            <a:pPr algn="ctr">
              <a:spcBef>
                <a:spcPts val="0"/>
              </a:spcBef>
              <a:spcAft>
                <a:spcPts val="200"/>
              </a:spcAft>
            </a:pPr>
            <a:r>
              <a:rPr sz="1150" b="0" i="0">
                <a:solidFill>
                  <a:srgbClr val="27251E"/>
                </a:solidFill>
                <a:latin typeface="맑은 고딕"/>
                <a:ea typeface="맑은 고딕"/>
                <a:cs typeface="맑은 고딕"/>
              </a:rPr>
              <a:t>만든 문항</a:t>
            </a:r>
          </a:p>
        </p:txBody>
      </p:sp>
      <p:sp>
        <p:nvSpPr>
          <p:cNvPr id="7" name="Rounded Rectangle 6"/>
          <p:cNvSpPr/>
          <p:nvPr/>
        </p:nvSpPr>
        <p:spPr>
          <a:xfrm>
            <a:off x="2724912" y="2212848"/>
            <a:ext cx="2048256" cy="932688"/>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000" b="1" i="0">
                <a:solidFill>
                  <a:srgbClr val="004094"/>
                </a:solidFill>
                <a:latin typeface="맑은 고딕"/>
                <a:ea typeface="맑은 고딕"/>
                <a:cs typeface="맑은 고딕"/>
              </a:rPr>
              <a:t>59</a:t>
            </a:r>
          </a:p>
          <a:p>
            <a:pPr algn="ctr">
              <a:spcBef>
                <a:spcPts val="0"/>
              </a:spcBef>
              <a:spcAft>
                <a:spcPts val="200"/>
              </a:spcAft>
            </a:pPr>
            <a:r>
              <a:rPr sz="1150" b="0" i="0">
                <a:solidFill>
                  <a:srgbClr val="27251E"/>
                </a:solidFill>
                <a:latin typeface="맑은 고딕"/>
                <a:ea typeface="맑은 고딕"/>
                <a:cs typeface="맑은 고딕"/>
              </a:rPr>
              <a:t>상황 시나리오</a:t>
            </a:r>
          </a:p>
        </p:txBody>
      </p:sp>
      <p:sp>
        <p:nvSpPr>
          <p:cNvPr id="8" name="Rounded Rectangle 7"/>
          <p:cNvSpPr/>
          <p:nvPr/>
        </p:nvSpPr>
        <p:spPr>
          <a:xfrm>
            <a:off x="4864608" y="2212848"/>
            <a:ext cx="2048256" cy="932688"/>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000" b="1" i="0">
                <a:solidFill>
                  <a:srgbClr val="004094"/>
                </a:solidFill>
                <a:latin typeface="맑은 고딕"/>
                <a:ea typeface="맑은 고딕"/>
                <a:cs typeface="맑은 고딕"/>
              </a:rPr>
              <a:t>1,661</a:t>
            </a:r>
          </a:p>
          <a:p>
            <a:pPr algn="ctr">
              <a:spcBef>
                <a:spcPts val="0"/>
              </a:spcBef>
              <a:spcAft>
                <a:spcPts val="200"/>
              </a:spcAft>
            </a:pPr>
            <a:r>
              <a:rPr sz="1150" b="0" i="0">
                <a:solidFill>
                  <a:srgbClr val="27251E"/>
                </a:solidFill>
                <a:latin typeface="맑은 고딕"/>
                <a:ea typeface="맑은 고딕"/>
                <a:cs typeface="맑은 고딕"/>
              </a:rPr>
              <a:t>직접 검수한 칸</a:t>
            </a:r>
          </a:p>
        </p:txBody>
      </p:sp>
      <p:sp>
        <p:nvSpPr>
          <p:cNvPr id="9" name="Rounded Rectangle 8"/>
          <p:cNvSpPr/>
          <p:nvPr/>
        </p:nvSpPr>
        <p:spPr>
          <a:xfrm>
            <a:off x="7004304" y="2212848"/>
            <a:ext cx="2048256" cy="932688"/>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000" b="1" i="0">
                <a:solidFill>
                  <a:srgbClr val="004094"/>
                </a:solidFill>
                <a:latin typeface="맑은 고딕"/>
                <a:ea typeface="맑은 고딕"/>
                <a:cs typeface="맑은 고딕"/>
              </a:rPr>
              <a:t>8주</a:t>
            </a:r>
          </a:p>
          <a:p>
            <a:pPr algn="ctr">
              <a:spcBef>
                <a:spcPts val="0"/>
              </a:spcBef>
              <a:spcAft>
                <a:spcPts val="200"/>
              </a:spcAft>
            </a:pPr>
            <a:r>
              <a:rPr sz="1150" b="0" i="0">
                <a:solidFill>
                  <a:srgbClr val="27251E"/>
                </a:solidFill>
                <a:latin typeface="맑은 고딕"/>
                <a:ea typeface="맑은 고딕"/>
                <a:cs typeface="맑은 고딕"/>
              </a:rPr>
              <a:t>인턴십 기간</a:t>
            </a:r>
          </a:p>
        </p:txBody>
      </p:sp>
      <p:sp>
        <p:nvSpPr>
          <p:cNvPr id="10" name="TextBox 9"/>
          <p:cNvSpPr txBox="1"/>
          <p:nvPr/>
        </p:nvSpPr>
        <p:spPr>
          <a:xfrm>
            <a:off x="585216" y="3511296"/>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제가 담당한 범위</a:t>
            </a:r>
          </a:p>
        </p:txBody>
      </p:sp>
      <p:sp>
        <p:nvSpPr>
          <p:cNvPr id="11" name="Rounded Rectangle 10"/>
          <p:cNvSpPr/>
          <p:nvPr/>
        </p:nvSpPr>
        <p:spPr>
          <a:xfrm>
            <a:off x="585216" y="3913632"/>
            <a:ext cx="786384"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200" b="1" i="0">
                <a:solidFill>
                  <a:srgbClr val="FFFFFF"/>
                </a:solidFill>
                <a:latin typeface="맑은 고딕"/>
                <a:ea typeface="맑은 고딕"/>
                <a:cs typeface="맑은 고딕"/>
              </a:rPr>
              <a:t>설계</a:t>
            </a:r>
          </a:p>
        </p:txBody>
      </p:sp>
      <p:sp>
        <p:nvSpPr>
          <p:cNvPr id="12" name="TextBox 11"/>
          <p:cNvSpPr txBox="1"/>
          <p:nvPr/>
        </p:nvSpPr>
        <p:spPr>
          <a:xfrm>
            <a:off x="1536192" y="3959352"/>
            <a:ext cx="7726680" cy="274320"/>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무엇을 어떻게 잴지 정하고, 문항 생성 규칙 작성</a:t>
            </a:r>
          </a:p>
        </p:txBody>
      </p:sp>
      <p:sp>
        <p:nvSpPr>
          <p:cNvPr id="13" name="Rounded Rectangle 12"/>
          <p:cNvSpPr/>
          <p:nvPr/>
        </p:nvSpPr>
        <p:spPr>
          <a:xfrm>
            <a:off x="585216" y="4370832"/>
            <a:ext cx="786384"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200" b="1" i="0">
                <a:solidFill>
                  <a:srgbClr val="FFFFFF"/>
                </a:solidFill>
                <a:latin typeface="맑은 고딕"/>
                <a:ea typeface="맑은 고딕"/>
                <a:cs typeface="맑은 고딕"/>
              </a:rPr>
              <a:t>구현</a:t>
            </a:r>
          </a:p>
        </p:txBody>
      </p:sp>
      <p:sp>
        <p:nvSpPr>
          <p:cNvPr id="14" name="TextBox 13"/>
          <p:cNvSpPr txBox="1"/>
          <p:nvPr/>
        </p:nvSpPr>
        <p:spPr>
          <a:xfrm>
            <a:off x="1536192" y="4416552"/>
            <a:ext cx="7726680" cy="274320"/>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이미지 수집 파이프라인 전체 개발</a:t>
            </a:r>
          </a:p>
        </p:txBody>
      </p:sp>
      <p:sp>
        <p:nvSpPr>
          <p:cNvPr id="15" name="Rounded Rectangle 14"/>
          <p:cNvSpPr/>
          <p:nvPr/>
        </p:nvSpPr>
        <p:spPr>
          <a:xfrm>
            <a:off x="585216" y="4828032"/>
            <a:ext cx="786384"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200" b="1" i="0">
                <a:solidFill>
                  <a:srgbClr val="FFFFFF"/>
                </a:solidFill>
                <a:latin typeface="맑은 고딕"/>
                <a:ea typeface="맑은 고딕"/>
                <a:cs typeface="맑은 고딕"/>
              </a:rPr>
              <a:t>검수</a:t>
            </a:r>
          </a:p>
        </p:txBody>
      </p:sp>
      <p:sp>
        <p:nvSpPr>
          <p:cNvPr id="16" name="TextBox 15"/>
          <p:cNvSpPr txBox="1"/>
          <p:nvPr/>
        </p:nvSpPr>
        <p:spPr>
          <a:xfrm>
            <a:off x="1536192" y="4873752"/>
            <a:ext cx="7726680" cy="274320"/>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1,661칸 검수 도구 제작 및 전수 확인</a:t>
            </a:r>
          </a:p>
        </p:txBody>
      </p:sp>
      <p:sp>
        <p:nvSpPr>
          <p:cNvPr id="17" name="Rounded Rectangle 16"/>
          <p:cNvSpPr/>
          <p:nvPr/>
        </p:nvSpPr>
        <p:spPr>
          <a:xfrm>
            <a:off x="585216" y="5285232"/>
            <a:ext cx="786384"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200" b="1" i="0">
                <a:solidFill>
                  <a:srgbClr val="FFFFFF"/>
                </a:solidFill>
                <a:latin typeface="맑은 고딕"/>
                <a:ea typeface="맑은 고딕"/>
                <a:cs typeface="맑은 고딕"/>
              </a:rPr>
              <a:t>실험</a:t>
            </a:r>
          </a:p>
        </p:txBody>
      </p:sp>
      <p:sp>
        <p:nvSpPr>
          <p:cNvPr id="18" name="TextBox 17"/>
          <p:cNvSpPr txBox="1"/>
          <p:nvPr/>
        </p:nvSpPr>
        <p:spPr>
          <a:xfrm>
            <a:off x="1536192" y="5330952"/>
            <a:ext cx="7726680" cy="274320"/>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평가 실행과 결과 분석</a:t>
            </a:r>
          </a:p>
        </p:txBody>
      </p:sp>
      <p:sp>
        <p:nvSpPr>
          <p:cNvPr id="19" name="Rounded Rectangle 18"/>
          <p:cNvSpPr/>
          <p:nvPr/>
        </p:nvSpPr>
        <p:spPr>
          <a:xfrm>
            <a:off x="585216" y="5797296"/>
            <a:ext cx="8732520" cy="56692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0" name="TextBox 19"/>
          <p:cNvSpPr txBox="1"/>
          <p:nvPr/>
        </p:nvSpPr>
        <p:spPr>
          <a:xfrm>
            <a:off x="768096" y="5907024"/>
            <a:ext cx="8366760" cy="365760"/>
          </a:xfrm>
          <a:prstGeom prst="rect">
            <a:avLst/>
          </a:prstGeom>
          <a:noFill/>
        </p:spPr>
        <p:txBody>
          <a:bodyPr wrap="square" lIns="0" rIns="0" tIns="0" bIns="0" anchor="t">
            <a:spAutoFit/>
          </a:bodyPr>
          <a:lstStyle/>
          <a:p>
            <a:pPr algn="l">
              <a:spcBef>
                <a:spcPts val="0"/>
              </a:spcBef>
              <a:spcAft>
                <a:spcPts val="200"/>
              </a:spcAft>
            </a:pPr>
            <a:r>
              <a:rPr sz="1200" b="1" i="0">
                <a:solidFill>
                  <a:srgbClr val="767171"/>
                </a:solidFill>
                <a:latin typeface="맑은 고딕"/>
                <a:ea typeface="맑은 고딕"/>
                <a:cs typeface="맑은 고딕"/>
              </a:rPr>
              <a:t>사용 기술  </a:t>
            </a:r>
            <a:r>
              <a:rPr sz="1200" b="0" i="0">
                <a:solidFill>
                  <a:srgbClr val="767171"/>
                </a:solidFill>
                <a:latin typeface="맑은 고딕"/>
                <a:ea typeface="맑은 고딕"/>
                <a:cs typeface="맑은 고딕"/>
              </a:rPr>
              <a:t>PyTorch · vLLM · FAISS · FashionSigLIP · SAM3 · Qwen3-VL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4</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무엇을 풀려고 했나</a:t>
            </a:r>
            <a:r>
              <a:rPr sz="1400" b="0" i="0">
                <a:solidFill>
                  <a:srgbClr val="767171"/>
                </a:solidFill>
                <a:latin typeface="맑은 고딕"/>
                <a:ea typeface="맑은 고딕"/>
                <a:cs typeface="맑은 고딕"/>
              </a:rPr>
              <a:t>   취향과 상황은 서로 다른 문제다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700" b="0" i="0">
                <a:solidFill>
                  <a:srgbClr val="27251E"/>
                </a:solidFill>
                <a:latin typeface="맑은 고딕"/>
                <a:ea typeface="맑은 고딕"/>
                <a:cs typeface="맑은 고딕"/>
              </a:rPr>
              <a:t>AI에게 옷을 추천해 달라고 하면, </a:t>
            </a:r>
            <a:r>
              <a:rPr sz="1700" b="1" i="0">
                <a:solidFill>
                  <a:srgbClr val="C00000"/>
                </a:solidFill>
                <a:latin typeface="맑은 고딕"/>
                <a:ea typeface="맑은 고딕"/>
                <a:cs typeface="맑은 고딕"/>
              </a:rPr>
              <a:t>내 취향</a:t>
            </a:r>
            <a:r>
              <a:rPr sz="1700" b="0" i="0">
                <a:solidFill>
                  <a:srgbClr val="27251E"/>
                </a:solidFill>
                <a:latin typeface="맑은 고딕"/>
                <a:ea typeface="맑은 고딕"/>
                <a:cs typeface="맑은 고딕"/>
              </a:rPr>
              <a:t>과 </a:t>
            </a:r>
            <a:r>
              <a:rPr sz="1700" b="1" i="0">
                <a:solidFill>
                  <a:srgbClr val="2E75B6"/>
                </a:solidFill>
                <a:latin typeface="맑은 고딕"/>
                <a:ea typeface="맑은 고딕"/>
                <a:cs typeface="맑은 고딕"/>
              </a:rPr>
              <a:t>지금 상황</a:t>
            </a:r>
            <a:r>
              <a:rPr sz="1700" b="0" i="0">
                <a:solidFill>
                  <a:srgbClr val="27251E"/>
                </a:solidFill>
                <a:latin typeface="맑은 고딕"/>
                <a:ea typeface="맑은 고딕"/>
                <a:cs typeface="맑은 고딕"/>
              </a:rPr>
              <a:t>을 </a:t>
            </a:r>
            <a:r>
              <a:rPr sz="1700" b="1" i="0">
                <a:solidFill>
                  <a:srgbClr val="7030A0"/>
                </a:solidFill>
                <a:latin typeface="맑은 고딕"/>
                <a:ea typeface="맑은 고딕"/>
                <a:cs typeface="맑은 고딕"/>
              </a:rPr>
              <a:t>동시에</a:t>
            </a:r>
            <a:r>
              <a:rPr sz="1700" b="0" i="0">
                <a:solidFill>
                  <a:srgbClr val="27251E"/>
                </a:solidFill>
                <a:latin typeface="맑은 고딕"/>
                <a:ea typeface="맑은 고딕"/>
                <a:cs typeface="맑은 고딕"/>
              </a:rPr>
              <a:t> 맞출 수 있을까?</a:t>
            </a:r>
          </a:p>
        </p:txBody>
      </p:sp>
      <p:sp>
        <p:nvSpPr>
          <p:cNvPr id="6" name="Rounded Rectangle 5"/>
          <p:cNvSpPr/>
          <p:nvPr/>
        </p:nvSpPr>
        <p:spPr>
          <a:xfrm>
            <a:off x="585216" y="2066543"/>
            <a:ext cx="4160520" cy="113385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68096" y="2194560"/>
            <a:ext cx="3822191" cy="914400"/>
          </a:xfrm>
          <a:prstGeom prst="rect">
            <a:avLst/>
          </a:prstGeom>
          <a:noFill/>
        </p:spPr>
        <p:txBody>
          <a:bodyPr wrap="square" lIns="0" rIns="0" tIns="0" bIns="0" anchor="t">
            <a:spAutoFit/>
          </a:bodyPr>
          <a:lstStyle/>
          <a:p>
            <a:pPr algn="l">
              <a:lnSpc>
                <a:spcPct val="120000"/>
              </a:lnSpc>
              <a:spcBef>
                <a:spcPts val="0"/>
              </a:spcBef>
              <a:spcAft>
                <a:spcPts val="200"/>
              </a:spcAft>
            </a:pPr>
            <a:r>
              <a:rPr sz="1300" b="1" i="0">
                <a:solidFill>
                  <a:srgbClr val="004094"/>
                </a:solidFill>
                <a:latin typeface="맑은 고딕"/>
                <a:ea typeface="맑은 고딕"/>
                <a:cs typeface="맑은 고딕"/>
              </a:rPr>
              <a:t>이 사람은</a:t>
            </a:r>
            <a:r>
              <a:rPr sz="1300" b="0" i="0">
                <a:solidFill>
                  <a:srgbClr val="27251E"/>
                </a:solidFill>
                <a:latin typeface="맑은 고딕"/>
                <a:ea typeface="맑은 고딕"/>
                <a:cs typeface="맑은 고딕"/>
              </a:rPr>
              <a:t>   파란색을 좋아하고 주황색을 싫어합니다</a:t>
            </a:r>
          </a:p>
          <a:p>
            <a:pPr algn="l">
              <a:lnSpc>
                <a:spcPct val="120000"/>
              </a:lnSpc>
              <a:spcBef>
                <a:spcPts val="800"/>
              </a:spcBef>
              <a:spcAft>
                <a:spcPts val="200"/>
              </a:spcAft>
            </a:pPr>
            <a:r>
              <a:rPr sz="1300" b="1" i="0">
                <a:solidFill>
                  <a:srgbClr val="004094"/>
                </a:solidFill>
                <a:latin typeface="맑은 고딕"/>
                <a:ea typeface="맑은 고딕"/>
                <a:cs typeface="맑은 고딕"/>
              </a:rPr>
              <a:t>지금 상황은</a:t>
            </a:r>
            <a:r>
              <a:rPr sz="1300" b="0" i="0">
                <a:solidFill>
                  <a:srgbClr val="27251E"/>
                </a:solidFill>
                <a:latin typeface="맑은 고딕"/>
                <a:ea typeface="맑은 고딕"/>
                <a:cs typeface="맑은 고딕"/>
              </a:rPr>
              <a:t>   한겨울 야외 시장, 하루 종일</a:t>
            </a:r>
          </a:p>
        </p:txBody>
      </p:sp>
      <p:sp>
        <p:nvSpPr>
          <p:cNvPr id="8" name="Rounded Rectangle 7"/>
          <p:cNvSpPr/>
          <p:nvPr/>
        </p:nvSpPr>
        <p:spPr>
          <a:xfrm>
            <a:off x="5074920" y="2066543"/>
            <a:ext cx="4242816" cy="1133856"/>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5239512" y="2194560"/>
            <a:ext cx="3913632" cy="914400"/>
          </a:xfrm>
          <a:prstGeom prst="rect">
            <a:avLst/>
          </a:prstGeom>
          <a:noFill/>
        </p:spPr>
        <p:txBody>
          <a:bodyPr wrap="square" lIns="0" rIns="0" tIns="0" bIns="0" anchor="t">
            <a:spAutoFit/>
          </a:bodyPr>
          <a:lstStyle/>
          <a:p>
            <a:pPr algn="l">
              <a:spcBef>
                <a:spcPts val="0"/>
              </a:spcBef>
              <a:spcAft>
                <a:spcPts val="200"/>
              </a:spcAft>
            </a:pPr>
            <a:r>
              <a:rPr sz="1300" b="1" i="0">
                <a:solidFill>
                  <a:srgbClr val="C00000"/>
                </a:solidFill>
                <a:latin typeface="맑은 고딕"/>
                <a:ea typeface="맑은 고딕"/>
                <a:cs typeface="맑은 고딕"/>
              </a:rPr>
              <a:t>한쪽만 맞추면 이렇게 됩니다</a:t>
            </a:r>
          </a:p>
          <a:p>
            <a:pPr algn="l">
              <a:lnSpc>
                <a:spcPct val="120000"/>
              </a:lnSpc>
              <a:spcBef>
                <a:spcPts val="500"/>
              </a:spcBef>
              <a:spcAft>
                <a:spcPts val="200"/>
              </a:spcAft>
            </a:pPr>
            <a:r>
              <a:rPr sz="1250" b="1" i="0">
                <a:solidFill>
                  <a:srgbClr val="27251E"/>
                </a:solidFill>
                <a:latin typeface="맑은 고딕"/>
                <a:ea typeface="맑은 고딕"/>
                <a:cs typeface="맑은 고딕"/>
              </a:rPr>
              <a:t>취향만</a:t>
            </a:r>
            <a:r>
              <a:rPr sz="1250" b="0" i="0">
                <a:solidFill>
                  <a:srgbClr val="27251E"/>
                </a:solidFill>
                <a:latin typeface="맑은 고딕"/>
                <a:ea typeface="맑은 고딕"/>
                <a:cs typeface="맑은 고딕"/>
              </a:rPr>
              <a:t>  →  파란 원피스 </a:t>
            </a:r>
            <a:r>
              <a:rPr sz="1250" b="0" i="0">
                <a:solidFill>
                  <a:srgbClr val="C00000"/>
                </a:solidFill>
                <a:latin typeface="맑은 고딕"/>
                <a:ea typeface="맑은 고딕"/>
                <a:cs typeface="맑은 고딕"/>
              </a:rPr>
              <a:t>(한겨울에 춥다)</a:t>
            </a:r>
          </a:p>
          <a:p>
            <a:pPr algn="l">
              <a:lnSpc>
                <a:spcPct val="120000"/>
              </a:lnSpc>
              <a:spcBef>
                <a:spcPts val="300"/>
              </a:spcBef>
              <a:spcAft>
                <a:spcPts val="200"/>
              </a:spcAft>
            </a:pPr>
            <a:r>
              <a:rPr sz="1250" b="1" i="0">
                <a:solidFill>
                  <a:srgbClr val="27251E"/>
                </a:solidFill>
                <a:latin typeface="맑은 고딕"/>
                <a:ea typeface="맑은 고딕"/>
                <a:cs typeface="맑은 고딕"/>
              </a:rPr>
              <a:t>상황만</a:t>
            </a:r>
            <a:r>
              <a:rPr sz="1250" b="0" i="0">
                <a:solidFill>
                  <a:srgbClr val="27251E"/>
                </a:solidFill>
                <a:latin typeface="맑은 고딕"/>
                <a:ea typeface="맑은 고딕"/>
                <a:cs typeface="맑은 고딕"/>
              </a:rPr>
              <a:t>  →  주황 후드 </a:t>
            </a:r>
            <a:r>
              <a:rPr sz="1250" b="0" i="0">
                <a:solidFill>
                  <a:srgbClr val="C00000"/>
                </a:solidFill>
                <a:latin typeface="맑은 고딕"/>
                <a:ea typeface="맑은 고딕"/>
                <a:cs typeface="맑은 고딕"/>
              </a:rPr>
              <a:t>(싫어하는 색)</a:t>
            </a:r>
          </a:p>
        </p:txBody>
      </p:sp>
      <p:sp>
        <p:nvSpPr>
          <p:cNvPr id="10" name="Down Arrow 9"/>
          <p:cNvSpPr/>
          <p:nvPr/>
        </p:nvSpPr>
        <p:spPr>
          <a:xfrm>
            <a:off x="4846320" y="3273552"/>
            <a:ext cx="201168" cy="201168"/>
          </a:xfrm>
          <a:prstGeom prst="downArrow">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3584448"/>
            <a:ext cx="1828800" cy="292608"/>
          </a:xfrm>
          <a:prstGeom prst="rect">
            <a:avLst/>
          </a:prstGeom>
          <a:noFill/>
        </p:spPr>
        <p:txBody>
          <a:bodyPr wrap="square" lIns="0" rIns="0" tIns="0" bIns="0" anchor="t">
            <a:spAutoFit/>
          </a:bodyPr>
          <a:lstStyle/>
          <a:p>
            <a:pPr algn="ctr">
              <a:spcBef>
                <a:spcPts val="0"/>
              </a:spcBef>
              <a:spcAft>
                <a:spcPts val="200"/>
              </a:spcAft>
            </a:pPr>
            <a:r>
              <a:rPr sz="1900" b="1" i="0">
                <a:solidFill>
                  <a:srgbClr val="7030A0"/>
                </a:solidFill>
                <a:latin typeface="맑은 고딕"/>
                <a:ea typeface="맑은 고딕"/>
                <a:cs typeface="맑은 고딕"/>
              </a:rPr>
              <a:t>A</a:t>
            </a:r>
          </a:p>
        </p:txBody>
      </p:sp>
      <p:sp>
        <p:nvSpPr>
          <p:cNvPr id="12" name="TextBox 11"/>
          <p:cNvSpPr txBox="1"/>
          <p:nvPr/>
        </p:nvSpPr>
        <p:spPr>
          <a:xfrm>
            <a:off x="3127248" y="3584448"/>
            <a:ext cx="1828800" cy="292608"/>
          </a:xfrm>
          <a:prstGeom prst="rect">
            <a:avLst/>
          </a:prstGeom>
          <a:noFill/>
        </p:spPr>
        <p:txBody>
          <a:bodyPr wrap="square" lIns="0" rIns="0" tIns="0" bIns="0" anchor="t">
            <a:spAutoFit/>
          </a:bodyPr>
          <a:lstStyle/>
          <a:p>
            <a:pPr algn="ctr">
              <a:spcBef>
                <a:spcPts val="0"/>
              </a:spcBef>
              <a:spcAft>
                <a:spcPts val="200"/>
              </a:spcAft>
            </a:pPr>
            <a:r>
              <a:rPr sz="1900" b="1" i="0">
                <a:solidFill>
                  <a:srgbClr val="C00000"/>
                </a:solidFill>
                <a:latin typeface="맑은 고딕"/>
                <a:ea typeface="맑은 고딕"/>
                <a:cs typeface="맑은 고딕"/>
              </a:rPr>
              <a:t>B</a:t>
            </a:r>
          </a:p>
        </p:txBody>
      </p:sp>
      <p:sp>
        <p:nvSpPr>
          <p:cNvPr id="13" name="TextBox 12"/>
          <p:cNvSpPr txBox="1"/>
          <p:nvPr/>
        </p:nvSpPr>
        <p:spPr>
          <a:xfrm>
            <a:off x="4956048" y="3584448"/>
            <a:ext cx="1828800" cy="292608"/>
          </a:xfrm>
          <a:prstGeom prst="rect">
            <a:avLst/>
          </a:prstGeom>
          <a:noFill/>
        </p:spPr>
        <p:txBody>
          <a:bodyPr wrap="square" lIns="0" rIns="0" tIns="0" bIns="0" anchor="t">
            <a:spAutoFit/>
          </a:bodyPr>
          <a:lstStyle/>
          <a:p>
            <a:pPr algn="ctr">
              <a:spcBef>
                <a:spcPts val="0"/>
              </a:spcBef>
              <a:spcAft>
                <a:spcPts val="200"/>
              </a:spcAft>
            </a:pPr>
            <a:r>
              <a:rPr sz="1900" b="1" i="0">
                <a:solidFill>
                  <a:srgbClr val="0A4D9B"/>
                </a:solidFill>
                <a:latin typeface="맑은 고딕"/>
                <a:ea typeface="맑은 고딕"/>
                <a:cs typeface="맑은 고딕"/>
              </a:rPr>
              <a:t>C</a:t>
            </a:r>
          </a:p>
        </p:txBody>
      </p:sp>
      <p:sp>
        <p:nvSpPr>
          <p:cNvPr id="14" name="TextBox 13"/>
          <p:cNvSpPr txBox="1"/>
          <p:nvPr/>
        </p:nvSpPr>
        <p:spPr>
          <a:xfrm>
            <a:off x="6784848" y="3584448"/>
            <a:ext cx="1828800" cy="292608"/>
          </a:xfrm>
          <a:prstGeom prst="rect">
            <a:avLst/>
          </a:prstGeom>
          <a:noFill/>
        </p:spPr>
        <p:txBody>
          <a:bodyPr wrap="square" lIns="0" rIns="0" tIns="0" bIns="0" anchor="t">
            <a:spAutoFit/>
          </a:bodyPr>
          <a:lstStyle/>
          <a:p>
            <a:pPr algn="ctr">
              <a:spcBef>
                <a:spcPts val="0"/>
              </a:spcBef>
              <a:spcAft>
                <a:spcPts val="200"/>
              </a:spcAft>
            </a:pPr>
            <a:r>
              <a:rPr sz="1900" b="1" i="0">
                <a:solidFill>
                  <a:srgbClr val="767171"/>
                </a:solidFill>
                <a:latin typeface="맑은 고딕"/>
                <a:ea typeface="맑은 고딕"/>
                <a:cs typeface="맑은 고딕"/>
              </a:rPr>
              <a:t>D</a:t>
            </a:r>
          </a:p>
        </p:txBody>
      </p:sp>
      <p:pic>
        <p:nvPicPr>
          <p:cNvPr id="15" name="Picture 14" descr="fig_abcd.png"/>
          <p:cNvPicPr>
            <a:picLocks noChangeAspect="1"/>
          </p:cNvPicPr>
          <p:nvPr/>
        </p:nvPicPr>
        <p:blipFill>
          <a:blip r:embed="rId3"/>
          <a:stretch>
            <a:fillRect/>
          </a:stretch>
        </p:blipFill>
        <p:spPr>
          <a:xfrm>
            <a:off x="1298448" y="3913632"/>
            <a:ext cx="7315200" cy="1766277"/>
          </a:xfrm>
          <a:prstGeom prst="rect">
            <a:avLst/>
          </a:prstGeom>
        </p:spPr>
      </p:pic>
      <p:sp>
        <p:nvSpPr>
          <p:cNvPr id="16" name="TextBox 15"/>
          <p:cNvSpPr txBox="1"/>
          <p:nvPr/>
        </p:nvSpPr>
        <p:spPr>
          <a:xfrm>
            <a:off x="1298448" y="5870448"/>
            <a:ext cx="1828800" cy="310896"/>
          </a:xfrm>
          <a:prstGeom prst="rect">
            <a:avLst/>
          </a:prstGeom>
          <a:noFill/>
        </p:spPr>
        <p:txBody>
          <a:bodyPr wrap="square" lIns="0" rIns="0" tIns="0" bIns="0" anchor="t">
            <a:spAutoFit/>
          </a:bodyPr>
          <a:lstStyle/>
          <a:p>
            <a:pPr algn="ctr">
              <a:spcBef>
                <a:spcPts val="0"/>
              </a:spcBef>
              <a:spcAft>
                <a:spcPts val="200"/>
              </a:spcAft>
            </a:pPr>
            <a:r>
              <a:rPr sz="1350" b="1" i="0">
                <a:solidFill>
                  <a:srgbClr val="7030A0"/>
                </a:solidFill>
                <a:latin typeface="맑은 고딕"/>
                <a:ea typeface="맑은 고딕"/>
                <a:cs typeface="맑은 고딕"/>
              </a:rPr>
              <a:t>둘 다 만족</a:t>
            </a:r>
          </a:p>
        </p:txBody>
      </p:sp>
      <p:sp>
        <p:nvSpPr>
          <p:cNvPr id="17" name="TextBox 16"/>
          <p:cNvSpPr txBox="1"/>
          <p:nvPr/>
        </p:nvSpPr>
        <p:spPr>
          <a:xfrm>
            <a:off x="3127248" y="5870448"/>
            <a:ext cx="1828800" cy="310896"/>
          </a:xfrm>
          <a:prstGeom prst="rect">
            <a:avLst/>
          </a:prstGeom>
          <a:noFill/>
        </p:spPr>
        <p:txBody>
          <a:bodyPr wrap="square" lIns="0" rIns="0" tIns="0" bIns="0" anchor="t">
            <a:spAutoFit/>
          </a:bodyPr>
          <a:lstStyle/>
          <a:p>
            <a:pPr algn="ctr">
              <a:spcBef>
                <a:spcPts val="0"/>
              </a:spcBef>
              <a:spcAft>
                <a:spcPts val="200"/>
              </a:spcAft>
            </a:pPr>
            <a:r>
              <a:rPr sz="1350" b="1" i="0">
                <a:solidFill>
                  <a:srgbClr val="C00000"/>
                </a:solidFill>
                <a:latin typeface="맑은 고딕"/>
                <a:ea typeface="맑은 고딕"/>
                <a:cs typeface="맑은 고딕"/>
              </a:rPr>
              <a:t>상황만 맞음</a:t>
            </a:r>
          </a:p>
        </p:txBody>
      </p:sp>
      <p:sp>
        <p:nvSpPr>
          <p:cNvPr id="18" name="TextBox 17"/>
          <p:cNvSpPr txBox="1"/>
          <p:nvPr/>
        </p:nvSpPr>
        <p:spPr>
          <a:xfrm>
            <a:off x="4956048" y="5870448"/>
            <a:ext cx="1828800" cy="310896"/>
          </a:xfrm>
          <a:prstGeom prst="rect">
            <a:avLst/>
          </a:prstGeom>
          <a:noFill/>
        </p:spPr>
        <p:txBody>
          <a:bodyPr wrap="square" lIns="0" rIns="0" tIns="0" bIns="0" anchor="t">
            <a:spAutoFit/>
          </a:bodyPr>
          <a:lstStyle/>
          <a:p>
            <a:pPr algn="ctr">
              <a:spcBef>
                <a:spcPts val="0"/>
              </a:spcBef>
              <a:spcAft>
                <a:spcPts val="200"/>
              </a:spcAft>
            </a:pPr>
            <a:r>
              <a:rPr sz="1350" b="1" i="0">
                <a:solidFill>
                  <a:srgbClr val="0A4D9B"/>
                </a:solidFill>
                <a:latin typeface="맑은 고딕"/>
                <a:ea typeface="맑은 고딕"/>
                <a:cs typeface="맑은 고딕"/>
              </a:rPr>
              <a:t>취향만 맞음</a:t>
            </a:r>
          </a:p>
        </p:txBody>
      </p:sp>
      <p:sp>
        <p:nvSpPr>
          <p:cNvPr id="19" name="TextBox 18"/>
          <p:cNvSpPr txBox="1"/>
          <p:nvPr/>
        </p:nvSpPr>
        <p:spPr>
          <a:xfrm>
            <a:off x="6784848" y="5870448"/>
            <a:ext cx="1828800" cy="310896"/>
          </a:xfrm>
          <a:prstGeom prst="rect">
            <a:avLst/>
          </a:prstGeom>
          <a:noFill/>
        </p:spPr>
        <p:txBody>
          <a:bodyPr wrap="square" lIns="0" rIns="0" tIns="0" bIns="0" anchor="t">
            <a:spAutoFit/>
          </a:bodyPr>
          <a:lstStyle/>
          <a:p>
            <a:pPr algn="ctr">
              <a:spcBef>
                <a:spcPts val="0"/>
              </a:spcBef>
              <a:spcAft>
                <a:spcPts val="200"/>
              </a:spcAft>
            </a:pPr>
            <a:r>
              <a:rPr sz="1350" b="1" i="0">
                <a:solidFill>
                  <a:srgbClr val="767171"/>
                </a:solidFill>
                <a:latin typeface="맑은 고딕"/>
                <a:ea typeface="맑은 고딕"/>
                <a:cs typeface="맑은 고딕"/>
              </a:rPr>
              <a:t>둘 다 아님</a:t>
            </a:r>
          </a:p>
        </p:txBody>
      </p:sp>
      <p:sp>
        <p:nvSpPr>
          <p:cNvPr id="20" name="TextBox 19"/>
          <p:cNvSpPr txBox="1"/>
          <p:nvPr/>
        </p:nvSpPr>
        <p:spPr>
          <a:xfrm>
            <a:off x="585216" y="6345936"/>
            <a:ext cx="8732520" cy="274320"/>
          </a:xfrm>
          <a:prstGeom prst="rect">
            <a:avLst/>
          </a:prstGeom>
          <a:noFill/>
        </p:spPr>
        <p:txBody>
          <a:bodyPr wrap="square" lIns="0" rIns="0" tIns="0" bIns="0" anchor="t">
            <a:spAutoFit/>
          </a:bodyPr>
          <a:lstStyle/>
          <a:p>
            <a:pPr algn="ctr">
              <a:spcBef>
                <a:spcPts val="0"/>
              </a:spcBef>
              <a:spcAft>
                <a:spcPts val="200"/>
              </a:spcAft>
            </a:pPr>
            <a:r>
              <a:rPr sz="1250" b="1" i="0">
                <a:solidFill>
                  <a:srgbClr val="004094"/>
                </a:solidFill>
                <a:latin typeface="맑은 고딕"/>
                <a:ea typeface="맑은 고딕"/>
                <a:cs typeface="맑은 고딕"/>
              </a:rPr>
              <a:t>A만이 정답</a:t>
            </a:r>
            <a:r>
              <a:rPr sz="1250" b="0" i="0">
                <a:solidFill>
                  <a:srgbClr val="767171"/>
                </a:solidFill>
                <a:latin typeface="맑은 고딕"/>
                <a:ea typeface="맑은 고딕"/>
                <a:cs typeface="맑은 고딕"/>
              </a:rPr>
              <a:t>입니다 — 나머지 셋은 각각 어디서 틀렸는지를 알려 줍니다.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5</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Method ①  답 하나로 두 가지를 채점</a:t>
            </a:r>
            <a:r>
              <a:rPr sz="1400" b="0" i="0">
                <a:solidFill>
                  <a:srgbClr val="767171"/>
                </a:solidFill>
                <a:latin typeface="맑은 고딕"/>
                <a:ea typeface="맑은 고딕"/>
                <a:cs typeface="맑은 고딕"/>
              </a:rPr>
              <a:t>   어디서 틀렸는지를 알아야 고칠 수 있다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“틀렸다”가 아니라 </a:t>
            </a:r>
            <a:r>
              <a:rPr sz="1500" b="1" i="0">
                <a:solidFill>
                  <a:srgbClr val="0A4D9B"/>
                </a:solidFill>
                <a:latin typeface="맑은 고딕"/>
                <a:ea typeface="맑은 고딕"/>
                <a:cs typeface="맑은 고딕"/>
              </a:rPr>
              <a:t>어느 쪽에서 틀렸는지</a:t>
            </a:r>
            <a:r>
              <a:rPr sz="1500" b="0" i="0">
                <a:solidFill>
                  <a:srgbClr val="27251E"/>
                </a:solidFill>
                <a:latin typeface="맑은 고딕"/>
                <a:ea typeface="맑은 고딕"/>
                <a:cs typeface="맑은 고딕"/>
              </a:rPr>
              <a:t>까지 나와야 고칠 수 있습니다.</a:t>
            </a:r>
          </a:p>
        </p:txBody>
      </p:sp>
      <p:graphicFrame>
        <p:nvGraphicFramePr>
          <p:cNvPr id="6" name="Table 5"/>
          <p:cNvGraphicFramePr>
            <a:graphicFrameLocks noGrp="1"/>
          </p:cNvGraphicFramePr>
          <p:nvPr/>
        </p:nvGraphicFramePr>
        <p:xfrm>
          <a:off x="822960" y="2157984"/>
          <a:ext cx="8275320" cy="2395728"/>
        </p:xfrm>
        <a:graphic>
          <a:graphicData uri="http://schemas.openxmlformats.org/drawingml/2006/table">
            <a:tbl>
              <a:tblPr firstRow="1" bandRow="1">
                <a:tableStyleId>{5C22544A-7EE6-4342-B048-85BDC9FD1C3A}</a:tableStyleId>
              </a:tblPr>
              <a:tblGrid>
                <a:gridCol w="2423160"/>
                <a:gridCol w="1463040"/>
                <a:gridCol w="1463040"/>
                <a:gridCol w="1463040"/>
                <a:gridCol w="1463040"/>
              </a:tblGrid>
              <a:tr h="804672">
                <a:tc>
                  <a:txBody>
                    <a:bodyPr/>
                    <a:lstStyle/>
                    <a:p>
                      <a:pPr algn="ctr"/>
                    </a:p>
                  </a:txBody>
                  <a:tcPr marL="54864" marR="54864" marT="27432" marB="27432" anchor="ctr">
                    <a:solidFill>
                      <a:srgbClr val="FFFFFF"/>
                    </a:solidFill>
                  </a:tcPr>
                </a:tc>
                <a:tc>
                  <a:txBody>
                    <a:bodyPr/>
                    <a:lstStyle/>
                    <a:p>
                      <a:pPr algn="ctr"/>
                      <a:r>
                        <a:rPr sz="2000" b="1" i="0">
                          <a:solidFill>
                            <a:srgbClr val="7030A0"/>
                          </a:solidFill>
                          <a:latin typeface="맑은 고딕"/>
                          <a:ea typeface="맑은 고딕"/>
                          <a:cs typeface="맑은 고딕"/>
                        </a:rPr>
                        <a:t>A</a:t>
                      </a:r>
                    </a:p>
                    <a:p>
                      <a:pPr algn="ctr">
                        <a:lnSpc>
                          <a:spcPct val="110000"/>
                        </a:lnSpc>
                        <a:spcBef>
                          <a:spcPts val="0"/>
                        </a:spcBef>
                        <a:spcAft>
                          <a:spcPts val="200"/>
                        </a:spcAft>
                      </a:pPr>
                      <a:r>
                        <a:rPr sz="1000" b="0" i="0">
                          <a:solidFill>
                            <a:srgbClr val="27251E"/>
                          </a:solidFill>
                          <a:latin typeface="맑은 고딕"/>
                          <a:ea typeface="맑은 고딕"/>
                          <a:cs typeface="맑은 고딕"/>
                        </a:rPr>
                        <a:t>좋아하는 색
+ 따뜻한 옷</a:t>
                      </a:r>
                    </a:p>
                  </a:txBody>
                  <a:tcPr marL="54864" marR="54864" marT="27432" marB="27432" anchor="ctr">
                    <a:solidFill>
                      <a:srgbClr val="E9F1FA"/>
                    </a:solidFill>
                  </a:tcPr>
                </a:tc>
                <a:tc>
                  <a:txBody>
                    <a:bodyPr/>
                    <a:lstStyle/>
                    <a:p>
                      <a:pPr algn="ctr"/>
                      <a:r>
                        <a:rPr sz="2000" b="1" i="0">
                          <a:solidFill>
                            <a:srgbClr val="C00000"/>
                          </a:solidFill>
                          <a:latin typeface="맑은 고딕"/>
                          <a:ea typeface="맑은 고딕"/>
                          <a:cs typeface="맑은 고딕"/>
                        </a:rPr>
                        <a:t>B</a:t>
                      </a:r>
                    </a:p>
                    <a:p>
                      <a:pPr algn="ctr">
                        <a:lnSpc>
                          <a:spcPct val="110000"/>
                        </a:lnSpc>
                        <a:spcBef>
                          <a:spcPts val="0"/>
                        </a:spcBef>
                        <a:spcAft>
                          <a:spcPts val="200"/>
                        </a:spcAft>
                      </a:pPr>
                      <a:r>
                        <a:rPr sz="1000" b="0" i="0">
                          <a:solidFill>
                            <a:srgbClr val="27251E"/>
                          </a:solidFill>
                          <a:latin typeface="맑은 고딕"/>
                          <a:ea typeface="맑은 고딕"/>
                          <a:cs typeface="맑은 고딕"/>
                        </a:rPr>
                        <a:t>싫어하는 색
+ 따뜻한 옷</a:t>
                      </a:r>
                    </a:p>
                  </a:txBody>
                  <a:tcPr marL="54864" marR="54864" marT="27432" marB="27432" anchor="ctr">
                    <a:solidFill>
                      <a:srgbClr val="FFFFFF"/>
                    </a:solidFill>
                  </a:tcPr>
                </a:tc>
                <a:tc>
                  <a:txBody>
                    <a:bodyPr/>
                    <a:lstStyle/>
                    <a:p>
                      <a:pPr algn="ctr"/>
                      <a:r>
                        <a:rPr sz="2000" b="1" i="0">
                          <a:solidFill>
                            <a:srgbClr val="0A4D9B"/>
                          </a:solidFill>
                          <a:latin typeface="맑은 고딕"/>
                          <a:ea typeface="맑은 고딕"/>
                          <a:cs typeface="맑은 고딕"/>
                        </a:rPr>
                        <a:t>C</a:t>
                      </a:r>
                    </a:p>
                    <a:p>
                      <a:pPr algn="ctr">
                        <a:lnSpc>
                          <a:spcPct val="110000"/>
                        </a:lnSpc>
                        <a:spcBef>
                          <a:spcPts val="0"/>
                        </a:spcBef>
                        <a:spcAft>
                          <a:spcPts val="200"/>
                        </a:spcAft>
                      </a:pPr>
                      <a:r>
                        <a:rPr sz="1000" b="0" i="0">
                          <a:solidFill>
                            <a:srgbClr val="27251E"/>
                          </a:solidFill>
                          <a:latin typeface="맑은 고딕"/>
                          <a:ea typeface="맑은 고딕"/>
                          <a:cs typeface="맑은 고딕"/>
                        </a:rPr>
                        <a:t>좋아하는 색
+ 추운 옷</a:t>
                      </a:r>
                    </a:p>
                  </a:txBody>
                  <a:tcPr marL="54864" marR="54864" marT="27432" marB="27432" anchor="ctr">
                    <a:solidFill>
                      <a:srgbClr val="FFFFFF"/>
                    </a:solidFill>
                  </a:tcPr>
                </a:tc>
                <a:tc>
                  <a:txBody>
                    <a:bodyPr/>
                    <a:lstStyle/>
                    <a:p>
                      <a:pPr algn="ctr"/>
                      <a:r>
                        <a:rPr sz="2000" b="1" i="0">
                          <a:solidFill>
                            <a:srgbClr val="767171"/>
                          </a:solidFill>
                          <a:latin typeface="맑은 고딕"/>
                          <a:ea typeface="맑은 고딕"/>
                          <a:cs typeface="맑은 고딕"/>
                        </a:rPr>
                        <a:t>D</a:t>
                      </a:r>
                    </a:p>
                    <a:p>
                      <a:pPr algn="ctr">
                        <a:lnSpc>
                          <a:spcPct val="110000"/>
                        </a:lnSpc>
                        <a:spcBef>
                          <a:spcPts val="0"/>
                        </a:spcBef>
                        <a:spcAft>
                          <a:spcPts val="200"/>
                        </a:spcAft>
                      </a:pPr>
                      <a:r>
                        <a:rPr sz="1000" b="0" i="0">
                          <a:solidFill>
                            <a:srgbClr val="27251E"/>
                          </a:solidFill>
                          <a:latin typeface="맑은 고딕"/>
                          <a:ea typeface="맑은 고딕"/>
                          <a:cs typeface="맑은 고딕"/>
                        </a:rPr>
                        <a:t>싫어하는 색
+ 추운 옷</a:t>
                      </a:r>
                    </a:p>
                  </a:txBody>
                  <a:tcPr marL="54864" marR="54864" marT="27432" marB="27432" anchor="ctr">
                    <a:solidFill>
                      <a:srgbClr val="FFFFFF"/>
                    </a:solidFill>
                  </a:tcPr>
                </a:tc>
              </a:tr>
              <a:tr h="530352">
                <a:tc>
                  <a:txBody>
                    <a:bodyPr/>
                    <a:lstStyle/>
                    <a:p>
                      <a:pPr algn="l"/>
                      <a:r>
                        <a:rPr sz="1400" b="1" i="0">
                          <a:solidFill>
                            <a:srgbClr val="004094"/>
                          </a:solidFill>
                          <a:latin typeface="맑은 고딕"/>
                          <a:ea typeface="맑은 고딕"/>
                          <a:cs typeface="맑은 고딕"/>
                        </a:rPr>
                        <a:t>Strict</a:t>
                      </a:r>
                    </a:p>
                    <a:p>
                      <a:pPr algn="l">
                        <a:spcBef>
                          <a:spcPts val="0"/>
                        </a:spcBef>
                        <a:spcAft>
                          <a:spcPts val="200"/>
                        </a:spcAft>
                      </a:pPr>
                      <a:r>
                        <a:rPr sz="1050" b="0" i="0">
                          <a:solidFill>
                            <a:srgbClr val="767171"/>
                          </a:solidFill>
                          <a:latin typeface="맑은 고딕"/>
                          <a:ea typeface="맑은 고딕"/>
                          <a:cs typeface="맑은 고딕"/>
                        </a:rPr>
                        <a:t>둘 다 만족  ← 진짜 정답</a:t>
                      </a:r>
                    </a:p>
                  </a:txBody>
                  <a:tcPr marL="54864" marR="54864" marT="27432" marB="27432" anchor="ctr">
                    <a:solidFill>
                      <a:srgbClr val="F5F8FC"/>
                    </a:solidFill>
                  </a:tcPr>
                </a:tc>
                <a:tc>
                  <a:txBody>
                    <a:bodyPr/>
                    <a:lstStyle/>
                    <a:p>
                      <a:pPr algn="ctr"/>
                      <a:r>
                        <a:rPr sz="2000" b="1" i="0">
                          <a:solidFill>
                            <a:srgbClr val="004094"/>
                          </a:solidFill>
                          <a:latin typeface="맑은 고딕"/>
                          <a:ea typeface="맑은 고딕"/>
                          <a:cs typeface="맑은 고딕"/>
                        </a:rPr>
                        <a:t>●</a:t>
                      </a:r>
                    </a:p>
                  </a:txBody>
                  <a:tcPr marL="54864" marR="54864" marT="27432" marB="27432" anchor="ctr">
                    <a:solidFill>
                      <a:srgbClr val="E9F1FA"/>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r>
              <a:tr h="530352">
                <a:tc>
                  <a:txBody>
                    <a:bodyPr/>
                    <a:lstStyle/>
                    <a:p>
                      <a:pPr algn="l"/>
                      <a:r>
                        <a:rPr sz="1400" b="1" i="0">
                          <a:solidFill>
                            <a:srgbClr val="2E75B6"/>
                          </a:solidFill>
                          <a:latin typeface="맑은 고딕"/>
                          <a:ea typeface="맑은 고딕"/>
                          <a:cs typeface="맑은 고딕"/>
                        </a:rPr>
                        <a:t>상황 점수</a:t>
                      </a:r>
                    </a:p>
                    <a:p>
                      <a:pPr algn="l">
                        <a:spcBef>
                          <a:spcPts val="0"/>
                        </a:spcBef>
                        <a:spcAft>
                          <a:spcPts val="200"/>
                        </a:spcAft>
                      </a:pPr>
                      <a:r>
                        <a:rPr sz="1050" b="0" i="0">
                          <a:solidFill>
                            <a:srgbClr val="767171"/>
                          </a:solidFill>
                          <a:latin typeface="맑은 고딕"/>
                          <a:ea typeface="맑은 고딕"/>
                          <a:cs typeface="맑은 고딕"/>
                        </a:rPr>
                        <a:t>추위는 피했나</a:t>
                      </a:r>
                    </a:p>
                  </a:txBody>
                  <a:tcPr marL="54864" marR="54864" marT="27432" marB="27432" anchor="ctr">
                    <a:solidFill>
                      <a:srgbClr val="F5F8FC"/>
                    </a:solidFill>
                  </a:tcPr>
                </a:tc>
                <a:tc>
                  <a:txBody>
                    <a:bodyPr/>
                    <a:lstStyle/>
                    <a:p>
                      <a:pPr algn="ctr"/>
                      <a:r>
                        <a:rPr sz="2000" b="1" i="0">
                          <a:solidFill>
                            <a:srgbClr val="2E75B6"/>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2000" b="1" i="0">
                          <a:solidFill>
                            <a:srgbClr val="2E75B6"/>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r>
              <a:tr h="530352">
                <a:tc>
                  <a:txBody>
                    <a:bodyPr/>
                    <a:lstStyle/>
                    <a:p>
                      <a:pPr algn="l"/>
                      <a:r>
                        <a:rPr sz="1400" b="1" i="0">
                          <a:solidFill>
                            <a:srgbClr val="5B9BD5"/>
                          </a:solidFill>
                          <a:latin typeface="맑은 고딕"/>
                          <a:ea typeface="맑은 고딕"/>
                          <a:cs typeface="맑은 고딕"/>
                        </a:rPr>
                        <a:t>취향 점수</a:t>
                      </a:r>
                    </a:p>
                    <a:p>
                      <a:pPr algn="l">
                        <a:spcBef>
                          <a:spcPts val="0"/>
                        </a:spcBef>
                        <a:spcAft>
                          <a:spcPts val="200"/>
                        </a:spcAft>
                      </a:pPr>
                      <a:r>
                        <a:rPr sz="1050" b="0" i="0">
                          <a:solidFill>
                            <a:srgbClr val="767171"/>
                          </a:solidFill>
                          <a:latin typeface="맑은 고딕"/>
                          <a:ea typeface="맑은 고딕"/>
                          <a:cs typeface="맑은 고딕"/>
                        </a:rPr>
                        <a:t>좋아하는 색인가</a:t>
                      </a:r>
                    </a:p>
                  </a:txBody>
                  <a:tcPr marL="54864" marR="54864" marT="27432" marB="27432" anchor="ctr">
                    <a:solidFill>
                      <a:srgbClr val="F5F8FC"/>
                    </a:solidFill>
                  </a:tcPr>
                </a:tc>
                <a:tc>
                  <a:txBody>
                    <a:bodyPr/>
                    <a:lstStyle/>
                    <a:p>
                      <a:pPr algn="ctr"/>
                      <a:r>
                        <a:rPr sz="2000" b="1" i="0">
                          <a:solidFill>
                            <a:srgbClr val="5B9BD5"/>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2000" b="1" i="0">
                          <a:solidFill>
                            <a:srgbClr val="5B9BD5"/>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r>
            </a:tbl>
          </a:graphicData>
        </a:graphic>
      </p:graphicFrame>
      <p:sp>
        <p:nvSpPr>
          <p:cNvPr id="7" name="TextBox 6"/>
          <p:cNvSpPr txBox="1"/>
          <p:nvPr/>
        </p:nvSpPr>
        <p:spPr>
          <a:xfrm>
            <a:off x="585216" y="4754880"/>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이렇게 하면 답 하나에서 두 가지가 따로 보입니다</a:t>
            </a:r>
          </a:p>
        </p:txBody>
      </p:sp>
      <p:sp>
        <p:nvSpPr>
          <p:cNvPr id="8" name="Rounded Rectangle 7"/>
          <p:cNvSpPr/>
          <p:nvPr/>
        </p:nvSpPr>
        <p:spPr>
          <a:xfrm>
            <a:off x="585216" y="5157216"/>
            <a:ext cx="2825496" cy="676656"/>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04094"/>
                </a:solidFill>
                <a:latin typeface="맑은 고딕"/>
                <a:ea typeface="맑은 고딕"/>
                <a:cs typeface="맑은 고딕"/>
              </a:rPr>
              <a:t>A를 골랐다</a:t>
            </a:r>
          </a:p>
          <a:p>
            <a:pPr algn="ctr">
              <a:spcBef>
                <a:spcPts val="0"/>
              </a:spcBef>
              <a:spcAft>
                <a:spcPts val="200"/>
              </a:spcAft>
            </a:pPr>
            <a:r>
              <a:rPr sz="1150" b="0" i="0">
                <a:solidFill>
                  <a:srgbClr val="27251E"/>
                </a:solidFill>
                <a:latin typeface="맑은 고딕"/>
                <a:ea typeface="맑은 고딕"/>
                <a:cs typeface="맑은 고딕"/>
              </a:rPr>
              <a:t>취향도 상황도 맞춤</a:t>
            </a:r>
          </a:p>
        </p:txBody>
      </p:sp>
      <p:sp>
        <p:nvSpPr>
          <p:cNvPr id="9" name="Rounded Rectangle 8"/>
          <p:cNvSpPr/>
          <p:nvPr/>
        </p:nvSpPr>
        <p:spPr>
          <a:xfrm>
            <a:off x="3538728" y="5157216"/>
            <a:ext cx="2825496" cy="676656"/>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C00000"/>
                </a:solidFill>
                <a:latin typeface="맑은 고딕"/>
                <a:ea typeface="맑은 고딕"/>
                <a:cs typeface="맑은 고딕"/>
              </a:rPr>
              <a:t>B를 골랐다</a:t>
            </a:r>
          </a:p>
          <a:p>
            <a:pPr algn="ctr">
              <a:spcBef>
                <a:spcPts val="0"/>
              </a:spcBef>
              <a:spcAft>
                <a:spcPts val="200"/>
              </a:spcAft>
            </a:pPr>
            <a:r>
              <a:rPr sz="1150" b="0" i="0">
                <a:solidFill>
                  <a:srgbClr val="27251E"/>
                </a:solidFill>
                <a:latin typeface="맑은 고딕"/>
                <a:ea typeface="맑은 고딕"/>
                <a:cs typeface="맑은 고딕"/>
              </a:rPr>
              <a:t>상황은 알지만 취향을 무시</a:t>
            </a:r>
          </a:p>
        </p:txBody>
      </p:sp>
      <p:sp>
        <p:nvSpPr>
          <p:cNvPr id="10" name="Rounded Rectangle 9"/>
          <p:cNvSpPr/>
          <p:nvPr/>
        </p:nvSpPr>
        <p:spPr>
          <a:xfrm>
            <a:off x="6492240" y="5157216"/>
            <a:ext cx="2825496" cy="676656"/>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2E75B6"/>
                </a:solidFill>
                <a:latin typeface="맑은 고딕"/>
                <a:ea typeface="맑은 고딕"/>
                <a:cs typeface="맑은 고딕"/>
              </a:rPr>
              <a:t>C를 골랐다</a:t>
            </a:r>
          </a:p>
          <a:p>
            <a:pPr algn="ctr">
              <a:spcBef>
                <a:spcPts val="0"/>
              </a:spcBef>
              <a:spcAft>
                <a:spcPts val="200"/>
              </a:spcAft>
            </a:pPr>
            <a:r>
              <a:rPr sz="1150" b="0" i="0">
                <a:solidFill>
                  <a:srgbClr val="27251E"/>
                </a:solidFill>
                <a:latin typeface="맑은 고딕"/>
                <a:ea typeface="맑은 고딕"/>
                <a:cs typeface="맑은 고딕"/>
              </a:rPr>
              <a:t>취향은 알지만 상황을 무시</a:t>
            </a:r>
          </a:p>
        </p:txBody>
      </p:sp>
      <p:sp>
        <p:nvSpPr>
          <p:cNvPr id="11" name="Rounded Rectangle 10"/>
          <p:cNvSpPr/>
          <p:nvPr/>
        </p:nvSpPr>
        <p:spPr>
          <a:xfrm>
            <a:off x="585216" y="5998464"/>
            <a:ext cx="8732520" cy="49377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2" name="TextBox 11"/>
          <p:cNvSpPr txBox="1"/>
          <p:nvPr/>
        </p:nvSpPr>
        <p:spPr>
          <a:xfrm>
            <a:off x="768096" y="6089904"/>
            <a:ext cx="8366760" cy="329184"/>
          </a:xfrm>
          <a:prstGeom prst="rect">
            <a:avLst/>
          </a:prstGeom>
          <a:noFill/>
        </p:spPr>
        <p:txBody>
          <a:bodyPr wrap="square" lIns="0" rIns="0" tIns="0" bIns="0" anchor="t">
            <a:spAutoFit/>
          </a:bodyPr>
          <a:lstStyle/>
          <a:p>
            <a:pPr algn="l">
              <a:spcBef>
                <a:spcPts val="0"/>
              </a:spcBef>
              <a:spcAft>
                <a:spcPts val="200"/>
              </a:spcAft>
            </a:pPr>
            <a:r>
              <a:rPr sz="1250" b="1" i="0">
                <a:solidFill>
                  <a:srgbClr val="004094"/>
                </a:solidFill>
                <a:latin typeface="맑은 고딕"/>
                <a:ea typeface="맑은 고딕"/>
                <a:cs typeface="맑은 고딕"/>
              </a:rPr>
              <a:t>찍어서 맞을 확률이 정확히 25%</a:t>
            </a:r>
            <a:r>
              <a:rPr sz="1250" b="0" i="0">
                <a:solidFill>
                  <a:srgbClr val="27251E"/>
                </a:solidFill>
                <a:latin typeface="맑은 고딕"/>
                <a:ea typeface="맑은 고딕"/>
                <a:cs typeface="맑은 고딕"/>
              </a:rPr>
              <a:t>가 되도록 선지를 배치했습니다 — 운으로 오른 점수는 걸러집니다.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6</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Method ②  문항 만드는 법</a:t>
            </a:r>
            <a:r>
              <a:rPr sz="1400" b="0" i="0">
                <a:solidFill>
                  <a:srgbClr val="767171"/>
                </a:solidFill>
                <a:latin typeface="맑은 고딕"/>
                <a:ea typeface="맑은 고딕"/>
                <a:cs typeface="맑은 고딕"/>
              </a:rPr>
              <a:t>   사람 → 상황 → 문항, 세 단계</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문항을 손으로 쓰면 </a:t>
            </a:r>
            <a:r>
              <a:rPr sz="1500" b="1" i="0">
                <a:solidFill>
                  <a:srgbClr val="C00000"/>
                </a:solidFill>
                <a:latin typeface="맑은 고딕"/>
                <a:ea typeface="맑은 고딕"/>
                <a:cs typeface="맑은 고딕"/>
              </a:rPr>
              <a:t>제 취향이 정답이 되어 버립니다</a:t>
            </a:r>
            <a:r>
              <a:rPr sz="1500" b="0" i="0">
                <a:solidFill>
                  <a:srgbClr val="27251E"/>
                </a:solidFill>
                <a:latin typeface="맑은 고딕"/>
                <a:ea typeface="맑은 고딕"/>
                <a:cs typeface="맑은 고딕"/>
              </a:rPr>
              <a:t>. 그래서 규칙으로 만들었습니다.</a:t>
            </a:r>
          </a:p>
        </p:txBody>
      </p:sp>
      <p:sp>
        <p:nvSpPr>
          <p:cNvPr id="6" name="Rounded Rectangle 5"/>
          <p:cNvSpPr/>
          <p:nvPr/>
        </p:nvSpPr>
        <p:spPr>
          <a:xfrm>
            <a:off x="585216" y="2139696"/>
            <a:ext cx="2770632" cy="2926080"/>
          </a:xfrm>
          <a:prstGeom prst="roundRect">
            <a:avLst>
              <a:gd name="adj" fmla="val 8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49808" y="2267712"/>
            <a:ext cx="2441448" cy="310896"/>
          </a:xfrm>
          <a:prstGeom prst="rect">
            <a:avLst/>
          </a:prstGeom>
          <a:noFill/>
        </p:spPr>
        <p:txBody>
          <a:bodyPr wrap="square" lIns="0" rIns="0" tIns="0" bIns="0" anchor="t">
            <a:spAutoFit/>
          </a:bodyPr>
          <a:lstStyle/>
          <a:p>
            <a:pPr algn="l">
              <a:spcBef>
                <a:spcPts val="0"/>
              </a:spcBef>
              <a:spcAft>
                <a:spcPts val="200"/>
              </a:spcAft>
            </a:pPr>
            <a:r>
              <a:rPr sz="1500" b="1" i="0">
                <a:solidFill>
                  <a:srgbClr val="004094"/>
                </a:solidFill>
                <a:latin typeface="맑은 고딕"/>
                <a:ea typeface="맑은 고딕"/>
                <a:cs typeface="맑은 고딕"/>
              </a:rPr>
              <a:t>①  사람 만들기</a:t>
            </a:r>
          </a:p>
        </p:txBody>
      </p:sp>
      <p:sp>
        <p:nvSpPr>
          <p:cNvPr id="8" name="TextBox 7"/>
          <p:cNvSpPr txBox="1"/>
          <p:nvPr/>
        </p:nvSpPr>
        <p:spPr>
          <a:xfrm>
            <a:off x="749808" y="2651760"/>
            <a:ext cx="2441448" cy="640080"/>
          </a:xfrm>
          <a:prstGeom prst="rect">
            <a:avLst/>
          </a:prstGeom>
          <a:noFill/>
        </p:spPr>
        <p:txBody>
          <a:bodyPr wrap="square" lIns="0" rIns="0" tIns="0" bIns="0" anchor="t">
            <a:spAutoFit/>
          </a:bodyPr>
          <a:lstStyle/>
          <a:p>
            <a:pPr algn="l">
              <a:lnSpc>
                <a:spcPct val="125000"/>
              </a:lnSpc>
              <a:spcBef>
                <a:spcPts val="0"/>
              </a:spcBef>
              <a:spcAft>
                <a:spcPts val="200"/>
              </a:spcAft>
            </a:pPr>
            <a:r>
              <a:rPr sz="1200" b="0" i="0">
                <a:solidFill>
                  <a:srgbClr val="27251E"/>
                </a:solidFill>
                <a:latin typeface="맑은 고딕"/>
                <a:ea typeface="맑은 고딕"/>
                <a:cs typeface="맑은 고딕"/>
              </a:rPr>
              <a:t>좋아하는·싫어하는 색·무늬·옷을
규칙으로 배정</a:t>
            </a:r>
          </a:p>
        </p:txBody>
      </p:sp>
      <p:sp>
        <p:nvSpPr>
          <p:cNvPr id="9" name="Rounded Rectangle 8"/>
          <p:cNvSpPr/>
          <p:nvPr/>
        </p:nvSpPr>
        <p:spPr>
          <a:xfrm>
            <a:off x="749808" y="3401568"/>
            <a:ext cx="2441448" cy="932688"/>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0" name="TextBox 9"/>
          <p:cNvSpPr txBox="1"/>
          <p:nvPr/>
        </p:nvSpPr>
        <p:spPr>
          <a:xfrm>
            <a:off x="859536" y="3511296"/>
            <a:ext cx="2221992" cy="731520"/>
          </a:xfrm>
          <a:prstGeom prst="rect">
            <a:avLst/>
          </a:prstGeom>
          <a:noFill/>
        </p:spPr>
        <p:txBody>
          <a:bodyPr wrap="square" lIns="0" rIns="0" tIns="0" bIns="0" anchor="t">
            <a:spAutoFit/>
          </a:bodyPr>
          <a:lstStyle/>
          <a:p>
            <a:pPr algn="l">
              <a:spcBef>
                <a:spcPts val="0"/>
              </a:spcBef>
              <a:spcAft>
                <a:spcPts val="200"/>
              </a:spcAft>
            </a:pPr>
            <a:r>
              <a:rPr sz="1000" b="1" i="0">
                <a:solidFill>
                  <a:srgbClr val="2E75B6"/>
                </a:solidFill>
                <a:latin typeface="맑은 고딕"/>
                <a:ea typeface="맑은 고딕"/>
                <a:cs typeface="맑은 고딕"/>
              </a:rPr>
              <a:t>예시</a:t>
            </a:r>
          </a:p>
          <a:p>
            <a:pPr algn="l">
              <a:lnSpc>
                <a:spcPct val="120000"/>
              </a:lnSpc>
              <a:spcBef>
                <a:spcPts val="200"/>
              </a:spcBef>
              <a:spcAft>
                <a:spcPts val="200"/>
              </a:spcAft>
            </a:pPr>
            <a:r>
              <a:rPr sz="1100" b="0" i="0">
                <a:solidFill>
                  <a:srgbClr val="27251E"/>
                </a:solidFill>
                <a:latin typeface="맑은 고딕"/>
                <a:ea typeface="맑은 고딕"/>
                <a:cs typeface="맑은 고딕"/>
              </a:rPr>
              <a:t>파랑 · 베이지 좋아함
주황 · 빨강 싫어함</a:t>
            </a:r>
          </a:p>
        </p:txBody>
      </p:sp>
      <p:sp>
        <p:nvSpPr>
          <p:cNvPr id="11" name="TextBox 10"/>
          <p:cNvSpPr txBox="1"/>
          <p:nvPr/>
        </p:nvSpPr>
        <p:spPr>
          <a:xfrm>
            <a:off x="749808" y="4498848"/>
            <a:ext cx="2441448" cy="384048"/>
          </a:xfrm>
          <a:prstGeom prst="rect">
            <a:avLst/>
          </a:prstGeom>
          <a:noFill/>
        </p:spPr>
        <p:txBody>
          <a:bodyPr wrap="square" lIns="0" rIns="0" tIns="0" bIns="0" anchor="t">
            <a:spAutoFit/>
          </a:bodyPr>
          <a:lstStyle/>
          <a:p>
            <a:pPr algn="ctr">
              <a:spcBef>
                <a:spcPts val="0"/>
              </a:spcBef>
              <a:spcAft>
                <a:spcPts val="200"/>
              </a:spcAft>
            </a:pPr>
            <a:r>
              <a:rPr sz="1900" b="1" i="0">
                <a:solidFill>
                  <a:srgbClr val="004094"/>
                </a:solidFill>
                <a:latin typeface="맑은 고딕"/>
                <a:ea typeface="맑은 고딕"/>
                <a:cs typeface="맑은 고딕"/>
              </a:rPr>
              <a:t>24명</a:t>
            </a:r>
          </a:p>
        </p:txBody>
      </p:sp>
      <p:sp>
        <p:nvSpPr>
          <p:cNvPr id="12" name="Right Arrow 11"/>
          <p:cNvSpPr/>
          <p:nvPr/>
        </p:nvSpPr>
        <p:spPr>
          <a:xfrm>
            <a:off x="3410712" y="3456432"/>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2139696"/>
            <a:ext cx="2770632" cy="2926080"/>
          </a:xfrm>
          <a:prstGeom prst="roundRect">
            <a:avLst>
              <a:gd name="adj" fmla="val 8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4" name="TextBox 13"/>
          <p:cNvSpPr txBox="1"/>
          <p:nvPr/>
        </p:nvSpPr>
        <p:spPr>
          <a:xfrm>
            <a:off x="3703320" y="2267712"/>
            <a:ext cx="2441448" cy="310896"/>
          </a:xfrm>
          <a:prstGeom prst="rect">
            <a:avLst/>
          </a:prstGeom>
          <a:noFill/>
        </p:spPr>
        <p:txBody>
          <a:bodyPr wrap="square" lIns="0" rIns="0" tIns="0" bIns="0" anchor="t">
            <a:spAutoFit/>
          </a:bodyPr>
          <a:lstStyle/>
          <a:p>
            <a:pPr algn="l">
              <a:spcBef>
                <a:spcPts val="0"/>
              </a:spcBef>
              <a:spcAft>
                <a:spcPts val="200"/>
              </a:spcAft>
            </a:pPr>
            <a:r>
              <a:rPr sz="1500" b="1" i="0">
                <a:solidFill>
                  <a:srgbClr val="004094"/>
                </a:solidFill>
                <a:latin typeface="맑은 고딕"/>
                <a:ea typeface="맑은 고딕"/>
                <a:cs typeface="맑은 고딕"/>
              </a:rPr>
              <a:t>②  상황 만들기</a:t>
            </a:r>
          </a:p>
        </p:txBody>
      </p:sp>
      <p:sp>
        <p:nvSpPr>
          <p:cNvPr id="15" name="TextBox 14"/>
          <p:cNvSpPr txBox="1"/>
          <p:nvPr/>
        </p:nvSpPr>
        <p:spPr>
          <a:xfrm>
            <a:off x="3703320" y="2651760"/>
            <a:ext cx="2441448" cy="640080"/>
          </a:xfrm>
          <a:prstGeom prst="rect">
            <a:avLst/>
          </a:prstGeom>
          <a:noFill/>
        </p:spPr>
        <p:txBody>
          <a:bodyPr wrap="square" lIns="0" rIns="0" tIns="0" bIns="0" anchor="t">
            <a:spAutoFit/>
          </a:bodyPr>
          <a:lstStyle/>
          <a:p>
            <a:pPr algn="l">
              <a:lnSpc>
                <a:spcPct val="125000"/>
              </a:lnSpc>
              <a:spcBef>
                <a:spcPts val="0"/>
              </a:spcBef>
              <a:spcAft>
                <a:spcPts val="200"/>
              </a:spcAft>
            </a:pPr>
            <a:r>
              <a:rPr sz="1200" b="0" i="0">
                <a:solidFill>
                  <a:srgbClr val="27251E"/>
                </a:solidFill>
                <a:latin typeface="맑은 고딕"/>
                <a:ea typeface="맑은 고딕"/>
                <a:cs typeface="맑은 고딕"/>
              </a:rPr>
              <a:t>누구나 같은 답을 낼 상황만
채택 (위험하거나 명백한 것)</a:t>
            </a:r>
          </a:p>
        </p:txBody>
      </p:sp>
      <p:sp>
        <p:nvSpPr>
          <p:cNvPr id="16" name="Rounded Rectangle 15"/>
          <p:cNvSpPr/>
          <p:nvPr/>
        </p:nvSpPr>
        <p:spPr>
          <a:xfrm>
            <a:off x="3703320" y="3401568"/>
            <a:ext cx="2441448" cy="932688"/>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7" name="TextBox 16"/>
          <p:cNvSpPr txBox="1"/>
          <p:nvPr/>
        </p:nvSpPr>
        <p:spPr>
          <a:xfrm>
            <a:off x="3813048" y="3511296"/>
            <a:ext cx="2221992" cy="731520"/>
          </a:xfrm>
          <a:prstGeom prst="rect">
            <a:avLst/>
          </a:prstGeom>
          <a:noFill/>
        </p:spPr>
        <p:txBody>
          <a:bodyPr wrap="square" lIns="0" rIns="0" tIns="0" bIns="0" anchor="t">
            <a:spAutoFit/>
          </a:bodyPr>
          <a:lstStyle/>
          <a:p>
            <a:pPr algn="l">
              <a:spcBef>
                <a:spcPts val="0"/>
              </a:spcBef>
              <a:spcAft>
                <a:spcPts val="200"/>
              </a:spcAft>
            </a:pPr>
            <a:r>
              <a:rPr sz="1000" b="1" i="0">
                <a:solidFill>
                  <a:srgbClr val="2E75B6"/>
                </a:solidFill>
                <a:latin typeface="맑은 고딕"/>
                <a:ea typeface="맑은 고딕"/>
                <a:cs typeface="맑은 고딕"/>
              </a:rPr>
              <a:t>예시</a:t>
            </a:r>
          </a:p>
          <a:p>
            <a:pPr algn="l">
              <a:lnSpc>
                <a:spcPct val="120000"/>
              </a:lnSpc>
              <a:spcBef>
                <a:spcPts val="200"/>
              </a:spcBef>
              <a:spcAft>
                <a:spcPts val="200"/>
              </a:spcAft>
            </a:pPr>
            <a:r>
              <a:rPr sz="1100" b="0" i="0">
                <a:solidFill>
                  <a:srgbClr val="27251E"/>
                </a:solidFill>
                <a:latin typeface="맑은 고딕"/>
                <a:ea typeface="맑은 고딕"/>
                <a:cs typeface="맑은 고딕"/>
              </a:rPr>
              <a:t>한겨울 야외
→ 후드 O, 원피스 X</a:t>
            </a:r>
          </a:p>
        </p:txBody>
      </p:sp>
      <p:sp>
        <p:nvSpPr>
          <p:cNvPr id="18" name="TextBox 17"/>
          <p:cNvSpPr txBox="1"/>
          <p:nvPr/>
        </p:nvSpPr>
        <p:spPr>
          <a:xfrm>
            <a:off x="3703320" y="4498848"/>
            <a:ext cx="2441448" cy="384048"/>
          </a:xfrm>
          <a:prstGeom prst="rect">
            <a:avLst/>
          </a:prstGeom>
          <a:noFill/>
        </p:spPr>
        <p:txBody>
          <a:bodyPr wrap="square" lIns="0" rIns="0" tIns="0" bIns="0" anchor="t">
            <a:spAutoFit/>
          </a:bodyPr>
          <a:lstStyle/>
          <a:p>
            <a:pPr algn="ctr">
              <a:spcBef>
                <a:spcPts val="0"/>
              </a:spcBef>
              <a:spcAft>
                <a:spcPts val="200"/>
              </a:spcAft>
            </a:pPr>
            <a:r>
              <a:rPr sz="1900" b="1" i="0">
                <a:solidFill>
                  <a:srgbClr val="004094"/>
                </a:solidFill>
                <a:latin typeface="맑은 고딕"/>
                <a:ea typeface="맑은 고딕"/>
                <a:cs typeface="맑은 고딕"/>
              </a:rPr>
              <a:t>59개</a:t>
            </a:r>
          </a:p>
        </p:txBody>
      </p:sp>
      <p:sp>
        <p:nvSpPr>
          <p:cNvPr id="19" name="Right Arrow 18"/>
          <p:cNvSpPr/>
          <p:nvPr/>
        </p:nvSpPr>
        <p:spPr>
          <a:xfrm>
            <a:off x="6364224" y="3456432"/>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92240" y="2139696"/>
            <a:ext cx="2770632" cy="2926080"/>
          </a:xfrm>
          <a:prstGeom prst="roundRect">
            <a:avLst>
              <a:gd name="adj" fmla="val 8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1" name="TextBox 20"/>
          <p:cNvSpPr txBox="1"/>
          <p:nvPr/>
        </p:nvSpPr>
        <p:spPr>
          <a:xfrm>
            <a:off x="6656831" y="2267712"/>
            <a:ext cx="2441448" cy="310896"/>
          </a:xfrm>
          <a:prstGeom prst="rect">
            <a:avLst/>
          </a:prstGeom>
          <a:noFill/>
        </p:spPr>
        <p:txBody>
          <a:bodyPr wrap="square" lIns="0" rIns="0" tIns="0" bIns="0" anchor="t">
            <a:spAutoFit/>
          </a:bodyPr>
          <a:lstStyle/>
          <a:p>
            <a:pPr algn="l">
              <a:spcBef>
                <a:spcPts val="0"/>
              </a:spcBef>
              <a:spcAft>
                <a:spcPts val="200"/>
              </a:spcAft>
            </a:pPr>
            <a:r>
              <a:rPr sz="1500" b="1" i="0">
                <a:solidFill>
                  <a:srgbClr val="004094"/>
                </a:solidFill>
                <a:latin typeface="맑은 고딕"/>
                <a:ea typeface="맑은 고딕"/>
                <a:cs typeface="맑은 고딕"/>
              </a:rPr>
              <a:t>③  문항 만들기</a:t>
            </a:r>
          </a:p>
        </p:txBody>
      </p:sp>
      <p:sp>
        <p:nvSpPr>
          <p:cNvPr id="22" name="TextBox 21"/>
          <p:cNvSpPr txBox="1"/>
          <p:nvPr/>
        </p:nvSpPr>
        <p:spPr>
          <a:xfrm>
            <a:off x="6656831" y="2651760"/>
            <a:ext cx="2441448" cy="640080"/>
          </a:xfrm>
          <a:prstGeom prst="rect">
            <a:avLst/>
          </a:prstGeom>
          <a:noFill/>
        </p:spPr>
        <p:txBody>
          <a:bodyPr wrap="square" lIns="0" rIns="0" tIns="0" bIns="0" anchor="t">
            <a:spAutoFit/>
          </a:bodyPr>
          <a:lstStyle/>
          <a:p>
            <a:pPr algn="l">
              <a:lnSpc>
                <a:spcPct val="125000"/>
              </a:lnSpc>
              <a:spcBef>
                <a:spcPts val="0"/>
              </a:spcBef>
              <a:spcAft>
                <a:spcPts val="200"/>
              </a:spcAft>
            </a:pPr>
            <a:r>
              <a:rPr sz="1200" b="0" i="0">
                <a:solidFill>
                  <a:srgbClr val="27251E"/>
                </a:solidFill>
                <a:latin typeface="맑은 고딕"/>
                <a:ea typeface="맑은 고딕"/>
                <a:cs typeface="맑은 고딕"/>
              </a:rPr>
              <a:t>사람 × 상황을 곱해
4지선다 하나로</a:t>
            </a:r>
          </a:p>
        </p:txBody>
      </p:sp>
      <p:sp>
        <p:nvSpPr>
          <p:cNvPr id="23" name="Rounded Rectangle 22"/>
          <p:cNvSpPr/>
          <p:nvPr/>
        </p:nvSpPr>
        <p:spPr>
          <a:xfrm>
            <a:off x="6656831" y="3401568"/>
            <a:ext cx="2441448" cy="932688"/>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4" name="TextBox 23"/>
          <p:cNvSpPr txBox="1"/>
          <p:nvPr/>
        </p:nvSpPr>
        <p:spPr>
          <a:xfrm>
            <a:off x="6766559" y="3511296"/>
            <a:ext cx="2221992" cy="731520"/>
          </a:xfrm>
          <a:prstGeom prst="rect">
            <a:avLst/>
          </a:prstGeom>
          <a:noFill/>
        </p:spPr>
        <p:txBody>
          <a:bodyPr wrap="square" lIns="0" rIns="0" tIns="0" bIns="0" anchor="t">
            <a:spAutoFit/>
          </a:bodyPr>
          <a:lstStyle/>
          <a:p>
            <a:pPr algn="l">
              <a:spcBef>
                <a:spcPts val="0"/>
              </a:spcBef>
              <a:spcAft>
                <a:spcPts val="200"/>
              </a:spcAft>
            </a:pPr>
            <a:r>
              <a:rPr sz="1000" b="1" i="0">
                <a:solidFill>
                  <a:srgbClr val="2E75B6"/>
                </a:solidFill>
                <a:latin typeface="맑은 고딕"/>
                <a:ea typeface="맑은 고딕"/>
                <a:cs typeface="맑은 고딕"/>
              </a:rPr>
              <a:t>예시</a:t>
            </a:r>
          </a:p>
          <a:p>
            <a:pPr algn="l">
              <a:lnSpc>
                <a:spcPct val="120000"/>
              </a:lnSpc>
              <a:spcBef>
                <a:spcPts val="200"/>
              </a:spcBef>
              <a:spcAft>
                <a:spcPts val="200"/>
              </a:spcAft>
            </a:pPr>
            <a:r>
              <a:rPr sz="1100" b="0" i="0">
                <a:solidFill>
                  <a:srgbClr val="27251E"/>
                </a:solidFill>
                <a:latin typeface="맑은 고딕"/>
                <a:ea typeface="맑은 고딕"/>
                <a:cs typeface="맑은 고딕"/>
              </a:rPr>
              <a:t>파란 후드 / 주황 후드
파란 원피스 / 주황 원피스</a:t>
            </a:r>
          </a:p>
        </p:txBody>
      </p:sp>
      <p:sp>
        <p:nvSpPr>
          <p:cNvPr id="25" name="TextBox 24"/>
          <p:cNvSpPr txBox="1"/>
          <p:nvPr/>
        </p:nvSpPr>
        <p:spPr>
          <a:xfrm>
            <a:off x="6656831" y="4498848"/>
            <a:ext cx="2441448" cy="384048"/>
          </a:xfrm>
          <a:prstGeom prst="rect">
            <a:avLst/>
          </a:prstGeom>
          <a:noFill/>
        </p:spPr>
        <p:txBody>
          <a:bodyPr wrap="square" lIns="0" rIns="0" tIns="0" bIns="0" anchor="t">
            <a:spAutoFit/>
          </a:bodyPr>
          <a:lstStyle/>
          <a:p>
            <a:pPr algn="ctr">
              <a:spcBef>
                <a:spcPts val="0"/>
              </a:spcBef>
              <a:spcAft>
                <a:spcPts val="200"/>
              </a:spcAft>
            </a:pPr>
            <a:r>
              <a:rPr sz="1900" b="1" i="0">
                <a:solidFill>
                  <a:srgbClr val="004094"/>
                </a:solidFill>
                <a:latin typeface="맑은 고딕"/>
                <a:ea typeface="맑은 고딕"/>
                <a:cs typeface="맑은 고딕"/>
              </a:rPr>
              <a:t>2,621문항</a:t>
            </a:r>
          </a:p>
        </p:txBody>
      </p:sp>
      <p:sp>
        <p:nvSpPr>
          <p:cNvPr id="26" name="Rounded Rectangle 25"/>
          <p:cNvSpPr/>
          <p:nvPr/>
        </p:nvSpPr>
        <p:spPr>
          <a:xfrm>
            <a:off x="585216" y="5303520"/>
            <a:ext cx="8732520" cy="621792"/>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7" name="TextBox 26"/>
          <p:cNvSpPr txBox="1"/>
          <p:nvPr/>
        </p:nvSpPr>
        <p:spPr>
          <a:xfrm>
            <a:off x="768096" y="5413248"/>
            <a:ext cx="8366760" cy="420624"/>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세 단계 모두 사람 손이 들어가지 않습니다</a:t>
            </a:r>
            <a:r>
              <a:rPr sz="1300" b="0" i="0">
                <a:solidFill>
                  <a:srgbClr val="27251E"/>
                </a:solidFill>
                <a:latin typeface="맑은 고딕"/>
                <a:ea typeface="맑은 고딕"/>
                <a:cs typeface="맑은 고딕"/>
              </a:rPr>
              <a:t> — 같은 씨앗을 넣으면 언제나 똑같은 데이터가 나옵니다.</a:t>
            </a:r>
          </a:p>
        </p:txBody>
      </p:sp>
      <p:sp>
        <p:nvSpPr>
          <p:cNvPr id="28" name="TextBox 27"/>
          <p:cNvSpPr txBox="1"/>
          <p:nvPr/>
        </p:nvSpPr>
        <p:spPr>
          <a:xfrm>
            <a:off x="585216" y="6089904"/>
            <a:ext cx="8732520" cy="402336"/>
          </a:xfrm>
          <a:prstGeom prst="rect">
            <a:avLst/>
          </a:prstGeom>
          <a:noFill/>
        </p:spPr>
        <p:txBody>
          <a:bodyPr wrap="square" lIns="0" rIns="0" tIns="0" bIns="0" anchor="t">
            <a:spAutoFit/>
          </a:bodyPr>
          <a:lstStyle/>
          <a:p>
            <a:pPr algn="l">
              <a:lnSpc>
                <a:spcPct val="120000"/>
              </a:lnSpc>
              <a:spcBef>
                <a:spcPts val="0"/>
              </a:spcBef>
              <a:spcAft>
                <a:spcPts val="200"/>
              </a:spcAft>
            </a:pPr>
            <a:r>
              <a:rPr sz="1150" b="1" i="0">
                <a:solidFill>
                  <a:srgbClr val="767171"/>
                </a:solidFill>
                <a:latin typeface="맑은 고딕"/>
                <a:ea typeface="맑은 고딕"/>
                <a:cs typeface="맑은 고딕"/>
              </a:rPr>
              <a:t>왜 중요한가  </a:t>
            </a:r>
            <a:r>
              <a:rPr sz="1150" b="0" i="0">
                <a:solidFill>
                  <a:srgbClr val="767171"/>
                </a:solidFill>
                <a:latin typeface="맑은 고딕"/>
                <a:ea typeface="맑은 고딕"/>
                <a:cs typeface="맑은 고딕"/>
              </a:rPr>
              <a:t>남이 제 결과를 다시 만들어 검증할 수 있고, 제가 데이터를 유리하게 고르지 않았다는 증거가 됩니다.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7</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Method ③  진짜 어려운 건 사진</a:t>
            </a:r>
            <a:r>
              <a:rPr sz="1400" b="0" i="0">
                <a:solidFill>
                  <a:srgbClr val="767171"/>
                </a:solidFill>
                <a:latin typeface="맑은 고딕"/>
                <a:ea typeface="맑은 고딕"/>
                <a:cs typeface="맑은 고딕"/>
              </a:rPr>
              <a:t>   문항 하나에 실제 상품 사진 4장</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검색만으로는 </a:t>
            </a:r>
            <a:r>
              <a:rPr sz="1500" b="1" i="0">
                <a:solidFill>
                  <a:srgbClr val="C00000"/>
                </a:solidFill>
                <a:latin typeface="맑은 고딕"/>
                <a:ea typeface="맑은 고딕"/>
                <a:cs typeface="맑은 고딕"/>
              </a:rPr>
              <a:t>원하는 사진이 나오지 않습니다</a:t>
            </a:r>
            <a:r>
              <a:rPr sz="1500" b="0" i="0">
                <a:solidFill>
                  <a:srgbClr val="27251E"/>
                </a:solidFill>
                <a:latin typeface="맑은 고딕"/>
                <a:ea typeface="맑은 고딕"/>
                <a:cs typeface="맑은 고딕"/>
              </a:rPr>
              <a:t> — 색·옷·무늬가 모두 맞아야 합니다.</a:t>
            </a:r>
          </a:p>
        </p:txBody>
      </p:sp>
      <p:sp>
        <p:nvSpPr>
          <p:cNvPr id="6" name="Rounded Rectangle 5"/>
          <p:cNvSpPr/>
          <p:nvPr/>
        </p:nvSpPr>
        <p:spPr>
          <a:xfrm>
            <a:off x="2304288" y="2194560"/>
            <a:ext cx="5669280" cy="402336"/>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166,100</a:t>
            </a:r>
          </a:p>
        </p:txBody>
      </p:sp>
      <p:sp>
        <p:nvSpPr>
          <p:cNvPr id="7" name="TextBox 6"/>
          <p:cNvSpPr txBox="1"/>
          <p:nvPr/>
        </p:nvSpPr>
        <p:spPr>
          <a:xfrm>
            <a:off x="585216" y="2286000"/>
            <a:ext cx="1572768" cy="256032"/>
          </a:xfrm>
          <a:prstGeom prst="rect">
            <a:avLst/>
          </a:prstGeom>
          <a:noFill/>
        </p:spPr>
        <p:txBody>
          <a:bodyPr wrap="square" lIns="0" rIns="0" tIns="0" bIns="0" anchor="t">
            <a:spAutoFit/>
          </a:bodyPr>
          <a:lstStyle/>
          <a:p>
            <a:pPr algn="r">
              <a:spcBef>
                <a:spcPts val="0"/>
              </a:spcBef>
              <a:spcAft>
                <a:spcPts val="200"/>
              </a:spcAft>
            </a:pPr>
            <a:r>
              <a:rPr sz="1200" b="1" i="0">
                <a:solidFill>
                  <a:srgbClr val="27251E"/>
                </a:solidFill>
                <a:latin typeface="맑은 고딕"/>
                <a:ea typeface="맑은 고딕"/>
                <a:cs typeface="맑은 고딕"/>
              </a:rPr>
              <a:t>검색으로 모은 사진</a:t>
            </a:r>
          </a:p>
        </p:txBody>
      </p:sp>
      <p:sp>
        <p:nvSpPr>
          <p:cNvPr id="8" name="Down Arrow 7"/>
          <p:cNvSpPr/>
          <p:nvPr/>
        </p:nvSpPr>
        <p:spPr>
          <a:xfrm>
            <a:off x="5093208" y="2606039"/>
            <a:ext cx="91440" cy="109728"/>
          </a:xfrm>
          <a:prstGeom prst="downArrow">
            <a:avLst/>
          </a:prstGeom>
          <a:solidFill>
            <a:srgbClr val="B4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24328" y="2724912"/>
            <a:ext cx="5029200" cy="402336"/>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127,859</a:t>
            </a:r>
          </a:p>
        </p:txBody>
      </p:sp>
      <p:sp>
        <p:nvSpPr>
          <p:cNvPr id="10" name="TextBox 9"/>
          <p:cNvSpPr txBox="1"/>
          <p:nvPr/>
        </p:nvSpPr>
        <p:spPr>
          <a:xfrm>
            <a:off x="585216" y="2816352"/>
            <a:ext cx="1892807" cy="256032"/>
          </a:xfrm>
          <a:prstGeom prst="rect">
            <a:avLst/>
          </a:prstGeom>
          <a:noFill/>
        </p:spPr>
        <p:txBody>
          <a:bodyPr wrap="square" lIns="0" rIns="0" tIns="0" bIns="0" anchor="t">
            <a:spAutoFit/>
          </a:bodyPr>
          <a:lstStyle/>
          <a:p>
            <a:pPr algn="r">
              <a:spcBef>
                <a:spcPts val="0"/>
              </a:spcBef>
              <a:spcAft>
                <a:spcPts val="200"/>
              </a:spcAft>
            </a:pPr>
            <a:r>
              <a:rPr sz="1200" b="0" i="0">
                <a:solidFill>
                  <a:srgbClr val="27251E"/>
                </a:solidFill>
                <a:latin typeface="맑은 고딕"/>
                <a:ea typeface="맑은 고딕"/>
                <a:cs typeface="맑은 고딕"/>
              </a:rPr>
              <a:t>옷 부분을 찾아낸 것</a:t>
            </a:r>
          </a:p>
        </p:txBody>
      </p:sp>
      <p:sp>
        <p:nvSpPr>
          <p:cNvPr id="11" name="TextBox 10"/>
          <p:cNvSpPr txBox="1"/>
          <p:nvPr/>
        </p:nvSpPr>
        <p:spPr>
          <a:xfrm>
            <a:off x="7799832" y="2825496"/>
            <a:ext cx="2377440" cy="237744"/>
          </a:xfrm>
          <a:prstGeom prst="rect">
            <a:avLst/>
          </a:prstGeom>
          <a:noFill/>
        </p:spPr>
        <p:txBody>
          <a:bodyPr wrap="square" lIns="0" rIns="0" tIns="0" bIns="0" anchor="t">
            <a:spAutoFit/>
          </a:bodyPr>
          <a:lstStyle/>
          <a:p>
            <a:pPr algn="l">
              <a:spcBef>
                <a:spcPts val="0"/>
              </a:spcBef>
              <a:spcAft>
                <a:spcPts val="200"/>
              </a:spcAft>
            </a:pPr>
            <a:r>
              <a:rPr sz="1050" b="0" i="0">
                <a:solidFill>
                  <a:srgbClr val="767171"/>
                </a:solidFill>
                <a:latin typeface="맑은 고딕"/>
                <a:ea typeface="맑은 고딕"/>
                <a:cs typeface="맑은 고딕"/>
              </a:rPr>
              <a:t>나머지는 옷이 안 보임</a:t>
            </a:r>
          </a:p>
        </p:txBody>
      </p:sp>
      <p:sp>
        <p:nvSpPr>
          <p:cNvPr id="12" name="Down Arrow 11"/>
          <p:cNvSpPr/>
          <p:nvPr/>
        </p:nvSpPr>
        <p:spPr>
          <a:xfrm>
            <a:off x="5093208" y="3136391"/>
            <a:ext cx="91440" cy="109728"/>
          </a:xfrm>
          <a:prstGeom prst="downArrow">
            <a:avLst/>
          </a:prstGeom>
          <a:solidFill>
            <a:srgbClr val="B4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84448" y="3255264"/>
            <a:ext cx="3108960" cy="402336"/>
          </a:xfrm>
          <a:prstGeom prst="roundRect">
            <a:avLst>
              <a:gd name="adj" fmla="val 10000"/>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38,829</a:t>
            </a:r>
          </a:p>
        </p:txBody>
      </p:sp>
      <p:sp>
        <p:nvSpPr>
          <p:cNvPr id="14" name="TextBox 13"/>
          <p:cNvSpPr txBox="1"/>
          <p:nvPr/>
        </p:nvSpPr>
        <p:spPr>
          <a:xfrm>
            <a:off x="585216" y="3346704"/>
            <a:ext cx="2852927" cy="256032"/>
          </a:xfrm>
          <a:prstGeom prst="rect">
            <a:avLst/>
          </a:prstGeom>
          <a:noFill/>
        </p:spPr>
        <p:txBody>
          <a:bodyPr wrap="square" lIns="0" rIns="0" tIns="0" bIns="0" anchor="t">
            <a:spAutoFit/>
          </a:bodyPr>
          <a:lstStyle/>
          <a:p>
            <a:pPr algn="r">
              <a:spcBef>
                <a:spcPts val="0"/>
              </a:spcBef>
              <a:spcAft>
                <a:spcPts val="200"/>
              </a:spcAft>
            </a:pPr>
            <a:r>
              <a:rPr sz="1200" b="0" i="0">
                <a:solidFill>
                  <a:srgbClr val="27251E"/>
                </a:solidFill>
                <a:latin typeface="맑은 고딕"/>
                <a:ea typeface="맑은 고딕"/>
                <a:cs typeface="맑은 고딕"/>
              </a:rPr>
              <a:t>색·옷·무늬가 맞는 것</a:t>
            </a:r>
          </a:p>
        </p:txBody>
      </p:sp>
      <p:sp>
        <p:nvSpPr>
          <p:cNvPr id="15" name="TextBox 14"/>
          <p:cNvSpPr txBox="1"/>
          <p:nvPr/>
        </p:nvSpPr>
        <p:spPr>
          <a:xfrm>
            <a:off x="6839712" y="3355848"/>
            <a:ext cx="2377440" cy="237744"/>
          </a:xfrm>
          <a:prstGeom prst="rect">
            <a:avLst/>
          </a:prstGeom>
          <a:noFill/>
        </p:spPr>
        <p:txBody>
          <a:bodyPr wrap="square" lIns="0" rIns="0" tIns="0" bIns="0" anchor="t">
            <a:spAutoFit/>
          </a:bodyPr>
          <a:lstStyle/>
          <a:p>
            <a:pPr algn="l">
              <a:spcBef>
                <a:spcPts val="0"/>
              </a:spcBef>
              <a:spcAft>
                <a:spcPts val="200"/>
              </a:spcAft>
            </a:pPr>
            <a:r>
              <a:rPr sz="1050" b="0" i="0">
                <a:solidFill>
                  <a:srgbClr val="767171"/>
                </a:solidFill>
                <a:latin typeface="맑은 고딕"/>
                <a:ea typeface="맑은 고딕"/>
                <a:cs typeface="맑은 고딕"/>
              </a:rPr>
              <a:t>셋 다 통과한 것만</a:t>
            </a:r>
          </a:p>
        </p:txBody>
      </p:sp>
      <p:sp>
        <p:nvSpPr>
          <p:cNvPr id="16" name="Down Arrow 15"/>
          <p:cNvSpPr/>
          <p:nvPr/>
        </p:nvSpPr>
        <p:spPr>
          <a:xfrm>
            <a:off x="5093208" y="3666744"/>
            <a:ext cx="91440" cy="109728"/>
          </a:xfrm>
          <a:prstGeom prst="downArrow">
            <a:avLst/>
          </a:prstGeom>
          <a:solidFill>
            <a:srgbClr val="B4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04487" y="3785616"/>
            <a:ext cx="2468880" cy="402336"/>
          </a:xfrm>
          <a:prstGeom prst="roundRect">
            <a:avLst>
              <a:gd name="adj" fmla="val 10000"/>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19,012</a:t>
            </a:r>
          </a:p>
        </p:txBody>
      </p:sp>
      <p:sp>
        <p:nvSpPr>
          <p:cNvPr id="18" name="TextBox 17"/>
          <p:cNvSpPr txBox="1"/>
          <p:nvPr/>
        </p:nvSpPr>
        <p:spPr>
          <a:xfrm>
            <a:off x="585216" y="3877056"/>
            <a:ext cx="3172967" cy="256032"/>
          </a:xfrm>
          <a:prstGeom prst="rect">
            <a:avLst/>
          </a:prstGeom>
          <a:noFill/>
        </p:spPr>
        <p:txBody>
          <a:bodyPr wrap="square" lIns="0" rIns="0" tIns="0" bIns="0" anchor="t">
            <a:spAutoFit/>
          </a:bodyPr>
          <a:lstStyle/>
          <a:p>
            <a:pPr algn="r">
              <a:spcBef>
                <a:spcPts val="0"/>
              </a:spcBef>
              <a:spcAft>
                <a:spcPts val="200"/>
              </a:spcAft>
            </a:pPr>
            <a:r>
              <a:rPr sz="1200" b="0" i="0">
                <a:solidFill>
                  <a:srgbClr val="27251E"/>
                </a:solidFill>
                <a:latin typeface="맑은 고딕"/>
                <a:ea typeface="맑은 고딕"/>
                <a:cs typeface="맑은 고딕"/>
              </a:rPr>
              <a:t>후보로 저장</a:t>
            </a:r>
          </a:p>
        </p:txBody>
      </p:sp>
      <p:sp>
        <p:nvSpPr>
          <p:cNvPr id="19" name="TextBox 18"/>
          <p:cNvSpPr txBox="1"/>
          <p:nvPr/>
        </p:nvSpPr>
        <p:spPr>
          <a:xfrm>
            <a:off x="6519672" y="3886200"/>
            <a:ext cx="2377440" cy="237744"/>
          </a:xfrm>
          <a:prstGeom prst="rect">
            <a:avLst/>
          </a:prstGeom>
          <a:noFill/>
        </p:spPr>
        <p:txBody>
          <a:bodyPr wrap="square" lIns="0" rIns="0" tIns="0" bIns="0" anchor="t">
            <a:spAutoFit/>
          </a:bodyPr>
          <a:lstStyle/>
          <a:p>
            <a:pPr algn="l">
              <a:spcBef>
                <a:spcPts val="0"/>
              </a:spcBef>
              <a:spcAft>
                <a:spcPts val="200"/>
              </a:spcAft>
            </a:pPr>
            <a:r>
              <a:rPr sz="1050" b="0" i="0">
                <a:solidFill>
                  <a:srgbClr val="767171"/>
                </a:solidFill>
                <a:latin typeface="맑은 고딕"/>
                <a:ea typeface="맑은 고딕"/>
                <a:cs typeface="맑은 고딕"/>
              </a:rPr>
              <a:t>칸마다 상위 10장</a:t>
            </a:r>
          </a:p>
        </p:txBody>
      </p:sp>
      <p:sp>
        <p:nvSpPr>
          <p:cNvPr id="20" name="Down Arrow 19"/>
          <p:cNvSpPr/>
          <p:nvPr/>
        </p:nvSpPr>
        <p:spPr>
          <a:xfrm>
            <a:off x="5093208" y="4197096"/>
            <a:ext cx="91440" cy="109728"/>
          </a:xfrm>
          <a:prstGeom prst="downArrow">
            <a:avLst/>
          </a:prstGeom>
          <a:solidFill>
            <a:srgbClr val="B4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21708" y="4315968"/>
            <a:ext cx="1234440" cy="402336"/>
          </a:xfrm>
          <a:prstGeom prst="roundRect">
            <a:avLst>
              <a:gd name="adj" fmla="val 10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1,223</a:t>
            </a:r>
          </a:p>
        </p:txBody>
      </p:sp>
      <p:sp>
        <p:nvSpPr>
          <p:cNvPr id="22" name="TextBox 21"/>
          <p:cNvSpPr txBox="1"/>
          <p:nvPr/>
        </p:nvSpPr>
        <p:spPr>
          <a:xfrm>
            <a:off x="585216" y="4407408"/>
            <a:ext cx="3790188" cy="256032"/>
          </a:xfrm>
          <a:prstGeom prst="rect">
            <a:avLst/>
          </a:prstGeom>
          <a:noFill/>
        </p:spPr>
        <p:txBody>
          <a:bodyPr wrap="square" lIns="0" rIns="0" tIns="0" bIns="0" anchor="t">
            <a:spAutoFit/>
          </a:bodyPr>
          <a:lstStyle/>
          <a:p>
            <a:pPr algn="r">
              <a:spcBef>
                <a:spcPts val="0"/>
              </a:spcBef>
              <a:spcAft>
                <a:spcPts val="200"/>
              </a:spcAft>
            </a:pPr>
            <a:r>
              <a:rPr sz="1200" b="1" i="0">
                <a:solidFill>
                  <a:srgbClr val="004094"/>
                </a:solidFill>
                <a:latin typeface="맑은 고딕"/>
                <a:ea typeface="맑은 고딕"/>
                <a:cs typeface="맑은 고딕"/>
              </a:rPr>
              <a:t>사람이 눈으로 최종 확인</a:t>
            </a:r>
          </a:p>
        </p:txBody>
      </p:sp>
      <p:sp>
        <p:nvSpPr>
          <p:cNvPr id="23" name="TextBox 22"/>
          <p:cNvSpPr txBox="1"/>
          <p:nvPr/>
        </p:nvSpPr>
        <p:spPr>
          <a:xfrm>
            <a:off x="5902452" y="4416552"/>
            <a:ext cx="2377440" cy="237744"/>
          </a:xfrm>
          <a:prstGeom prst="rect">
            <a:avLst/>
          </a:prstGeom>
          <a:noFill/>
        </p:spPr>
        <p:txBody>
          <a:bodyPr wrap="square" lIns="0" rIns="0" tIns="0" bIns="0" anchor="t">
            <a:spAutoFit/>
          </a:bodyPr>
          <a:lstStyle/>
          <a:p>
            <a:pPr algn="l">
              <a:spcBef>
                <a:spcPts val="0"/>
              </a:spcBef>
              <a:spcAft>
                <a:spcPts val="200"/>
              </a:spcAft>
            </a:pPr>
            <a:r>
              <a:rPr sz="1050" b="0" i="0">
                <a:solidFill>
                  <a:srgbClr val="767171"/>
                </a:solidFill>
                <a:latin typeface="맑은 고딕"/>
                <a:ea typeface="맑은 고딕"/>
                <a:cs typeface="맑은 고딕"/>
              </a:rPr>
              <a:t>1,661칸 전수 확인</a:t>
            </a:r>
          </a:p>
        </p:txBody>
      </p:sp>
      <p:sp>
        <p:nvSpPr>
          <p:cNvPr id="24" name="Rounded Rectangle 23"/>
          <p:cNvSpPr/>
          <p:nvPr/>
        </p:nvSpPr>
        <p:spPr>
          <a:xfrm>
            <a:off x="585216" y="5138928"/>
            <a:ext cx="8732520" cy="603504"/>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5" name="TextBox 24"/>
          <p:cNvSpPr txBox="1"/>
          <p:nvPr/>
        </p:nvSpPr>
        <p:spPr>
          <a:xfrm>
            <a:off x="768096" y="5248656"/>
            <a:ext cx="8366760" cy="402336"/>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16만 장을 걸러, 마지막엔 </a:t>
            </a:r>
            <a:r>
              <a:rPr sz="1350" b="1" i="0">
                <a:solidFill>
                  <a:srgbClr val="004094"/>
                </a:solidFill>
                <a:latin typeface="맑은 고딕"/>
                <a:ea typeface="맑은 고딕"/>
                <a:cs typeface="맑은 고딕"/>
              </a:rPr>
              <a:t>제가 직접 1,223칸을 눈으로 확인</a:t>
            </a:r>
            <a:r>
              <a:rPr sz="1350" b="0" i="0">
                <a:solidFill>
                  <a:srgbClr val="27251E"/>
                </a:solidFill>
                <a:latin typeface="맑은 고딕"/>
                <a:ea typeface="맑은 고딕"/>
                <a:cs typeface="맑은 고딕"/>
              </a:rPr>
              <a:t>했습니다.</a:t>
            </a:r>
          </a:p>
        </p:txBody>
      </p:sp>
      <p:sp>
        <p:nvSpPr>
          <p:cNvPr id="26" name="TextBox 25"/>
          <p:cNvSpPr txBox="1"/>
          <p:nvPr/>
        </p:nvSpPr>
        <p:spPr>
          <a:xfrm>
            <a:off x="585216" y="5907024"/>
            <a:ext cx="8732520" cy="548640"/>
          </a:xfrm>
          <a:prstGeom prst="rect">
            <a:avLst/>
          </a:prstGeom>
          <a:noFill/>
        </p:spPr>
        <p:txBody>
          <a:bodyPr wrap="square" lIns="0" rIns="0" tIns="0" bIns="0" anchor="t">
            <a:spAutoFit/>
          </a:bodyPr>
          <a:lstStyle/>
          <a:p>
            <a:pPr algn="l">
              <a:spcBef>
                <a:spcPts val="0"/>
              </a:spcBef>
              <a:spcAft>
                <a:spcPts val="200"/>
              </a:spcAft>
            </a:pPr>
            <a:r>
              <a:rPr sz="1250" b="1" i="0">
                <a:solidFill>
                  <a:srgbClr val="767171"/>
                </a:solidFill>
                <a:latin typeface="맑은 고딕"/>
                <a:ea typeface="맑은 고딕"/>
                <a:cs typeface="맑은 고딕"/>
              </a:rPr>
              <a:t>결과  </a:t>
            </a:r>
            <a:r>
              <a:rPr sz="1250" b="0" i="0">
                <a:solidFill>
                  <a:srgbClr val="767171"/>
                </a:solidFill>
                <a:latin typeface="맑은 고딕"/>
                <a:ea typeface="맑은 고딕"/>
                <a:cs typeface="맑은 고딕"/>
              </a:rPr>
              <a:t>전체 문항의 </a:t>
            </a:r>
            <a:r>
              <a:rPr sz="1250" b="1" i="0">
                <a:solidFill>
                  <a:srgbClr val="004094"/>
                </a:solidFill>
                <a:latin typeface="맑은 고딕"/>
                <a:ea typeface="맑은 고딕"/>
                <a:cs typeface="맑은 고딕"/>
              </a:rPr>
              <a:t>97.3%</a:t>
            </a:r>
            <a:r>
              <a:rPr sz="1250" b="0" i="0">
                <a:solidFill>
                  <a:srgbClr val="767171"/>
                </a:solidFill>
                <a:latin typeface="맑은 고딕"/>
                <a:ea typeface="맑은 고딕"/>
                <a:cs typeface="맑은 고딕"/>
              </a:rPr>
              <a:t>가 사진 네 장을 모두 확보했습니다.</a:t>
            </a:r>
          </a:p>
          <a:p>
            <a:pPr algn="l">
              <a:spcBef>
                <a:spcPts val="300"/>
              </a:spcBef>
              <a:spcAft>
                <a:spcPts val="200"/>
              </a:spcAft>
            </a:pPr>
            <a:r>
              <a:rPr sz="1150" b="0" i="0">
                <a:solidFill>
                  <a:srgbClr val="767171"/>
                </a:solidFill>
                <a:latin typeface="맑은 고딕"/>
                <a:ea typeface="맑은 고딕"/>
                <a:cs typeface="맑은 고딕"/>
              </a:rPr>
              <a:t>사진이 없어서 버린 문항이 거의 없다는 뜻입니다.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8</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문제해결 ①  검색이 엉뚱한 옷을 가져온다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“체크무늬 베이지 셔츠”를 찾으면 </a:t>
            </a:r>
            <a:r>
              <a:rPr sz="1500" b="1" i="0">
                <a:solidFill>
                  <a:srgbClr val="C00000"/>
                </a:solidFill>
                <a:latin typeface="맑은 고딕"/>
                <a:ea typeface="맑은 고딕"/>
                <a:cs typeface="맑은 고딕"/>
              </a:rPr>
              <a:t>주머니에만 체크가 있는 옷</a:t>
            </a:r>
            <a:r>
              <a:rPr sz="1500" b="0" i="0">
                <a:solidFill>
                  <a:srgbClr val="27251E"/>
                </a:solidFill>
                <a:latin typeface="맑은 고딕"/>
                <a:ea typeface="맑은 고딕"/>
                <a:cs typeface="맑은 고딕"/>
              </a:rPr>
              <a:t>이 통과했습니다.</a:t>
            </a:r>
          </a:p>
        </p:txBody>
      </p:sp>
      <p:pic>
        <p:nvPicPr>
          <p:cNvPr id="6" name="Picture 5" descr="fig_patch.png"/>
          <p:cNvPicPr>
            <a:picLocks noChangeAspect="1"/>
          </p:cNvPicPr>
          <p:nvPr/>
        </p:nvPicPr>
        <p:blipFill>
          <a:blip r:embed="rId3"/>
          <a:stretch>
            <a:fillRect/>
          </a:stretch>
        </p:blipFill>
        <p:spPr>
          <a:xfrm>
            <a:off x="1755648" y="1956816"/>
            <a:ext cx="6400800" cy="2241942"/>
          </a:xfrm>
          <a:prstGeom prst="rect">
            <a:avLst/>
          </a:prstGeom>
        </p:spPr>
      </p:pic>
      <p:sp>
        <p:nvSpPr>
          <p:cNvPr id="7" name="TextBox 6"/>
          <p:cNvSpPr txBox="1"/>
          <p:nvPr/>
        </p:nvSpPr>
        <p:spPr>
          <a:xfrm>
            <a:off x="585216" y="4297680"/>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세 가지를 시도했고, 셋 다 실패했습니다</a:t>
            </a:r>
          </a:p>
        </p:txBody>
      </p:sp>
      <p:sp>
        <p:nvSpPr>
          <p:cNvPr id="8" name="Rounded Rectangle 7"/>
          <p:cNvSpPr/>
          <p:nvPr/>
        </p:nvSpPr>
        <p:spPr>
          <a:xfrm>
            <a:off x="585216" y="4626864"/>
            <a:ext cx="2825496" cy="6217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767171"/>
                </a:solidFill>
                <a:latin typeface="맑은 고딕"/>
                <a:ea typeface="맑은 고딕"/>
                <a:cs typeface="맑은 고딕"/>
              </a:rPr>
              <a:t>검색어를 더 자세히</a:t>
            </a:r>
          </a:p>
          <a:p>
            <a:pPr algn="ctr">
              <a:spcBef>
                <a:spcPts val="0"/>
              </a:spcBef>
              <a:spcAft>
                <a:spcPts val="200"/>
              </a:spcAft>
            </a:pPr>
            <a:r>
              <a:rPr sz="1150" b="1" i="0">
                <a:solidFill>
                  <a:srgbClr val="C00000"/>
                </a:solidFill>
                <a:latin typeface="맑은 고딕"/>
                <a:ea typeface="맑은 고딕"/>
                <a:cs typeface="맑은 고딕"/>
              </a:rPr>
              <a:t>✕  옷 정확도만 조금 올라감</a:t>
            </a:r>
          </a:p>
        </p:txBody>
      </p:sp>
      <p:sp>
        <p:nvSpPr>
          <p:cNvPr id="9" name="Rounded Rectangle 8"/>
          <p:cNvSpPr/>
          <p:nvPr/>
        </p:nvSpPr>
        <p:spPr>
          <a:xfrm>
            <a:off x="3538728" y="4626864"/>
            <a:ext cx="2825496" cy="6217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767171"/>
                </a:solidFill>
                <a:latin typeface="맑은 고딕"/>
                <a:ea typeface="맑은 고딕"/>
                <a:cs typeface="맑은 고딕"/>
              </a:rPr>
              <a:t>재정렬 모델 추가</a:t>
            </a:r>
          </a:p>
          <a:p>
            <a:pPr algn="ctr">
              <a:spcBef>
                <a:spcPts val="0"/>
              </a:spcBef>
              <a:spcAft>
                <a:spcPts val="200"/>
              </a:spcAft>
            </a:pPr>
            <a:r>
              <a:rPr sz="1150" b="1" i="0">
                <a:solidFill>
                  <a:srgbClr val="C00000"/>
                </a:solidFill>
                <a:latin typeface="맑은 고딕"/>
                <a:ea typeface="맑은 고딕"/>
                <a:cs typeface="맑은 고딕"/>
              </a:rPr>
              <a:t>✕  효과 없음</a:t>
            </a:r>
          </a:p>
        </p:txBody>
      </p:sp>
      <p:sp>
        <p:nvSpPr>
          <p:cNvPr id="10" name="Rounded Rectangle 9"/>
          <p:cNvSpPr/>
          <p:nvPr/>
        </p:nvSpPr>
        <p:spPr>
          <a:xfrm>
            <a:off x="6492240" y="4626864"/>
            <a:ext cx="2825496" cy="6217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767171"/>
                </a:solidFill>
                <a:latin typeface="맑은 고딕"/>
                <a:ea typeface="맑은 고딕"/>
                <a:cs typeface="맑은 고딕"/>
              </a:rPr>
              <a:t>AI에게 판정 맡기기</a:t>
            </a:r>
          </a:p>
          <a:p>
            <a:pPr algn="ctr">
              <a:spcBef>
                <a:spcPts val="0"/>
              </a:spcBef>
              <a:spcAft>
                <a:spcPts val="200"/>
              </a:spcAft>
            </a:pPr>
            <a:r>
              <a:rPr sz="1150" b="1" i="0">
                <a:solidFill>
                  <a:srgbClr val="C00000"/>
                </a:solidFill>
                <a:latin typeface="맑은 고딕"/>
                <a:ea typeface="맑은 고딕"/>
                <a:cs typeface="맑은 고딕"/>
              </a:rPr>
              <a:t>✕  똑같은 한계</a:t>
            </a:r>
          </a:p>
        </p:txBody>
      </p:sp>
      <p:sp>
        <p:nvSpPr>
          <p:cNvPr id="11" name="Rounded Rectangle 10"/>
          <p:cNvSpPr/>
          <p:nvPr/>
        </p:nvSpPr>
        <p:spPr>
          <a:xfrm>
            <a:off x="585216" y="5376672"/>
            <a:ext cx="8732520" cy="987552"/>
          </a:xfrm>
          <a:prstGeom prst="roundRect">
            <a:avLst>
              <a:gd name="adj" fmla="val 8000"/>
            </a:avLst>
          </a:prstGeom>
          <a:solidFill>
            <a:srgbClr val="E9F1FA"/>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2" name="TextBox 11"/>
          <p:cNvSpPr txBox="1"/>
          <p:nvPr/>
        </p:nvSpPr>
        <p:spPr>
          <a:xfrm>
            <a:off x="768096" y="5486400"/>
            <a:ext cx="8366760" cy="786384"/>
          </a:xfrm>
          <a:prstGeom prst="rect">
            <a:avLst/>
          </a:prstGeom>
          <a:noFill/>
        </p:spPr>
        <p:txBody>
          <a:bodyPr wrap="square" lIns="0" rIns="0" tIns="0" bIns="0" anchor="t">
            <a:spAutoFit/>
          </a:bodyPr>
          <a:lstStyle/>
          <a:p>
            <a:pPr algn="l">
              <a:lnSpc>
                <a:spcPct val="120000"/>
              </a:lnSpc>
              <a:spcBef>
                <a:spcPts val="0"/>
              </a:spcBef>
              <a:spcAft>
                <a:spcPts val="200"/>
              </a:spcAft>
            </a:pPr>
            <a:r>
              <a:rPr sz="1250" b="1" i="0">
                <a:solidFill>
                  <a:srgbClr val="004094"/>
                </a:solidFill>
                <a:latin typeface="맑은 고딕"/>
                <a:ea typeface="맑은 고딕"/>
                <a:cs typeface="맑은 고딕"/>
              </a:rPr>
              <a:t>원인  </a:t>
            </a:r>
            <a:r>
              <a:rPr sz="1250" b="0" i="0">
                <a:solidFill>
                  <a:srgbClr val="27251E"/>
                </a:solidFill>
                <a:latin typeface="맑은 고딕"/>
                <a:ea typeface="맑은 고딕"/>
                <a:cs typeface="맑은 고딕"/>
              </a:rPr>
              <a:t>세 방법 모두 사진 한 장을 </a:t>
            </a:r>
            <a:r>
              <a:rPr sz="1250" b="1" i="0">
                <a:solidFill>
                  <a:srgbClr val="004094"/>
                </a:solidFill>
                <a:latin typeface="맑은 고딕"/>
                <a:ea typeface="맑은 고딕"/>
                <a:cs typeface="맑은 고딕"/>
              </a:rPr>
              <a:t>숫자 하나로 요약</a:t>
            </a:r>
            <a:r>
              <a:rPr sz="1250" b="0" i="0">
                <a:solidFill>
                  <a:srgbClr val="27251E"/>
                </a:solidFill>
                <a:latin typeface="맑은 고딕"/>
                <a:ea typeface="맑은 고딕"/>
                <a:cs typeface="맑은 고딕"/>
              </a:rPr>
              <a:t>해서 비교합니다. 무늬가 어디에 있는지가 평균에 묻힙니다.</a:t>
            </a:r>
          </a:p>
          <a:p>
            <a:pPr algn="l">
              <a:lnSpc>
                <a:spcPct val="120000"/>
              </a:lnSpc>
              <a:spcBef>
                <a:spcPts val="500"/>
              </a:spcBef>
              <a:spcAft>
                <a:spcPts val="200"/>
              </a:spcAft>
            </a:pPr>
            <a:r>
              <a:rPr sz="1250" b="1" i="0">
                <a:solidFill>
                  <a:srgbClr val="004094"/>
                </a:solidFill>
                <a:latin typeface="맑은 고딕"/>
                <a:ea typeface="맑은 고딕"/>
                <a:cs typeface="맑은 고딕"/>
              </a:rPr>
              <a:t>해결  </a:t>
            </a:r>
            <a:r>
              <a:rPr sz="1250" b="0" i="0">
                <a:solidFill>
                  <a:srgbClr val="27251E"/>
                </a:solidFill>
                <a:latin typeface="맑은 고딕"/>
                <a:ea typeface="맑은 고딕"/>
                <a:cs typeface="맑은 고딕"/>
              </a:rPr>
              <a:t>옷을 잘라 격자로 나눈 뒤 칸마다 따로 확인 — 모델을 새로 학습시키지 않고 보는 단위만 바꿨습니다.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9</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문제해결 ②  거르는 순서를 바꿨다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문항 3,027개를 만들었는데 </a:t>
            </a:r>
            <a:r>
              <a:rPr sz="1500" b="1" i="0">
                <a:solidFill>
                  <a:srgbClr val="C00000"/>
                </a:solidFill>
                <a:latin typeface="맑은 고딕"/>
                <a:ea typeface="맑은 고딕"/>
                <a:cs typeface="맑은 고딕"/>
              </a:rPr>
              <a:t>사진 네 장이 다 있는 건 33%뿐</a:t>
            </a:r>
            <a:r>
              <a:rPr sz="1500" b="0" i="0">
                <a:solidFill>
                  <a:srgbClr val="27251E"/>
                </a:solidFill>
                <a:latin typeface="맑은 고딕"/>
                <a:ea typeface="맑은 고딕"/>
                <a:cs typeface="맑은 고딕"/>
              </a:rPr>
              <a:t>이었습니다.</a:t>
            </a:r>
          </a:p>
        </p:txBody>
      </p:sp>
      <p:sp>
        <p:nvSpPr>
          <p:cNvPr id="6" name="TextBox 5"/>
          <p:cNvSpPr txBox="1"/>
          <p:nvPr/>
        </p:nvSpPr>
        <p:spPr>
          <a:xfrm>
            <a:off x="585216" y="2139696"/>
            <a:ext cx="6400800" cy="237744"/>
          </a:xfrm>
          <a:prstGeom prst="rect">
            <a:avLst/>
          </a:prstGeom>
          <a:noFill/>
        </p:spPr>
        <p:txBody>
          <a:bodyPr wrap="square" lIns="0" rIns="0" tIns="0" bIns="0" anchor="t">
            <a:spAutoFit/>
          </a:bodyPr>
          <a:lstStyle/>
          <a:p>
            <a:pPr algn="l">
              <a:spcBef>
                <a:spcPts val="0"/>
              </a:spcBef>
              <a:spcAft>
                <a:spcPts val="200"/>
              </a:spcAft>
            </a:pPr>
            <a:r>
              <a:rPr sz="1200" b="1" i="0">
                <a:solidFill>
                  <a:srgbClr val="C00000"/>
                </a:solidFill>
                <a:latin typeface="맑은 고딕"/>
                <a:ea typeface="맑은 고딕"/>
                <a:cs typeface="맑은 고딕"/>
              </a:rPr>
              <a:t>이전</a:t>
            </a:r>
            <a:r>
              <a:rPr sz="1200" b="0" i="0">
                <a:solidFill>
                  <a:srgbClr val="767171"/>
                </a:solidFill>
                <a:latin typeface="맑은 고딕"/>
                <a:ea typeface="맑은 고딕"/>
                <a:cs typeface="맑은 고딕"/>
              </a:rPr>
              <a:t>   다 만들고 나서 사진 없는 걸 버림</a:t>
            </a:r>
          </a:p>
        </p:txBody>
      </p:sp>
      <p:sp>
        <p:nvSpPr>
          <p:cNvPr id="7" name="Rounded Rectangle 6"/>
          <p:cNvSpPr/>
          <p:nvPr/>
        </p:nvSpPr>
        <p:spPr>
          <a:xfrm>
            <a:off x="2103120" y="2414016"/>
            <a:ext cx="6583680" cy="420624"/>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8" name="Rounded Rectangle 7"/>
          <p:cNvSpPr/>
          <p:nvPr/>
        </p:nvSpPr>
        <p:spPr>
          <a:xfrm>
            <a:off x="2103120" y="2414016"/>
            <a:ext cx="2198949" cy="420624"/>
          </a:xfrm>
          <a:prstGeom prst="roundRect">
            <a:avLst>
              <a:gd name="adj" fmla="val 6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4448373" y="2478024"/>
            <a:ext cx="1280160" cy="310896"/>
          </a:xfrm>
          <a:prstGeom prst="rect">
            <a:avLst/>
          </a:prstGeom>
          <a:noFill/>
        </p:spPr>
        <p:txBody>
          <a:bodyPr wrap="square" lIns="0" rIns="0" tIns="0" bIns="0" anchor="t">
            <a:spAutoFit/>
          </a:bodyPr>
          <a:lstStyle/>
          <a:p>
            <a:pPr algn="l">
              <a:spcBef>
                <a:spcPts val="0"/>
              </a:spcBef>
              <a:spcAft>
                <a:spcPts val="200"/>
              </a:spcAft>
            </a:pPr>
            <a:r>
              <a:rPr sz="1700" b="1" i="0">
                <a:solidFill>
                  <a:srgbClr val="767171"/>
                </a:solidFill>
                <a:latin typeface="맑은 고딕"/>
                <a:ea typeface="맑은 고딕"/>
                <a:cs typeface="맑은 고딕"/>
              </a:rPr>
              <a:t>33.4%</a:t>
            </a:r>
          </a:p>
        </p:txBody>
      </p:sp>
      <p:sp>
        <p:nvSpPr>
          <p:cNvPr id="10" name="TextBox 9"/>
          <p:cNvSpPr txBox="1"/>
          <p:nvPr/>
        </p:nvSpPr>
        <p:spPr>
          <a:xfrm>
            <a:off x="585216" y="2962656"/>
            <a:ext cx="6400800" cy="237744"/>
          </a:xfrm>
          <a:prstGeom prst="rect">
            <a:avLst/>
          </a:prstGeom>
          <a:noFill/>
        </p:spPr>
        <p:txBody>
          <a:bodyPr wrap="square" lIns="0" rIns="0" tIns="0" bIns="0" anchor="t">
            <a:spAutoFit/>
          </a:bodyPr>
          <a:lstStyle/>
          <a:p>
            <a:pPr algn="l">
              <a:spcBef>
                <a:spcPts val="0"/>
              </a:spcBef>
              <a:spcAft>
                <a:spcPts val="200"/>
              </a:spcAft>
            </a:pPr>
            <a:r>
              <a:rPr sz="1200" b="1" i="0">
                <a:solidFill>
                  <a:srgbClr val="004094"/>
                </a:solidFill>
                <a:latin typeface="맑은 고딕"/>
                <a:ea typeface="맑은 고딕"/>
                <a:cs typeface="맑은 고딕"/>
              </a:rPr>
              <a:t>현재</a:t>
            </a:r>
            <a:r>
              <a:rPr sz="1200" b="0" i="0">
                <a:solidFill>
                  <a:srgbClr val="767171"/>
                </a:solidFill>
                <a:latin typeface="맑은 고딕"/>
                <a:ea typeface="맑은 고딕"/>
                <a:cs typeface="맑은 고딕"/>
              </a:rPr>
              <a:t>   만들 때부터 사진 있는 것만 후보로</a:t>
            </a:r>
          </a:p>
        </p:txBody>
      </p:sp>
      <p:sp>
        <p:nvSpPr>
          <p:cNvPr id="11" name="Rounded Rectangle 10"/>
          <p:cNvSpPr/>
          <p:nvPr/>
        </p:nvSpPr>
        <p:spPr>
          <a:xfrm>
            <a:off x="2103120" y="3236976"/>
            <a:ext cx="6583680" cy="420624"/>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2" name="Rounded Rectangle 11"/>
          <p:cNvSpPr/>
          <p:nvPr/>
        </p:nvSpPr>
        <p:spPr>
          <a:xfrm>
            <a:off x="2103120" y="3236976"/>
            <a:ext cx="6405920" cy="420624"/>
          </a:xfrm>
          <a:prstGeom prst="roundRect">
            <a:avLst>
              <a:gd name="adj" fmla="val 6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3" name="TextBox 12"/>
          <p:cNvSpPr txBox="1"/>
          <p:nvPr/>
        </p:nvSpPr>
        <p:spPr>
          <a:xfrm>
            <a:off x="7210592" y="3300984"/>
            <a:ext cx="1170432" cy="310896"/>
          </a:xfrm>
          <a:prstGeom prst="rect">
            <a:avLst/>
          </a:prstGeom>
          <a:noFill/>
        </p:spPr>
        <p:txBody>
          <a:bodyPr wrap="square" lIns="0" rIns="0" tIns="0" bIns="0" anchor="t">
            <a:spAutoFit/>
          </a:bodyPr>
          <a:lstStyle/>
          <a:p>
            <a:pPr algn="r">
              <a:spcBef>
                <a:spcPts val="0"/>
              </a:spcBef>
              <a:spcAft>
                <a:spcPts val="200"/>
              </a:spcAft>
            </a:pPr>
            <a:r>
              <a:rPr sz="1700" b="1" i="0">
                <a:solidFill>
                  <a:srgbClr val="FFFFFF"/>
                </a:solidFill>
                <a:latin typeface="맑은 고딕"/>
                <a:ea typeface="맑은 고딕"/>
                <a:cs typeface="맑은 고딕"/>
              </a:rPr>
              <a:t>97.3%</a:t>
            </a:r>
          </a:p>
        </p:txBody>
      </p:sp>
      <p:sp>
        <p:nvSpPr>
          <p:cNvPr id="14" name="TextBox 13"/>
          <p:cNvSpPr txBox="1"/>
          <p:nvPr/>
        </p:nvSpPr>
        <p:spPr>
          <a:xfrm>
            <a:off x="6492240" y="2852928"/>
            <a:ext cx="2194560" cy="310896"/>
          </a:xfrm>
          <a:prstGeom prst="rect">
            <a:avLst/>
          </a:prstGeom>
          <a:noFill/>
        </p:spPr>
        <p:txBody>
          <a:bodyPr wrap="square" lIns="0" rIns="0" tIns="0" bIns="0" anchor="t">
            <a:spAutoFit/>
          </a:bodyPr>
          <a:lstStyle/>
          <a:p>
            <a:pPr algn="r">
              <a:spcBef>
                <a:spcPts val="0"/>
              </a:spcBef>
              <a:spcAft>
                <a:spcPts val="200"/>
              </a:spcAft>
            </a:pPr>
            <a:r>
              <a:rPr sz="1700" b="1" i="0">
                <a:solidFill>
                  <a:srgbClr val="C00000"/>
                </a:solidFill>
                <a:latin typeface="맑은 고딕"/>
                <a:ea typeface="맑은 고딕"/>
                <a:cs typeface="맑은 고딕"/>
              </a:rPr>
              <a:t>약 3배</a:t>
            </a:r>
          </a:p>
        </p:txBody>
      </p:sp>
      <p:sp>
        <p:nvSpPr>
          <p:cNvPr id="15" name="TextBox 14"/>
          <p:cNvSpPr txBox="1"/>
          <p:nvPr/>
        </p:nvSpPr>
        <p:spPr>
          <a:xfrm>
            <a:off x="585216" y="3785615"/>
            <a:ext cx="8732520" cy="256032"/>
          </a:xfrm>
          <a:prstGeom prst="rect">
            <a:avLst/>
          </a:prstGeom>
          <a:noFill/>
        </p:spPr>
        <p:txBody>
          <a:bodyPr wrap="square" lIns="0" rIns="0" tIns="0" bIns="0" anchor="t">
            <a:spAutoFit/>
          </a:bodyPr>
          <a:lstStyle/>
          <a:p>
            <a:pPr algn="l">
              <a:spcBef>
                <a:spcPts val="0"/>
              </a:spcBef>
              <a:spcAft>
                <a:spcPts val="200"/>
              </a:spcAft>
            </a:pPr>
            <a:r>
              <a:rPr sz="1100" b="0" i="0">
                <a:solidFill>
                  <a:srgbClr val="767171"/>
                </a:solidFill>
                <a:latin typeface="맑은 고딕"/>
                <a:ea typeface="맑은 고딕"/>
                <a:cs typeface="맑은 고딕"/>
              </a:rPr>
              <a:t>사진 네 장이 모두 있는 문항의 비율</a:t>
            </a:r>
          </a:p>
        </p:txBody>
      </p:sp>
      <p:sp>
        <p:nvSpPr>
          <p:cNvPr id="16" name="Rounded Rectangle 15"/>
          <p:cNvSpPr/>
          <p:nvPr/>
        </p:nvSpPr>
        <p:spPr>
          <a:xfrm>
            <a:off x="585216" y="4224528"/>
            <a:ext cx="4224528" cy="1005840"/>
          </a:xfrm>
          <a:prstGeom prst="roundRect">
            <a:avLst>
              <a:gd name="adj" fmla="val 8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7" name="TextBox 16"/>
          <p:cNvSpPr txBox="1"/>
          <p:nvPr/>
        </p:nvSpPr>
        <p:spPr>
          <a:xfrm>
            <a:off x="749808" y="4334256"/>
            <a:ext cx="3931920" cy="804672"/>
          </a:xfrm>
          <a:prstGeom prst="rect">
            <a:avLst/>
          </a:prstGeom>
          <a:noFill/>
        </p:spPr>
        <p:txBody>
          <a:bodyPr wrap="square" lIns="0" rIns="0" tIns="0" bIns="0" anchor="t">
            <a:spAutoFit/>
          </a:bodyPr>
          <a:lstStyle/>
          <a:p>
            <a:pPr algn="l">
              <a:spcBef>
                <a:spcPts val="0"/>
              </a:spcBef>
              <a:spcAft>
                <a:spcPts val="200"/>
              </a:spcAft>
            </a:pPr>
            <a:r>
              <a:rPr sz="1300" b="1" i="0">
                <a:solidFill>
                  <a:srgbClr val="C00000"/>
                </a:solidFill>
                <a:latin typeface="맑은 고딕"/>
                <a:ea typeface="맑은 고딕"/>
                <a:cs typeface="맑은 고딕"/>
              </a:rPr>
              <a:t>진짜 문제는 수율이 아니었습니다</a:t>
            </a:r>
          </a:p>
          <a:p>
            <a:pPr algn="l">
              <a:lnSpc>
                <a:spcPct val="125000"/>
              </a:lnSpc>
              <a:spcBef>
                <a:spcPts val="600"/>
              </a:spcBef>
              <a:spcAft>
                <a:spcPts val="200"/>
              </a:spcAft>
            </a:pPr>
            <a:r>
              <a:rPr sz="1200" b="0" i="0">
                <a:solidFill>
                  <a:srgbClr val="27251E"/>
                </a:solidFill>
                <a:latin typeface="맑은 고딕"/>
                <a:ea typeface="맑은 고딕"/>
                <a:cs typeface="맑은 고딕"/>
              </a:rPr>
              <a:t>버려진 문항이 한쪽에 몰려서, 맞춰 놓은 균형이 깨졌습니다.</a:t>
            </a:r>
          </a:p>
        </p:txBody>
      </p:sp>
      <p:sp>
        <p:nvSpPr>
          <p:cNvPr id="18" name="Rounded Rectangle 17"/>
          <p:cNvSpPr/>
          <p:nvPr/>
        </p:nvSpPr>
        <p:spPr>
          <a:xfrm>
            <a:off x="5093208" y="4224528"/>
            <a:ext cx="4224528" cy="1005840"/>
          </a:xfrm>
          <a:prstGeom prst="roundRect">
            <a:avLst>
              <a:gd name="adj" fmla="val 8000"/>
            </a:avLst>
          </a:prstGeom>
          <a:solidFill>
            <a:srgbClr val="E9F1FA"/>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9" name="TextBox 18"/>
          <p:cNvSpPr txBox="1"/>
          <p:nvPr/>
        </p:nvSpPr>
        <p:spPr>
          <a:xfrm>
            <a:off x="5257800" y="4334256"/>
            <a:ext cx="3931920" cy="804672"/>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순서를 바꾸니 둘 다 해결</a:t>
            </a:r>
          </a:p>
          <a:p>
            <a:pPr algn="l">
              <a:lnSpc>
                <a:spcPct val="125000"/>
              </a:lnSpc>
              <a:spcBef>
                <a:spcPts val="600"/>
              </a:spcBef>
              <a:spcAft>
                <a:spcPts val="200"/>
              </a:spcAft>
            </a:pPr>
            <a:r>
              <a:rPr sz="1200" b="0" i="0">
                <a:solidFill>
                  <a:srgbClr val="27251E"/>
                </a:solidFill>
                <a:latin typeface="맑은 고딕"/>
                <a:ea typeface="맑은 고딕"/>
                <a:cs typeface="맑은 고딕"/>
              </a:rPr>
              <a:t>버릴 일이 없으니 균형도 설계한 그대로 남습니다.</a:t>
            </a:r>
          </a:p>
        </p:txBody>
      </p:sp>
      <p:sp>
        <p:nvSpPr>
          <p:cNvPr id="20" name="Rounded Rectangle 19"/>
          <p:cNvSpPr/>
          <p:nvPr/>
        </p:nvSpPr>
        <p:spPr>
          <a:xfrm>
            <a:off x="585216" y="5394960"/>
            <a:ext cx="8732520" cy="85953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1" name="TextBox 20"/>
          <p:cNvSpPr txBox="1"/>
          <p:nvPr/>
        </p:nvSpPr>
        <p:spPr>
          <a:xfrm>
            <a:off x="768096" y="5504688"/>
            <a:ext cx="8366760" cy="658368"/>
          </a:xfrm>
          <a:prstGeom prst="rect">
            <a:avLst/>
          </a:prstGeom>
          <a:noFill/>
        </p:spPr>
        <p:txBody>
          <a:bodyPr wrap="square" lIns="0" rIns="0" tIns="0" bIns="0" anchor="t">
            <a:spAutoFit/>
          </a:bodyPr>
          <a:lstStyle/>
          <a:p>
            <a:pPr algn="l">
              <a:lnSpc>
                <a:spcPct val="125000"/>
              </a:lnSpc>
              <a:spcBef>
                <a:spcPts val="0"/>
              </a:spcBef>
              <a:spcAft>
                <a:spcPts val="200"/>
              </a:spcAft>
            </a:pPr>
            <a:r>
              <a:rPr sz="1300" b="1" i="0">
                <a:solidFill>
                  <a:srgbClr val="004094"/>
                </a:solidFill>
                <a:latin typeface="맑은 고딕"/>
                <a:ea typeface="맑은 고딕"/>
                <a:cs typeface="맑은 고딕"/>
              </a:rPr>
              <a:t>배운 것  </a:t>
            </a:r>
            <a:r>
              <a:rPr sz="1300" b="0" i="0">
                <a:solidFill>
                  <a:srgbClr val="27251E"/>
                </a:solidFill>
                <a:latin typeface="맑은 고딕"/>
                <a:ea typeface="맑은 고딕"/>
                <a:cs typeface="맑은 고딕"/>
              </a:rPr>
              <a:t>‘나중에 거르면 된다’가 사실이 아니었습니다. 무엇을 버리느냐가 남은 데이터의 성격을 바꿉니다.</a:t>
            </a:r>
          </a:p>
          <a:p>
            <a:pPr algn="l">
              <a:spcBef>
                <a:spcPts val="400"/>
              </a:spcBef>
              <a:spcAft>
                <a:spcPts val="200"/>
              </a:spcAft>
            </a:pPr>
            <a:r>
              <a:rPr sz="1150" b="0" i="0">
                <a:solidFill>
                  <a:srgbClr val="767171"/>
                </a:solidFill>
                <a:latin typeface="맑은 고딕"/>
                <a:ea typeface="맑은 고딕"/>
                <a:cs typeface="맑은 고딕"/>
              </a:rPr>
              <a:t>조건을 새로 만든 게 아니라, 원래 있던 조건을 앞으로 옮겼을 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10</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결과</a:t>
            </a:r>
            <a:r>
              <a:rPr sz="1400" b="0" i="0">
                <a:solidFill>
                  <a:srgbClr val="767171"/>
                </a:solidFill>
                <a:latin typeface="맑은 고딕"/>
                <a:ea typeface="맑은 고딕"/>
                <a:cs typeface="맑은 고딕"/>
              </a:rPr>
              <a:t>   Qwen3-VL · 사진 4장을 보고 고르는 문제 838개</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spcBef>
                <a:spcPts val="0"/>
              </a:spcBef>
              <a:spcAft>
                <a:spcPts val="200"/>
              </a:spcAft>
            </a:pPr>
            <a:r>
              <a:rPr sz="1700" b="1" i="0">
                <a:solidFill>
                  <a:srgbClr val="27251E"/>
                </a:solidFill>
                <a:latin typeface="맑은 고딕"/>
                <a:ea typeface="맑은 고딕"/>
                <a:cs typeface="맑은 고딕"/>
              </a:rPr>
              <a:t>따로 물어보면 잘합니다. </a:t>
            </a:r>
            <a:r>
              <a:rPr sz="1700" b="1" i="0">
                <a:solidFill>
                  <a:srgbClr val="C00000"/>
                </a:solidFill>
                <a:latin typeface="맑은 고딕"/>
                <a:ea typeface="맑은 고딕"/>
                <a:cs typeface="맑은 고딕"/>
              </a:rPr>
              <a:t>그런데 같이 물어보면 상황 쪽이 무너집니다</a:t>
            </a:r>
          </a:p>
        </p:txBody>
      </p:sp>
      <p:pic>
        <p:nvPicPr>
          <p:cNvPr id="6" name="Picture 5" descr="fig_tradeoff.png"/>
          <p:cNvPicPr>
            <a:picLocks noChangeAspect="1"/>
          </p:cNvPicPr>
          <p:nvPr/>
        </p:nvPicPr>
        <p:blipFill>
          <a:blip r:embed="rId3"/>
          <a:stretch>
            <a:fillRect/>
          </a:stretch>
        </p:blipFill>
        <p:spPr>
          <a:xfrm>
            <a:off x="1069848" y="2029968"/>
            <a:ext cx="7772400" cy="3122569"/>
          </a:xfrm>
          <a:prstGeom prst="rect">
            <a:avLst/>
          </a:prstGeom>
        </p:spPr>
      </p:pic>
      <p:sp>
        <p:nvSpPr>
          <p:cNvPr id="7" name="TextBox 6"/>
          <p:cNvSpPr txBox="1"/>
          <p:nvPr/>
        </p:nvSpPr>
        <p:spPr>
          <a:xfrm>
            <a:off x="585216" y="5285232"/>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읽는 법</a:t>
            </a:r>
          </a:p>
        </p:txBody>
      </p:sp>
      <p:sp>
        <p:nvSpPr>
          <p:cNvPr id="8" name="Rounded Rectangle 7"/>
          <p:cNvSpPr/>
          <p:nvPr/>
        </p:nvSpPr>
        <p:spPr>
          <a:xfrm>
            <a:off x="585216" y="5669280"/>
            <a:ext cx="2825496" cy="713232"/>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2E75B6"/>
                </a:solidFill>
                <a:latin typeface="맑은 고딕"/>
                <a:ea typeface="맑은 고딕"/>
                <a:cs typeface="맑은 고딕"/>
              </a:rPr>
              <a:t>설계가 맞았다</a:t>
            </a:r>
          </a:p>
          <a:p>
            <a:pPr algn="ctr">
              <a:spcBef>
                <a:spcPts val="0"/>
              </a:spcBef>
              <a:spcAft>
                <a:spcPts val="200"/>
              </a:spcAft>
            </a:pPr>
            <a:r>
              <a:rPr sz="1150" b="0" i="0">
                <a:solidFill>
                  <a:srgbClr val="27251E"/>
                </a:solidFill>
                <a:latin typeface="맑은 고딕"/>
                <a:ea typeface="맑은 고딕"/>
                <a:cs typeface="맑은 고딕"/>
              </a:rPr>
              <a:t>한쪽만 주면 다른 쪽은 딱 찍기 수준</a:t>
            </a:r>
          </a:p>
        </p:txBody>
      </p:sp>
      <p:sp>
        <p:nvSpPr>
          <p:cNvPr id="9" name="Rounded Rectangle 8"/>
          <p:cNvSpPr/>
          <p:nvPr/>
        </p:nvSpPr>
        <p:spPr>
          <a:xfrm>
            <a:off x="3538728" y="5669280"/>
            <a:ext cx="2825496" cy="713232"/>
          </a:xfrm>
          <a:prstGeom prst="roundRect">
            <a:avLst>
              <a:gd name="adj" fmla="val 10000"/>
            </a:avLst>
          </a:prstGeom>
          <a:solidFill>
            <a:srgbClr val="FFF3F3"/>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C00000"/>
                </a:solidFill>
                <a:latin typeface="맑은 고딕"/>
                <a:ea typeface="맑은 고딕"/>
                <a:cs typeface="맑은 고딕"/>
              </a:rPr>
              <a:t>핵심</a:t>
            </a:r>
          </a:p>
          <a:p>
            <a:pPr algn="ctr">
              <a:spcBef>
                <a:spcPts val="0"/>
              </a:spcBef>
              <a:spcAft>
                <a:spcPts val="200"/>
              </a:spcAft>
            </a:pPr>
            <a:r>
              <a:rPr sz="1150" b="0" i="0">
                <a:solidFill>
                  <a:srgbClr val="27251E"/>
                </a:solidFill>
                <a:latin typeface="맑은 고딕"/>
                <a:ea typeface="맑은 고딕"/>
                <a:cs typeface="맑은 고딕"/>
              </a:rPr>
              <a:t>취향을 알려주면 상황 점수 16점 하락</a:t>
            </a:r>
          </a:p>
        </p:txBody>
      </p:sp>
      <p:sp>
        <p:nvSpPr>
          <p:cNvPr id="10" name="Rounded Rectangle 9"/>
          <p:cNvSpPr/>
          <p:nvPr/>
        </p:nvSpPr>
        <p:spPr>
          <a:xfrm>
            <a:off x="6492240" y="5669280"/>
            <a:ext cx="2825496" cy="713232"/>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04094"/>
                </a:solidFill>
                <a:latin typeface="맑은 고딕"/>
                <a:ea typeface="맑은 고딕"/>
                <a:cs typeface="맑은 고딕"/>
              </a:rPr>
              <a:t>결론</a:t>
            </a:r>
          </a:p>
          <a:p>
            <a:pPr algn="ctr">
              <a:spcBef>
                <a:spcPts val="0"/>
              </a:spcBef>
              <a:spcAft>
                <a:spcPts val="200"/>
              </a:spcAft>
            </a:pPr>
            <a:r>
              <a:rPr sz="1150" b="0" i="0">
                <a:solidFill>
                  <a:srgbClr val="27251E"/>
                </a:solidFill>
                <a:latin typeface="맑은 고딕"/>
                <a:ea typeface="맑은 고딕"/>
                <a:cs typeface="맑은 고딕"/>
              </a:rPr>
              <a:t>각각은 되는데 동시에는 안 됨 — 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11</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기여</a:t>
            </a:r>
            <a:r>
              <a:rPr sz="1400" b="0" i="0">
                <a:solidFill>
                  <a:srgbClr val="767171"/>
                </a:solidFill>
                <a:latin typeface="맑은 고딕"/>
                <a:ea typeface="맑은 고딕"/>
                <a:cs typeface="맑은 고딕"/>
              </a:rPr>
              <a:t>   어디서 무너지는가 · 무엇을 남겼는가</a:t>
            </a:r>
          </a:p>
        </p:txBody>
      </p:sp>
      <p:pic>
        <p:nvPicPr>
          <p:cNvPr id="5" name="Picture 4" descr="fig_breakdown.png"/>
          <p:cNvPicPr>
            <a:picLocks noChangeAspect="1"/>
          </p:cNvPicPr>
          <p:nvPr/>
        </p:nvPicPr>
        <p:blipFill>
          <a:blip r:embed="rId3"/>
          <a:stretch>
            <a:fillRect/>
          </a:stretch>
        </p:blipFill>
        <p:spPr>
          <a:xfrm>
            <a:off x="1024128" y="1591056"/>
            <a:ext cx="7863840" cy="2836385"/>
          </a:xfrm>
          <a:prstGeom prst="rect">
            <a:avLst/>
          </a:prstGeom>
        </p:spPr>
      </p:pic>
      <p:sp>
        <p:nvSpPr>
          <p:cNvPr id="6" name="TextBox 5"/>
          <p:cNvSpPr txBox="1"/>
          <p:nvPr/>
        </p:nvSpPr>
        <p:spPr>
          <a:xfrm>
            <a:off x="585216" y="4626864"/>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이번 인턴십에서 남긴 것</a:t>
            </a:r>
          </a:p>
        </p:txBody>
      </p:sp>
      <p:sp>
        <p:nvSpPr>
          <p:cNvPr id="7" name="Rounded Rectangle 6"/>
          <p:cNvSpPr/>
          <p:nvPr/>
        </p:nvSpPr>
        <p:spPr>
          <a:xfrm>
            <a:off x="585216" y="4956048"/>
            <a:ext cx="274320" cy="27432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1</a:t>
            </a:r>
          </a:p>
        </p:txBody>
      </p:sp>
      <p:sp>
        <p:nvSpPr>
          <p:cNvPr id="8" name="TextBox 7"/>
          <p:cNvSpPr txBox="1"/>
          <p:nvPr/>
        </p:nvSpPr>
        <p:spPr>
          <a:xfrm>
            <a:off x="987552" y="4974336"/>
            <a:ext cx="8293608" cy="256032"/>
          </a:xfrm>
          <a:prstGeom prst="rect">
            <a:avLst/>
          </a:prstGeom>
          <a:noFill/>
        </p:spPr>
        <p:txBody>
          <a:bodyPr wrap="square" lIns="0" rIns="0" tIns="0" bIns="0" anchor="t">
            <a:spAutoFit/>
          </a:bodyPr>
          <a:lstStyle/>
          <a:p>
            <a:pPr algn="l">
              <a:spcBef>
                <a:spcPts val="0"/>
              </a:spcBef>
              <a:spcAft>
                <a:spcPts val="200"/>
              </a:spcAft>
            </a:pPr>
            <a:r>
              <a:rPr sz="1250" b="1" i="0">
                <a:solidFill>
                  <a:srgbClr val="0A4D9B"/>
                </a:solidFill>
                <a:latin typeface="맑은 고딕"/>
                <a:ea typeface="맑은 고딕"/>
                <a:cs typeface="맑은 고딕"/>
              </a:rPr>
              <a:t>문제를 나눌 수 있는 형태로 바꿈</a:t>
            </a:r>
            <a:r>
              <a:rPr sz="1250" b="0" i="0">
                <a:solidFill>
                  <a:srgbClr val="27251E"/>
                </a:solidFill>
                <a:latin typeface="맑은 고딕"/>
                <a:ea typeface="맑은 고딕"/>
                <a:cs typeface="맑은 고딕"/>
              </a:rPr>
              <a:t>      ‘틀렸다’를 ‘어디서 틀렸다’로</a:t>
            </a:r>
          </a:p>
        </p:txBody>
      </p:sp>
      <p:sp>
        <p:nvSpPr>
          <p:cNvPr id="9" name="Rounded Rectangle 8"/>
          <p:cNvSpPr/>
          <p:nvPr/>
        </p:nvSpPr>
        <p:spPr>
          <a:xfrm>
            <a:off x="585216" y="5321808"/>
            <a:ext cx="274320" cy="27432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2</a:t>
            </a:r>
          </a:p>
        </p:txBody>
      </p:sp>
      <p:sp>
        <p:nvSpPr>
          <p:cNvPr id="10" name="TextBox 9"/>
          <p:cNvSpPr txBox="1"/>
          <p:nvPr/>
        </p:nvSpPr>
        <p:spPr>
          <a:xfrm>
            <a:off x="987552" y="5340096"/>
            <a:ext cx="8293608" cy="256032"/>
          </a:xfrm>
          <a:prstGeom prst="rect">
            <a:avLst/>
          </a:prstGeom>
          <a:noFill/>
        </p:spPr>
        <p:txBody>
          <a:bodyPr wrap="square" lIns="0" rIns="0" tIns="0" bIns="0" anchor="t">
            <a:spAutoFit/>
          </a:bodyPr>
          <a:lstStyle/>
          <a:p>
            <a:pPr algn="l">
              <a:spcBef>
                <a:spcPts val="0"/>
              </a:spcBef>
              <a:spcAft>
                <a:spcPts val="200"/>
              </a:spcAft>
            </a:pPr>
            <a:r>
              <a:rPr sz="1250" b="1" i="0">
                <a:solidFill>
                  <a:srgbClr val="0A4D9B"/>
                </a:solidFill>
                <a:latin typeface="맑은 고딕"/>
                <a:ea typeface="맑은 고딕"/>
                <a:cs typeface="맑은 고딕"/>
              </a:rPr>
              <a:t>세운 가설을 데이터로 확인</a:t>
            </a:r>
            <a:r>
              <a:rPr sz="1250" b="0" i="0">
                <a:solidFill>
                  <a:srgbClr val="27251E"/>
                </a:solidFill>
                <a:latin typeface="맑은 고딕"/>
                <a:ea typeface="맑은 고딕"/>
                <a:cs typeface="맑은 고딕"/>
              </a:rPr>
              <a:t>      각각 86 / 95점 → 동시에는 64점</a:t>
            </a:r>
          </a:p>
        </p:txBody>
      </p:sp>
      <p:sp>
        <p:nvSpPr>
          <p:cNvPr id="11" name="Rounded Rectangle 10"/>
          <p:cNvSpPr/>
          <p:nvPr/>
        </p:nvSpPr>
        <p:spPr>
          <a:xfrm>
            <a:off x="585216" y="5687568"/>
            <a:ext cx="274320" cy="27432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3</a:t>
            </a:r>
          </a:p>
        </p:txBody>
      </p:sp>
      <p:sp>
        <p:nvSpPr>
          <p:cNvPr id="12" name="TextBox 11"/>
          <p:cNvSpPr txBox="1"/>
          <p:nvPr/>
        </p:nvSpPr>
        <p:spPr>
          <a:xfrm>
            <a:off x="987552" y="5705856"/>
            <a:ext cx="8293608" cy="256032"/>
          </a:xfrm>
          <a:prstGeom prst="rect">
            <a:avLst/>
          </a:prstGeom>
          <a:noFill/>
        </p:spPr>
        <p:txBody>
          <a:bodyPr wrap="square" lIns="0" rIns="0" tIns="0" bIns="0" anchor="t">
            <a:spAutoFit/>
          </a:bodyPr>
          <a:lstStyle/>
          <a:p>
            <a:pPr algn="l">
              <a:spcBef>
                <a:spcPts val="0"/>
              </a:spcBef>
              <a:spcAft>
                <a:spcPts val="200"/>
              </a:spcAft>
            </a:pPr>
            <a:r>
              <a:rPr sz="1250" b="1" i="0">
                <a:solidFill>
                  <a:srgbClr val="0A4D9B"/>
                </a:solidFill>
                <a:latin typeface="맑은 고딕"/>
                <a:ea typeface="맑은 고딕"/>
                <a:cs typeface="맑은 고딕"/>
              </a:rPr>
              <a:t>누구나 다시 만들 수 있는 데이터셋</a:t>
            </a:r>
            <a:r>
              <a:rPr sz="1250" b="0" i="0">
                <a:solidFill>
                  <a:srgbClr val="27251E"/>
                </a:solidFill>
                <a:latin typeface="맑은 고딕"/>
                <a:ea typeface="맑은 고딕"/>
                <a:cs typeface="맑은 고딕"/>
              </a:rPr>
              <a:t>      씨앗만 같으면 결과가 동일</a:t>
            </a:r>
          </a:p>
        </p:txBody>
      </p:sp>
      <p:sp>
        <p:nvSpPr>
          <p:cNvPr id="13" name="Rounded Rectangle 12"/>
          <p:cNvSpPr/>
          <p:nvPr/>
        </p:nvSpPr>
        <p:spPr>
          <a:xfrm>
            <a:off x="585216" y="6053328"/>
            <a:ext cx="274320" cy="27432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4</a:t>
            </a:r>
          </a:p>
        </p:txBody>
      </p:sp>
      <p:sp>
        <p:nvSpPr>
          <p:cNvPr id="14" name="TextBox 13"/>
          <p:cNvSpPr txBox="1"/>
          <p:nvPr/>
        </p:nvSpPr>
        <p:spPr>
          <a:xfrm>
            <a:off x="987552" y="6071616"/>
            <a:ext cx="8293608" cy="256032"/>
          </a:xfrm>
          <a:prstGeom prst="rect">
            <a:avLst/>
          </a:prstGeom>
          <a:noFill/>
        </p:spPr>
        <p:txBody>
          <a:bodyPr wrap="square" lIns="0" rIns="0" tIns="0" bIns="0" anchor="t">
            <a:spAutoFit/>
          </a:bodyPr>
          <a:lstStyle/>
          <a:p>
            <a:pPr algn="l">
              <a:spcBef>
                <a:spcPts val="0"/>
              </a:spcBef>
              <a:spcAft>
                <a:spcPts val="200"/>
              </a:spcAft>
            </a:pPr>
            <a:r>
              <a:rPr sz="1250" b="1" i="0">
                <a:solidFill>
                  <a:srgbClr val="0A4D9B"/>
                </a:solidFill>
                <a:latin typeface="맑은 고딕"/>
                <a:ea typeface="맑은 고딕"/>
                <a:cs typeface="맑은 고딕"/>
              </a:rPr>
              <a:t>검색 단계의 한계를 진단하고 우회</a:t>
            </a:r>
            <a:r>
              <a:rPr sz="1250" b="0" i="0">
                <a:solidFill>
                  <a:srgbClr val="27251E"/>
                </a:solidFill>
                <a:latin typeface="맑은 고딕"/>
                <a:ea typeface="맑은 고딕"/>
                <a:cs typeface="맑은 고딕"/>
              </a:rPr>
              <a:t>      학습 없이 보는 단위만 교체</a:t>
            </a:r>
          </a:p>
        </p:txBody>
      </p:sp>
      <p:sp>
        <p:nvSpPr>
          <p:cNvPr id="15" name="TextBox 14"/>
          <p:cNvSpPr txBox="1"/>
          <p:nvPr/>
        </p:nvSpPr>
        <p:spPr>
          <a:xfrm>
            <a:off x="585216" y="6364224"/>
            <a:ext cx="7909560" cy="274320"/>
          </a:xfrm>
          <a:prstGeom prst="rect">
            <a:avLst/>
          </a:prstGeom>
          <a:noFill/>
        </p:spPr>
        <p:txBody>
          <a:bodyPr wrap="square" lIns="0" rIns="0" tIns="0" bIns="0" anchor="t">
            <a:spAutoFit/>
          </a:bodyPr>
          <a:lstStyle/>
          <a:p>
            <a:pPr algn="l">
              <a:spcBef>
                <a:spcPts val="0"/>
              </a:spcBef>
              <a:spcAft>
                <a:spcPts val="200"/>
              </a:spcAft>
            </a:pPr>
            <a:r>
              <a:rPr sz="1100" b="1" i="0">
                <a:solidFill>
                  <a:srgbClr val="C00000"/>
                </a:solidFill>
                <a:latin typeface="맑은 고딕"/>
                <a:ea typeface="맑은 고딕"/>
                <a:cs typeface="맑은 고딕"/>
              </a:rPr>
              <a:t>한계  </a:t>
            </a:r>
            <a:r>
              <a:rPr sz="1100" b="0" i="0">
                <a:solidFill>
                  <a:srgbClr val="767171"/>
                </a:solidFill>
                <a:latin typeface="맑은 고딕"/>
                <a:ea typeface="맑은 고딕"/>
                <a:cs typeface="맑은 고딕"/>
              </a:rPr>
              <a:t>사진 라벨 검증과 상용 모델 평가가 남아 있어 절대 수치는 잠정값입니다.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12</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향후 계획 · 소감</a:t>
            </a:r>
          </a:p>
        </p:txBody>
      </p:sp>
      <p:sp>
        <p:nvSpPr>
          <p:cNvPr id="5" name="TextBox 4"/>
          <p:cNvSpPr txBox="1"/>
          <p:nvPr/>
        </p:nvSpPr>
        <p:spPr>
          <a:xfrm>
            <a:off x="585216" y="1645920"/>
            <a:ext cx="4224528"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남은 일</a:t>
            </a:r>
          </a:p>
        </p:txBody>
      </p:sp>
      <p:sp>
        <p:nvSpPr>
          <p:cNvPr id="6" name="Rounded Rectangle 5"/>
          <p:cNvSpPr/>
          <p:nvPr/>
        </p:nvSpPr>
        <p:spPr>
          <a:xfrm>
            <a:off x="585216" y="2048256"/>
            <a:ext cx="4224528" cy="603504"/>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49808" y="2157984"/>
            <a:ext cx="3931920" cy="402336"/>
          </a:xfrm>
          <a:prstGeom prst="rect">
            <a:avLst/>
          </a:prstGeom>
          <a:noFill/>
        </p:spPr>
        <p:txBody>
          <a:bodyPr wrap="square" lIns="0" rIns="0" tIns="0" bIns="0" anchor="t">
            <a:spAutoFit/>
          </a:bodyPr>
          <a:lstStyle/>
          <a:p>
            <a:pPr algn="l">
              <a:spcBef>
                <a:spcPts val="0"/>
              </a:spcBef>
              <a:spcAft>
                <a:spcPts val="200"/>
              </a:spcAft>
            </a:pPr>
            <a:r>
              <a:rPr sz="1300" b="1" i="0">
                <a:solidFill>
                  <a:srgbClr val="0A4D9B"/>
                </a:solidFill>
                <a:latin typeface="맑은 고딕"/>
                <a:ea typeface="맑은 고딕"/>
                <a:cs typeface="맑은 고딕"/>
              </a:rPr>
              <a:t>사진 라벨 검증 마무리</a:t>
            </a:r>
          </a:p>
          <a:p>
            <a:pPr algn="l">
              <a:lnSpc>
                <a:spcPct val="110000"/>
              </a:lnSpc>
              <a:spcBef>
                <a:spcPts val="0"/>
              </a:spcBef>
              <a:spcAft>
                <a:spcPts val="200"/>
              </a:spcAft>
            </a:pPr>
            <a:r>
              <a:rPr sz="1100" b="0" i="0">
                <a:solidFill>
                  <a:srgbClr val="767171"/>
                </a:solidFill>
                <a:latin typeface="맑은 고딕"/>
                <a:ea typeface="맑은 고딕"/>
                <a:cs typeface="맑은 고딕"/>
              </a:rPr>
              <a:t>관습 기반 35개 상황</a:t>
            </a:r>
          </a:p>
        </p:txBody>
      </p:sp>
      <p:sp>
        <p:nvSpPr>
          <p:cNvPr id="8" name="Rounded Rectangle 7"/>
          <p:cNvSpPr/>
          <p:nvPr/>
        </p:nvSpPr>
        <p:spPr>
          <a:xfrm>
            <a:off x="585216" y="2743200"/>
            <a:ext cx="4224528" cy="603504"/>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749808" y="2852928"/>
            <a:ext cx="3931920" cy="402336"/>
          </a:xfrm>
          <a:prstGeom prst="rect">
            <a:avLst/>
          </a:prstGeom>
          <a:noFill/>
        </p:spPr>
        <p:txBody>
          <a:bodyPr wrap="square" lIns="0" rIns="0" tIns="0" bIns="0" anchor="t">
            <a:spAutoFit/>
          </a:bodyPr>
          <a:lstStyle/>
          <a:p>
            <a:pPr algn="l">
              <a:spcBef>
                <a:spcPts val="0"/>
              </a:spcBef>
              <a:spcAft>
                <a:spcPts val="200"/>
              </a:spcAft>
            </a:pPr>
            <a:r>
              <a:rPr sz="1300" b="1" i="0">
                <a:solidFill>
                  <a:srgbClr val="0A4D9B"/>
                </a:solidFill>
                <a:latin typeface="맑은 고딕"/>
                <a:ea typeface="맑은 고딕"/>
                <a:cs typeface="맑은 고딕"/>
              </a:rPr>
              <a:t>상용 모델로 평가 확대</a:t>
            </a:r>
          </a:p>
          <a:p>
            <a:pPr algn="l">
              <a:lnSpc>
                <a:spcPct val="110000"/>
              </a:lnSpc>
              <a:spcBef>
                <a:spcPts val="0"/>
              </a:spcBef>
              <a:spcAft>
                <a:spcPts val="200"/>
              </a:spcAft>
            </a:pPr>
            <a:r>
              <a:rPr sz="1100" b="0" i="0">
                <a:solidFill>
                  <a:srgbClr val="767171"/>
                </a:solidFill>
                <a:latin typeface="맑은 고딕"/>
                <a:ea typeface="맑은 고딕"/>
                <a:cs typeface="맑은 고딕"/>
              </a:rPr>
              <a:t>GPT · Gemini 등 2종 이상</a:t>
            </a:r>
          </a:p>
        </p:txBody>
      </p:sp>
      <p:sp>
        <p:nvSpPr>
          <p:cNvPr id="10" name="Rounded Rectangle 9"/>
          <p:cNvSpPr/>
          <p:nvPr/>
        </p:nvSpPr>
        <p:spPr>
          <a:xfrm>
            <a:off x="585216" y="3438144"/>
            <a:ext cx="4224528" cy="603504"/>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1" name="TextBox 10"/>
          <p:cNvSpPr txBox="1"/>
          <p:nvPr/>
        </p:nvSpPr>
        <p:spPr>
          <a:xfrm>
            <a:off x="749808" y="3547872"/>
            <a:ext cx="3931920" cy="402336"/>
          </a:xfrm>
          <a:prstGeom prst="rect">
            <a:avLst/>
          </a:prstGeom>
          <a:noFill/>
        </p:spPr>
        <p:txBody>
          <a:bodyPr wrap="square" lIns="0" rIns="0" tIns="0" bIns="0" anchor="t">
            <a:spAutoFit/>
          </a:bodyPr>
          <a:lstStyle/>
          <a:p>
            <a:pPr algn="l">
              <a:spcBef>
                <a:spcPts val="0"/>
              </a:spcBef>
              <a:spcAft>
                <a:spcPts val="200"/>
              </a:spcAft>
            </a:pPr>
            <a:r>
              <a:rPr sz="1300" b="1" i="0">
                <a:solidFill>
                  <a:srgbClr val="0A4D9B"/>
                </a:solidFill>
                <a:latin typeface="맑은 고딕"/>
                <a:ea typeface="맑은 고딕"/>
                <a:cs typeface="맑은 고딕"/>
              </a:rPr>
              <a:t>선지 순서 편향 실험</a:t>
            </a:r>
          </a:p>
          <a:p>
            <a:pPr algn="l">
              <a:lnSpc>
                <a:spcPct val="110000"/>
              </a:lnSpc>
              <a:spcBef>
                <a:spcPts val="0"/>
              </a:spcBef>
              <a:spcAft>
                <a:spcPts val="200"/>
              </a:spcAft>
            </a:pPr>
            <a:r>
              <a:rPr sz="1100" b="0" i="0">
                <a:solidFill>
                  <a:srgbClr val="767171"/>
                </a:solidFill>
                <a:latin typeface="맑은 고딕"/>
                <a:ea typeface="맑은 고딕"/>
                <a:cs typeface="맑은 고딕"/>
              </a:rPr>
              <a:t>정답 위치를 바꿔도 같은가</a:t>
            </a:r>
          </a:p>
        </p:txBody>
      </p:sp>
      <p:sp>
        <p:nvSpPr>
          <p:cNvPr id="12" name="TextBox 11"/>
          <p:cNvSpPr txBox="1"/>
          <p:nvPr/>
        </p:nvSpPr>
        <p:spPr>
          <a:xfrm>
            <a:off x="5093208" y="1645920"/>
            <a:ext cx="4224528"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학업 · 진로 계획</a:t>
            </a:r>
          </a:p>
        </p:txBody>
      </p:sp>
      <p:sp>
        <p:nvSpPr>
          <p:cNvPr id="13" name="Rounded Rectangle 12"/>
          <p:cNvSpPr/>
          <p:nvPr/>
        </p:nvSpPr>
        <p:spPr>
          <a:xfrm>
            <a:off x="5093208" y="2084831"/>
            <a:ext cx="603504" cy="274320"/>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단기</a:t>
            </a:r>
          </a:p>
        </p:txBody>
      </p:sp>
      <p:sp>
        <p:nvSpPr>
          <p:cNvPr id="14" name="TextBox 13"/>
          <p:cNvSpPr txBox="1"/>
          <p:nvPr/>
        </p:nvSpPr>
        <p:spPr>
          <a:xfrm>
            <a:off x="5833872" y="2103120"/>
            <a:ext cx="3483864" cy="493776"/>
          </a:xfrm>
          <a:prstGeom prst="rect">
            <a:avLst/>
          </a:prstGeom>
          <a:noFill/>
        </p:spPr>
        <p:txBody>
          <a:bodyPr wrap="square" lIns="0" rIns="0" tIns="0" bIns="0" anchor="t">
            <a:spAutoFit/>
          </a:bodyPr>
          <a:lstStyle/>
          <a:p>
            <a:pPr algn="l">
              <a:lnSpc>
                <a:spcPct val="120000"/>
              </a:lnSpc>
              <a:spcBef>
                <a:spcPts val="0"/>
              </a:spcBef>
              <a:spcAft>
                <a:spcPts val="200"/>
              </a:spcAft>
            </a:pPr>
            <a:r>
              <a:rPr sz="1250" b="0" i="0">
                <a:solidFill>
                  <a:srgbClr val="27251E"/>
                </a:solidFill>
                <a:latin typeface="맑은 고딕"/>
                <a:ea typeface="맑은 고딕"/>
                <a:cs typeface="맑은 고딕"/>
              </a:rPr>
              <a:t>이 연구를 논문 투고 수준으로 정리</a:t>
            </a:r>
          </a:p>
        </p:txBody>
      </p:sp>
      <p:sp>
        <p:nvSpPr>
          <p:cNvPr id="15" name="Rounded Rectangle 14"/>
          <p:cNvSpPr/>
          <p:nvPr/>
        </p:nvSpPr>
        <p:spPr>
          <a:xfrm>
            <a:off x="5093208" y="2688336"/>
            <a:ext cx="603504" cy="274320"/>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중기</a:t>
            </a:r>
          </a:p>
        </p:txBody>
      </p:sp>
      <p:sp>
        <p:nvSpPr>
          <p:cNvPr id="16" name="TextBox 15"/>
          <p:cNvSpPr txBox="1"/>
          <p:nvPr/>
        </p:nvSpPr>
        <p:spPr>
          <a:xfrm>
            <a:off x="5833872" y="2706624"/>
            <a:ext cx="3483864" cy="493776"/>
          </a:xfrm>
          <a:prstGeom prst="rect">
            <a:avLst/>
          </a:prstGeom>
          <a:noFill/>
        </p:spPr>
        <p:txBody>
          <a:bodyPr wrap="square" lIns="0" rIns="0" tIns="0" bIns="0" anchor="t">
            <a:spAutoFit/>
          </a:bodyPr>
          <a:lstStyle/>
          <a:p>
            <a:pPr algn="l">
              <a:lnSpc>
                <a:spcPct val="120000"/>
              </a:lnSpc>
              <a:spcBef>
                <a:spcPts val="0"/>
              </a:spcBef>
              <a:spcAft>
                <a:spcPts val="200"/>
              </a:spcAft>
            </a:pPr>
            <a:r>
              <a:rPr sz="1250" b="0" i="0">
                <a:solidFill>
                  <a:srgbClr val="27251E"/>
                </a:solidFill>
                <a:latin typeface="맑은 고딕"/>
                <a:ea typeface="맑은 고딕"/>
                <a:cs typeface="맑은 고딕"/>
              </a:rPr>
              <a:t>AI 평가 방법론을 주제로 대학원 진학 준비</a:t>
            </a:r>
          </a:p>
        </p:txBody>
      </p:sp>
      <p:sp>
        <p:nvSpPr>
          <p:cNvPr id="17" name="Rounded Rectangle 16"/>
          <p:cNvSpPr/>
          <p:nvPr/>
        </p:nvSpPr>
        <p:spPr>
          <a:xfrm>
            <a:off x="5093208" y="3291840"/>
            <a:ext cx="603504" cy="274320"/>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장기</a:t>
            </a:r>
          </a:p>
        </p:txBody>
      </p:sp>
      <p:sp>
        <p:nvSpPr>
          <p:cNvPr id="18" name="TextBox 17"/>
          <p:cNvSpPr txBox="1"/>
          <p:nvPr/>
        </p:nvSpPr>
        <p:spPr>
          <a:xfrm>
            <a:off x="5833872" y="3310128"/>
            <a:ext cx="3483864" cy="493776"/>
          </a:xfrm>
          <a:prstGeom prst="rect">
            <a:avLst/>
          </a:prstGeom>
          <a:noFill/>
        </p:spPr>
        <p:txBody>
          <a:bodyPr wrap="square" lIns="0" rIns="0" tIns="0" bIns="0" anchor="t">
            <a:spAutoFit/>
          </a:bodyPr>
          <a:lstStyle/>
          <a:p>
            <a:pPr algn="l">
              <a:lnSpc>
                <a:spcPct val="120000"/>
              </a:lnSpc>
              <a:spcBef>
                <a:spcPts val="0"/>
              </a:spcBef>
              <a:spcAft>
                <a:spcPts val="200"/>
              </a:spcAft>
            </a:pPr>
            <a:r>
              <a:rPr sz="1250" b="0" i="0">
                <a:solidFill>
                  <a:srgbClr val="27251E"/>
                </a:solidFill>
                <a:latin typeface="맑은 고딕"/>
                <a:ea typeface="맑은 고딕"/>
                <a:cs typeface="맑은 고딕"/>
              </a:rPr>
              <a:t>‘모델이 무엇을 못하는지’를 재는 연구자</a:t>
            </a:r>
          </a:p>
        </p:txBody>
      </p:sp>
      <p:sp>
        <p:nvSpPr>
          <p:cNvPr id="19" name="Rounded Rectangle 18"/>
          <p:cNvSpPr/>
          <p:nvPr/>
        </p:nvSpPr>
        <p:spPr>
          <a:xfrm>
            <a:off x="5093208" y="3931920"/>
            <a:ext cx="4224528" cy="1956816"/>
          </a:xfrm>
          <a:prstGeom prst="roundRect">
            <a:avLst>
              <a:gd name="adj" fmla="val 8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0" name="TextBox 19"/>
          <p:cNvSpPr txBox="1"/>
          <p:nvPr/>
        </p:nvSpPr>
        <p:spPr>
          <a:xfrm>
            <a:off x="5276088" y="4059936"/>
            <a:ext cx="3877056" cy="1719072"/>
          </a:xfrm>
          <a:prstGeom prst="rect">
            <a:avLst/>
          </a:prstGeom>
          <a:noFill/>
        </p:spPr>
        <p:txBody>
          <a:bodyPr wrap="square" lIns="0" rIns="0" tIns="0" bIns="0" anchor="t">
            <a:spAutoFit/>
          </a:bodyPr>
          <a:lstStyle/>
          <a:p>
            <a:pPr algn="l">
              <a:spcBef>
                <a:spcPts val="0"/>
              </a:spcBef>
              <a:spcAft>
                <a:spcPts val="200"/>
              </a:spcAft>
            </a:pPr>
            <a:r>
              <a:rPr sz="1350" b="1" i="0">
                <a:solidFill>
                  <a:srgbClr val="004094"/>
                </a:solidFill>
                <a:latin typeface="맑은 고딕"/>
                <a:ea typeface="맑은 고딕"/>
                <a:cs typeface="맑은 고딕"/>
              </a:rPr>
              <a:t>소감</a:t>
            </a:r>
          </a:p>
          <a:p>
            <a:pPr algn="l">
              <a:lnSpc>
                <a:spcPct val="125000"/>
              </a:lnSpc>
              <a:spcBef>
                <a:spcPts val="700"/>
              </a:spcBef>
              <a:spcAft>
                <a:spcPts val="200"/>
              </a:spcAft>
            </a:pPr>
            <a:r>
              <a:rPr sz="1250" b="0" i="0">
                <a:solidFill>
                  <a:srgbClr val="27251E"/>
                </a:solidFill>
                <a:latin typeface="맑은 고딕"/>
                <a:ea typeface="맑은 고딕"/>
                <a:cs typeface="맑은 고딕"/>
              </a:rPr>
              <a:t>가장 크게 배운 것은 </a:t>
            </a:r>
            <a:r>
              <a:rPr sz="1250" b="1" i="0">
                <a:solidFill>
                  <a:srgbClr val="27251E"/>
                </a:solidFill>
                <a:latin typeface="맑은 고딕"/>
                <a:ea typeface="맑은 고딕"/>
                <a:cs typeface="맑은 고딕"/>
              </a:rPr>
              <a:t>실패한 결과를 그대로 남기는 법</a:t>
            </a:r>
            <a:r>
              <a:rPr sz="1250" b="0" i="0">
                <a:solidFill>
                  <a:srgbClr val="27251E"/>
                </a:solidFill>
                <a:latin typeface="맑은 고딕"/>
                <a:ea typeface="맑은 고딕"/>
                <a:cs typeface="맑은 고딕"/>
              </a:rPr>
              <a:t>이었습니다.</a:t>
            </a:r>
          </a:p>
          <a:p>
            <a:pPr algn="l">
              <a:lnSpc>
                <a:spcPct val="125000"/>
              </a:lnSpc>
              <a:spcBef>
                <a:spcPts val="500"/>
              </a:spcBef>
              <a:spcAft>
                <a:spcPts val="200"/>
              </a:spcAft>
            </a:pPr>
            <a:r>
              <a:rPr sz="1250" b="0" i="0">
                <a:solidFill>
                  <a:srgbClr val="27251E"/>
                </a:solidFill>
                <a:latin typeface="맑은 고딕"/>
                <a:ea typeface="맑은 고딕"/>
                <a:cs typeface="맑은 고딕"/>
              </a:rPr>
              <a:t>숫자가 나쁘면 숫자를 고치고 싶어지는데, 두 번 다 원인을 찾아 다시 설계해야 했습니다.</a:t>
            </a:r>
          </a:p>
          <a:p>
            <a:pPr algn="l">
              <a:lnSpc>
                <a:spcPct val="125000"/>
              </a:lnSpc>
              <a:spcBef>
                <a:spcPts val="500"/>
              </a:spcBef>
              <a:spcAft>
                <a:spcPts val="200"/>
              </a:spcAft>
            </a:pPr>
            <a:r>
              <a:rPr sz="1250" b="0" i="0">
                <a:solidFill>
                  <a:srgbClr val="27251E"/>
                </a:solidFill>
                <a:latin typeface="맑은 고딕"/>
                <a:ea typeface="맑은 고딕"/>
                <a:cs typeface="맑은 고딕"/>
              </a:rPr>
              <a:t>성능보다 </a:t>
            </a:r>
            <a:r>
              <a:rPr sz="1250" b="1" i="0">
                <a:solidFill>
                  <a:srgbClr val="004094"/>
                </a:solidFill>
                <a:latin typeface="맑은 고딕"/>
                <a:ea typeface="맑은 고딕"/>
                <a:cs typeface="맑은 고딕"/>
              </a:rPr>
              <a:t>측정이 옳은지</a:t>
            </a:r>
            <a:r>
              <a:rPr sz="1250" b="0" i="0">
                <a:solidFill>
                  <a:srgbClr val="27251E"/>
                </a:solidFill>
                <a:latin typeface="맑은 고딕"/>
                <a:ea typeface="맑은 고딕"/>
                <a:cs typeface="맑은 고딕"/>
              </a:rPr>
              <a:t>를 먼저 의심하게 됐습니다.</a:t>
            </a:r>
          </a:p>
        </p:txBody>
      </p:sp>
      <p:sp>
        <p:nvSpPr>
          <p:cNvPr id="21" name="Rounded Rectangle 20"/>
          <p:cNvSpPr/>
          <p:nvPr/>
        </p:nvSpPr>
        <p:spPr>
          <a:xfrm>
            <a:off x="585216" y="4261104"/>
            <a:ext cx="4224528" cy="1627632"/>
          </a:xfrm>
          <a:prstGeom prst="roundRect">
            <a:avLst>
              <a:gd name="adj" fmla="val 8000"/>
            </a:avLst>
          </a:prstGeom>
          <a:solidFill>
            <a:srgbClr val="FFFFFF"/>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2" name="TextBox 21"/>
          <p:cNvSpPr txBox="1"/>
          <p:nvPr/>
        </p:nvSpPr>
        <p:spPr>
          <a:xfrm>
            <a:off x="749808" y="4389120"/>
            <a:ext cx="3931920" cy="1389888"/>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전공 수업이 어디에 쓰였나</a:t>
            </a:r>
          </a:p>
          <a:p>
            <a:pPr algn="l">
              <a:lnSpc>
                <a:spcPct val="115000"/>
              </a:lnSpc>
              <a:spcBef>
                <a:spcPts val="60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실험설계 · 통계</a:t>
            </a:r>
            <a:r>
              <a:rPr sz="1150" b="0" i="0">
                <a:solidFill>
                  <a:srgbClr val="767171"/>
                </a:solidFill>
                <a:latin typeface="맑은 고딕"/>
                <a:ea typeface="맑은 고딕"/>
                <a:cs typeface="맑은 고딕"/>
              </a:rPr>
              <a:t>   두 축을 분리하는 설계</a:t>
            </a:r>
          </a:p>
          <a:p>
            <a:pPr algn="l">
              <a:lnSpc>
                <a:spcPct val="115000"/>
              </a:lnSpc>
              <a:spcBef>
                <a:spcPts val="60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컴퓨터비전</a:t>
            </a:r>
            <a:r>
              <a:rPr sz="1150" b="0" i="0">
                <a:solidFill>
                  <a:srgbClr val="767171"/>
                </a:solidFill>
                <a:latin typeface="맑은 고딕"/>
                <a:ea typeface="맑은 고딕"/>
                <a:cs typeface="맑은 고딕"/>
              </a:rPr>
              <a:t>   검색 모델이 무엇을 놓치는지</a:t>
            </a:r>
          </a:p>
          <a:p>
            <a:pPr algn="l">
              <a:lnSpc>
                <a:spcPct val="115000"/>
              </a:lnSpc>
              <a:spcBef>
                <a:spcPts val="60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소프트웨어공학</a:t>
            </a:r>
            <a:r>
              <a:rPr sz="1150" b="0" i="0">
                <a:solidFill>
                  <a:srgbClr val="767171"/>
                </a:solidFill>
                <a:latin typeface="맑은 고딕"/>
                <a:ea typeface="맑은 고딕"/>
                <a:cs typeface="맑은 고딕"/>
              </a:rPr>
              <a:t>   다시 만들 수 있는 파이프라인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0" y="2944368"/>
            <a:ext cx="9905969" cy="822960"/>
          </a:xfrm>
          <a:prstGeom prst="rect">
            <a:avLst/>
          </a:prstGeom>
          <a:noFill/>
        </p:spPr>
        <p:txBody>
          <a:bodyPr wrap="square" lIns="0" rIns="0" tIns="0" bIns="0" anchor="t">
            <a:spAutoFit/>
          </a:bodyPr>
          <a:lstStyle/>
          <a:p>
            <a:pPr algn="ctr">
              <a:spcBef>
                <a:spcPts val="0"/>
              </a:spcBef>
              <a:spcAft>
                <a:spcPts val="200"/>
              </a:spcAft>
            </a:pPr>
            <a:r>
              <a:rPr sz="5200" b="1" i="0">
                <a:solidFill>
                  <a:srgbClr val="0A4D9B"/>
                </a:solidFill>
                <a:latin typeface="맑은 고딕"/>
                <a:ea typeface="맑은 고딕"/>
                <a:cs typeface="맑은 고딕"/>
              </a:rPr>
              <a:t>Q &amp; A</a:t>
            </a:r>
          </a:p>
        </p:txBody>
      </p:sp>
      <p:sp>
        <p:nvSpPr>
          <p:cNvPr id="4" name="TextBox 3"/>
          <p:cNvSpPr txBox="1"/>
          <p:nvPr/>
        </p:nvSpPr>
        <p:spPr>
          <a:xfrm>
            <a:off x="0" y="3858768"/>
            <a:ext cx="9905969" cy="365760"/>
          </a:xfrm>
          <a:prstGeom prst="rect">
            <a:avLst/>
          </a:prstGeom>
          <a:noFill/>
        </p:spPr>
        <p:txBody>
          <a:bodyPr wrap="square" lIns="0" rIns="0" tIns="0" bIns="0" anchor="t">
            <a:spAutoFit/>
          </a:bodyPr>
          <a:lstStyle/>
          <a:p>
            <a:pPr algn="ctr">
              <a:spcBef>
                <a:spcPts val="0"/>
              </a:spcBef>
              <a:spcAft>
                <a:spcPts val="200"/>
              </a:spcAft>
            </a:pPr>
            <a:r>
              <a:rPr sz="1500" b="0" i="0">
                <a:solidFill>
                  <a:srgbClr val="767171"/>
                </a:solidFill>
                <a:latin typeface="맑은 고딕"/>
                <a:ea typeface="맑은 고딕"/>
                <a:cs typeface="맑은 고딕"/>
              </a:rPr>
              <a:t>감사합니다.</a:t>
            </a:r>
          </a:p>
        </p:txBody>
      </p:sp>
      <p:sp>
        <p:nvSpPr>
          <p:cNvPr id="5" name="TextBox 4"/>
          <p:cNvSpPr txBox="1"/>
          <p:nvPr/>
        </p:nvSpPr>
        <p:spPr>
          <a:xfrm>
            <a:off x="0" y="4261104"/>
            <a:ext cx="9905969" cy="310896"/>
          </a:xfrm>
          <a:prstGeom prst="rect">
            <a:avLst/>
          </a:prstGeom>
          <a:noFill/>
        </p:spPr>
        <p:txBody>
          <a:bodyPr wrap="square" lIns="0" rIns="0" tIns="0" bIns="0" anchor="t">
            <a:spAutoFit/>
          </a:bodyPr>
          <a:lstStyle/>
          <a:p>
            <a:pPr algn="ctr">
              <a:spcBef>
                <a:spcPts val="0"/>
              </a:spcBef>
              <a:spcAft>
                <a:spcPts val="200"/>
              </a:spcAft>
            </a:pPr>
            <a:r>
              <a:rPr sz="1200" b="0" i="0">
                <a:solidFill>
                  <a:srgbClr val="767171"/>
                </a:solidFill>
                <a:latin typeface="맑은 고딕"/>
                <a:ea typeface="맑은 고딕"/>
                <a:cs typeface="맑은 고딕"/>
              </a:rPr>
              <a:t>인공지능학과  2023480017  조현준   ·   VisAGI Lab</a:t>
            </a:r>
          </a:p>
        </p:txBody>
      </p:sp>
      <p:pic>
        <p:nvPicPr>
          <p:cNvPr id="6" name="Picture 5" descr="uos_logo.png"/>
          <p:cNvPicPr>
            <a:picLocks noChangeAspect="1"/>
          </p:cNvPicPr>
          <p:nvPr/>
        </p:nvPicPr>
        <p:blipFill>
          <a:blip r:embed="rId3"/>
          <a:stretch>
            <a:fillRect/>
          </a:stretch>
        </p:blipFill>
        <p:spPr>
          <a:xfrm>
            <a:off x="7543800" y="6163056"/>
            <a:ext cx="1783080" cy="292608"/>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A4 용지(210x297mm)</PresentationFormat>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공학연구인턴십 성과발표</dc:title>
  <dc:creator>조현준</dc:creator>
  <cp:lastModifiedBy>조현준</cp:lastModifiedBy>
  <cp:revision>1</cp:revision>
</cp:coreProperties>
</file>