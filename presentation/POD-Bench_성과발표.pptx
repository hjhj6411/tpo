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7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x="9906000" cy="6858000" type="A4"/>
  <p:notesSz cx="6858000" cy="9144000"/>
  <p:embeddedFontLst>
    <p:embeddedFont>
      <p:font typeface="맑은 고딕" panose="020B0503020000020004" pitchFamily="50" charset="-127"/>
      <p:regular r:id="rId79"/>
      <p:bold r:id="rId80"/>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BBB59"/>
    <a:srgbClr val="018CFF"/>
    <a:srgbClr val="FFC000"/>
    <a:srgbClr val="0A4D9B"/>
    <a:srgbClr val="FFBDEE"/>
    <a:srgbClr val="FF0D0D"/>
    <a:srgbClr val="E5BEA9"/>
    <a:srgbClr val="FF19C3"/>
    <a:srgbClr val="BDD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012ECD-51FC-41F1-AA8D-1B2483CD663E}" styleName="밝은 스타일 2 - 강조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테마 스타일 2 - 강조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39" autoAdjust="0"/>
    <p:restoredTop sz="96318" autoAdjust="0"/>
  </p:normalViewPr>
  <p:slideViewPr>
    <p:cSldViewPr>
      <p:cViewPr varScale="1">
        <p:scale>
          <a:sx n="113" d="100"/>
          <a:sy n="113" d="100"/>
        </p:scale>
        <p:origin x="1536" y="96"/>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78" Type="http://schemas.openxmlformats.org/officeDocument/2006/relationships/notesMaster" Target="notesMasters/notesMaster1.xml"/><Relationship Id="rId79" Type="http://schemas.openxmlformats.org/officeDocument/2006/relationships/font" Target="fonts/font1.fntdata"/><Relationship Id="rId80" Type="http://schemas.openxmlformats.org/officeDocument/2006/relationships/font" Target="fonts/font2.fntdata"/><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928037-2B04-46CE-8533-72F6D85990BC}" type="datetimeFigureOut">
              <a:rPr lang="ko-KR" altLang="en-US" smtClean="0"/>
              <a:t>2026-08-02</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5B08F9-6C7C-4ABC-B18C-511AA116288E}" type="slidenum">
              <a:rPr lang="ko-KR" altLang="en-US" smtClean="0"/>
              <a:t>‹#›</a:t>
            </a:fld>
            <a:endParaRPr lang="ko-KR" altLang="en-US"/>
          </a:p>
        </p:txBody>
      </p:sp>
    </p:spTree>
    <p:extLst>
      <p:ext uri="{BB962C8B-B14F-4D97-AF65-F5344CB8AC3E}">
        <p14:creationId xmlns:p14="http://schemas.microsoft.com/office/powerpoint/2010/main" val="50238964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안녕하십니까. 인공지능학과 조현준입니다. VisAGI Lab에서 진행한 공학연구인턴십 결과를 발표하겠습니다. 주제는 비전-언어 모델이 사용자의 취향과 상황을 동시에 만족시킬 수 있는지를 측정하는 벤치마크, POD-Bench입니다.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발표는 여섯 부분으로 구성했습니다. 문제 정의, 벤치마크 구성 방법, 전공지식을 적용해 해결한 문제 두 가지, 그리고 핵심 결과와 향후 계획 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VisAGI Lab은 비전-언어 모델의 인식과 추론 능력을 다루는 연구실입니다. 저는 개인화 평가 벤치마크 구축을 맡아, 설계부터 데이터 수집 파이프라인 구현, 품질 검증, 평가 실험까지 전 과정을 담당했습니다.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문제 정의입니다. 사용자는 파란색을 좋아하고 주황색을 싫어합니다. 그리고 한겨울 야외라는 상황이 주어집니다. 취향만 반영하면 파란 원피스를, 상황만 반영하면 주황 후드를 답하게 되는데, 기존 개인화 평가는 두 응답을 모두 '개인화됐다'고 채점합니다. 저희는 이 둘을 분리해 측정하기 위해 아래처럼 네 개의 선지를 2×2로 구성했습니다. A만이 정답입니다.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설계의 핵심입니다. 취향 축과 상황 축을 직교시켜 네 선지를 만들면, 모델이 어느 축에서 실패했는지가 답 하나로 분리됩니다. Strict, TPO, Preference 세 지표로 분해합니다. 또한 counterbalance로 추측 정확도를 0.5로 맞추고, 혼동되는 색·의류 쌍에 페널티를 줘 시각적 교란을 통제했습니다. 물리적 부적합과 사회적 복장 규범은 근거의 종류가 다르므로 절대 합산하지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 전체 파이프라인입니다. Stage 1에서 3까지는 LLM을 전혀 쓰지 않는 결정론적 생성이라, 시드만 같으면 해시까지 동일하게 재현됩니다. Stage 4부터는 실제 이미지를 수집하고 검증합니다. 빨간 화살표가 뒤에서 설명할 두 번째 문제해결 사례입니다. 검증기 자체도 mutation test로 검증했습니다.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 데이터 구성입니다. 24명의 프로필과 59개 시나리오로 2,621개 문항을 만들었고, 그중 97.3%가 네 장의 이미지를 모두 확보했습니다. 왼쪽은 취향 축, 오른쪽은 상황 위반 축의 분포입니다. 설계상 비대칭이나 아직 검증되지 않은 부분은 숨기지 않고 명시적으로 공개했습니다.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 문항 하나에는 색·의류·패턴이 정확히 통제된 실제 상품 이미지 네 장이 필요합니다. 검색 결과 16만 건에서 시작해 SAM3로 옷을 분할하고, 세 축을 각각 다른 방식으로 채점한 뒤, 최종적으로 사람이 1,661개 셀을 전수 확인했습니다. 축마다 검증기를 다르게 붙인 이유가 아래에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 첫 번째 문제해결 사례입니다. 'plaid beige shirt'를 검색하면 포켓에만 체크무늬가 있는 옷이 통과했습니다. 검색어 증강, 리랭커, VLM 판정 세 가지를 시도했지만 모두 실패했습니다. 원인을 파고들어 보니 세 방법 모두 전역 평균 풀링으로 이미지를 벡터 하나로 압축한다는 공통점이 있었습니다. 패턴의 공간 정보가 평균에 묻힌 겁니다. FashionVLP 논문에서 같은 지적을 확인했고, 학습 없이 표현 단위만 패치 단위로 바꿔 해결했습니다.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 두 번째 사례입니다. 3,027개 문항 중 33.4%만 이미지 네 장을 확보했습니다. 그런데 진짜 문제는 수율이 아니라, 삭제가 무작위가 아니어서 설계 단계에서 맞춰 놓은 데이터 균형이 깨졌다는 점이었습니다. 제약을 파이프라인 끝에서 생성 입력으로 옮기자 97.3%로 오르면서 분포도 설계값을 유지했습니다. 사후 필터는 중립적이지 않다는 것이 핵심 교훈입니다.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 핵심 결과입니다. 상황만 주면 TPO 86.3%, 취향만 주면 Preference 94.7%로 각 축은 거의 풉니다. 그리고 축 하나만 줬을 때 다른 축이 정확히 우연 수준으로 나온다는 점이 설계가 제대로 분리됐다는 증거입니다. 그런데 둘을 함께 주면 TPO가 86.3에서 70.0으로 16.2포인트 떨어집니다. 취향은 거의 유지되는데 상황 쪽이 밀려납니다. 결과적으로 두 축을 모두 만족한 비율은 64%에 그칩니다.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 세부적으로 보면, 두 트랙 모두 같은 패턴을 보이고, 취향 축 중에서는 시각적 패턴이 가장 약합니다. 색은 74.8%인데 패턴은 51.2%입니다. 기여는 네 가지입니다. 문제를 분리 가능한 형태로 정식화했고, 가설을 데이터로 확인했으며, 재현 가능한 데이터셋과 검증 체계를 남겼고, 검색 단계의 표현 한계를 진단해 우회했습니다. 다만 이미지 라벨 검증이 남아 있어 절대 수치는 잠정값입니다.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 향후 계획입니다. 남은 라벨 검증과 상용 모델 평가를 마무리해 논문 투고 수준으로 정리하고, 평가 방법론을 주제로 대학원 진학을 준비하려 합니다. 소감을 말씀드리면, 이번 인턴십에서 가장 크게 배운 것은 실패한 결과를 그대로 남기는 법이었습니다. 성능보다 측정이 옳은지를 먼저 의심하는 태도를 전공 수업에서 배운 실험 설계 개념과 연결해 직접 적용해 볼 수 있었습니다.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6"/>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3579397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3949226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82506" y="4406901"/>
            <a:ext cx="84201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편집하려면 클릭</a:t>
            </a:r>
          </a:p>
        </p:txBody>
      </p:sp>
      <p:sp>
        <p:nvSpPr>
          <p:cNvPr id="4" name="날짜 개체 틀 3"/>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383937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773182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2346403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2599342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763686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006"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5" name="날짜 개체 틀 4"/>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719443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645" y="4800600"/>
            <a:ext cx="59436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p>
        </p:txBody>
      </p:sp>
      <p:sp>
        <p:nvSpPr>
          <p:cNvPr id="4" name="텍스트 개체 틀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5" name="날짜 개체 틀 4"/>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638323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1305989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181850" y="274639"/>
            <a:ext cx="222885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95300" y="274639"/>
            <a:ext cx="6521450" cy="5851525"/>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p:cNvSpPr>
            <a:spLocks noGrp="1"/>
          </p:cNvSpPr>
          <p:nvPr>
            <p:ph type="dt" sz="half" idx="10"/>
          </p:nvPr>
        </p:nvSpPr>
        <p:spPr/>
        <p:txBody>
          <a:bodyPr/>
          <a:lstStyle/>
          <a:p>
            <a:fld id="{4783C45B-68AA-48A0-86B7-8E086AFEA91A}" type="datetimeFigureOut">
              <a:rPr lang="ko-KR" altLang="en-US" smtClean="0"/>
              <a:t>2026-08-02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17701021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83C45B-68AA-48A0-86B7-8E086AFEA91A}" type="datetimeFigureOut">
              <a:rPr lang="ko-KR" altLang="en-US" smtClean="0"/>
              <a:t>2026-08-02</a:t>
            </a:fld>
            <a:endParaRPr lang="ko-KR" altLang="en-US"/>
          </a:p>
        </p:txBody>
      </p:sp>
      <p:sp>
        <p:nvSpPr>
          <p:cNvPr id="5" name="바닥글 개체 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5567BC-375C-4D92-968B-61198DF26618}" type="slidenum">
              <a:rPr lang="ko-KR" altLang="en-US" smtClean="0"/>
              <a:t>‹#›</a:t>
            </a:fld>
            <a:endParaRPr lang="ko-KR" altLang="en-US"/>
          </a:p>
        </p:txBody>
      </p:sp>
    </p:spTree>
    <p:extLst>
      <p:ext uri="{BB962C8B-B14F-4D97-AF65-F5344CB8AC3E}">
        <p14:creationId xmlns:p14="http://schemas.microsoft.com/office/powerpoint/2010/main" val="1434405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585216" y="3803904"/>
            <a:ext cx="8778240" cy="822960"/>
          </a:xfrm>
          <a:prstGeom prst="rect">
            <a:avLst/>
          </a:prstGeom>
          <a:noFill/>
        </p:spPr>
        <p:txBody>
          <a:bodyPr wrap="square" lIns="0" rIns="0" tIns="0" bIns="0" anchor="t">
            <a:spAutoFit/>
          </a:bodyPr>
          <a:lstStyle/>
          <a:p>
            <a:pPr algn="l">
              <a:spcBef>
                <a:spcPts val="0"/>
              </a:spcBef>
              <a:spcAft>
                <a:spcPts val="200"/>
              </a:spcAft>
            </a:pPr>
            <a:r>
              <a:rPr sz="4000" b="1" i="0">
                <a:solidFill>
                  <a:srgbClr val="004094"/>
                </a:solidFill>
                <a:latin typeface="맑은 고딕"/>
                <a:ea typeface="맑은 고딕"/>
                <a:cs typeface="맑은 고딕"/>
              </a:rPr>
              <a:t>공학연구인턴십 </a:t>
            </a:r>
            <a:r>
              <a:rPr sz="4000" b="1" i="0">
                <a:solidFill>
                  <a:srgbClr val="004094"/>
                </a:solidFill>
                <a:latin typeface="맑은 고딕"/>
                <a:ea typeface="맑은 고딕"/>
                <a:cs typeface="맑은 고딕"/>
              </a:rPr>
              <a:t>성과발표</a:t>
            </a:r>
          </a:p>
        </p:txBody>
      </p:sp>
      <p:sp>
        <p:nvSpPr>
          <p:cNvPr id="4" name="TextBox 3"/>
          <p:cNvSpPr txBox="1"/>
          <p:nvPr/>
        </p:nvSpPr>
        <p:spPr>
          <a:xfrm>
            <a:off x="585216" y="4681728"/>
            <a:ext cx="8869680" cy="868680"/>
          </a:xfrm>
          <a:prstGeom prst="rect">
            <a:avLst/>
          </a:prstGeom>
          <a:noFill/>
        </p:spPr>
        <p:txBody>
          <a:bodyPr wrap="square" lIns="0" rIns="0" tIns="0" bIns="0" anchor="t">
            <a:spAutoFit/>
          </a:bodyPr>
          <a:lstStyle/>
          <a:p>
            <a:pPr algn="l">
              <a:spcBef>
                <a:spcPts val="0"/>
              </a:spcBef>
              <a:spcAft>
                <a:spcPts val="200"/>
              </a:spcAft>
            </a:pPr>
            <a:r>
              <a:rPr sz="1700" b="1" i="0">
                <a:solidFill>
                  <a:srgbClr val="0A4D9B"/>
                </a:solidFill>
                <a:latin typeface="맑은 고딕"/>
                <a:ea typeface="맑은 고딕"/>
                <a:cs typeface="맑은 고딕"/>
              </a:rPr>
              <a:t>POD-Bench</a:t>
            </a:r>
            <a:r>
              <a:rPr sz="1700" b="0" i="0">
                <a:solidFill>
                  <a:srgbClr val="27251E"/>
                </a:solidFill>
                <a:latin typeface="맑은 고딕"/>
                <a:ea typeface="맑은 고딕"/>
                <a:cs typeface="맑은 고딕"/>
              </a:rPr>
              <a:t>  ·  VLM은 </a:t>
            </a:r>
            <a:r>
              <a:rPr sz="1700" b="1" i="0">
                <a:solidFill>
                  <a:srgbClr val="27251E"/>
                </a:solidFill>
                <a:latin typeface="맑은 고딕"/>
                <a:ea typeface="맑은 고딕"/>
                <a:cs typeface="맑은 고딕"/>
              </a:rPr>
              <a:t>사용자 취향</a:t>
            </a:r>
            <a:r>
              <a:rPr sz="1700" b="0" i="0">
                <a:solidFill>
                  <a:srgbClr val="27251E"/>
                </a:solidFill>
                <a:latin typeface="맑은 고딕"/>
                <a:ea typeface="맑은 고딕"/>
                <a:cs typeface="맑은 고딕"/>
              </a:rPr>
              <a:t>과 </a:t>
            </a:r>
            <a:r>
              <a:rPr sz="1700" b="1" i="0">
                <a:solidFill>
                  <a:srgbClr val="27251E"/>
                </a:solidFill>
                <a:latin typeface="맑은 고딕"/>
                <a:ea typeface="맑은 고딕"/>
                <a:cs typeface="맑은 고딕"/>
              </a:rPr>
              <a:t>상황(TPO)</a:t>
            </a:r>
            <a:r>
              <a:rPr sz="1700" b="0" i="0">
                <a:solidFill>
                  <a:srgbClr val="27251E"/>
                </a:solidFill>
                <a:latin typeface="맑은 고딕"/>
                <a:ea typeface="맑은 고딕"/>
                <a:cs typeface="맑은 고딕"/>
              </a:rPr>
              <a:t>을 동시에 만족시킬 수 있는가?</a:t>
            </a:r>
          </a:p>
          <a:p>
            <a:pPr algn="l">
              <a:spcBef>
                <a:spcPts val="400"/>
              </a:spcBef>
              <a:spcAft>
                <a:spcPts val="200"/>
              </a:spcAft>
            </a:pPr>
            <a:r>
              <a:rPr sz="1250" b="0" i="0">
                <a:solidFill>
                  <a:srgbClr val="767171"/>
                </a:solidFill>
                <a:latin typeface="맑은 고딕"/>
                <a:ea typeface="맑은 고딕"/>
                <a:cs typeface="맑은 고딕"/>
              </a:rPr>
              <a:t>Personalized Outfit Decision Benchmark for Vision-Language Models</a:t>
            </a:r>
          </a:p>
        </p:txBody>
      </p:sp>
      <p:sp>
        <p:nvSpPr>
          <p:cNvPr id="5" name="TextBox 4"/>
          <p:cNvSpPr txBox="1"/>
          <p:nvPr/>
        </p:nvSpPr>
        <p:spPr>
          <a:xfrm>
            <a:off x="585216" y="5888736"/>
            <a:ext cx="3840480" cy="566928"/>
          </a:xfrm>
          <a:prstGeom prst="rect">
            <a:avLst/>
          </a:prstGeom>
          <a:noFill/>
        </p:spPr>
        <p:txBody>
          <a:bodyPr wrap="square" lIns="0" rIns="0" tIns="0" bIns="0" anchor="t">
            <a:spAutoFit/>
          </a:bodyPr>
          <a:lstStyle/>
          <a:p>
            <a:pPr algn="l">
              <a:spcBef>
                <a:spcPts val="0"/>
              </a:spcBef>
              <a:spcAft>
                <a:spcPts val="200"/>
              </a:spcAft>
            </a:pPr>
            <a:r>
              <a:rPr sz="1400" b="1" i="0">
                <a:solidFill>
                  <a:srgbClr val="004094"/>
                </a:solidFill>
                <a:latin typeface="맑은 고딕"/>
                <a:ea typeface="맑은 고딕"/>
                <a:cs typeface="맑은 고딕"/>
              </a:rPr>
              <a:t>VisAGI Lab</a:t>
            </a:r>
          </a:p>
          <a:p>
            <a:pPr algn="l">
              <a:spcBef>
                <a:spcPts val="0"/>
              </a:spcBef>
              <a:spcAft>
                <a:spcPts val="200"/>
              </a:spcAft>
            </a:pPr>
            <a:r>
              <a:rPr sz="1400" b="1" i="0">
                <a:solidFill>
                  <a:srgbClr val="004094"/>
                </a:solidFill>
                <a:latin typeface="맑은 고딕"/>
                <a:ea typeface="맑은 고딕"/>
                <a:cs typeface="맑은 고딕"/>
              </a:rPr>
              <a:t>인공지능학과  2023480017  조현준</a:t>
            </a:r>
          </a:p>
        </p:txBody>
      </p:sp>
      <p:sp>
        <p:nvSpPr>
          <p:cNvPr id="6" name="TextBox 5"/>
          <p:cNvSpPr txBox="1"/>
          <p:nvPr/>
        </p:nvSpPr>
        <p:spPr>
          <a:xfrm>
            <a:off x="6035040" y="5943600"/>
            <a:ext cx="2103120" cy="274320"/>
          </a:xfrm>
          <a:prstGeom prst="rect">
            <a:avLst/>
          </a:prstGeom>
          <a:noFill/>
        </p:spPr>
        <p:txBody>
          <a:bodyPr wrap="square" lIns="0" rIns="0" tIns="0" bIns="0" anchor="t">
            <a:spAutoFit/>
          </a:bodyPr>
          <a:lstStyle/>
          <a:p>
            <a:pPr algn="r">
              <a:spcBef>
                <a:spcPts val="0"/>
              </a:spcBef>
              <a:spcAft>
                <a:spcPts val="200"/>
              </a:spcAft>
            </a:pPr>
            <a:r>
              <a:rPr sz="1200" b="0" i="0">
                <a:solidFill>
                  <a:srgbClr val="767171"/>
                </a:solidFill>
                <a:latin typeface="맑은 고딕"/>
                <a:ea typeface="맑은 고딕"/>
                <a:cs typeface="맑은 고딕"/>
              </a:rPr>
              <a:t>2026. 08. 05.</a:t>
            </a:r>
          </a:p>
        </p:txBody>
      </p:sp>
      <p:pic>
        <p:nvPicPr>
          <p:cNvPr id="7" name="Picture 6" descr="uos_logo.png"/>
          <p:cNvPicPr>
            <a:picLocks noChangeAspect="1"/>
          </p:cNvPicPr>
          <p:nvPr/>
        </p:nvPicPr>
        <p:blipFill>
          <a:blip r:embed="rId3"/>
          <a:stretch>
            <a:fillRect/>
          </a:stretch>
        </p:blipFill>
        <p:spPr>
          <a:xfrm>
            <a:off x="7543800" y="6163056"/>
            <a:ext cx="1783080" cy="29260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2</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목차</a:t>
            </a:r>
          </a:p>
        </p:txBody>
      </p:sp>
      <p:sp>
        <p:nvSpPr>
          <p:cNvPr id="5" name="Rounded Rectangle 4"/>
          <p:cNvSpPr/>
          <p:nvPr/>
        </p:nvSpPr>
        <p:spPr>
          <a:xfrm>
            <a:off x="585216" y="1700784"/>
            <a:ext cx="8732520" cy="658368"/>
          </a:xfrm>
          <a:prstGeom prst="roundRect">
            <a:avLst>
              <a:gd name="adj" fmla="val 16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6" name="Rounded Rectangle 5"/>
          <p:cNvSpPr/>
          <p:nvPr/>
        </p:nvSpPr>
        <p:spPr>
          <a:xfrm>
            <a:off x="731520" y="1847088"/>
            <a:ext cx="384048" cy="365760"/>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300" b="1" i="0">
                <a:solidFill>
                  <a:srgbClr val="FFFFFF"/>
                </a:solidFill>
                <a:latin typeface="맑은 고딕"/>
                <a:ea typeface="맑은 고딕"/>
                <a:cs typeface="맑은 고딕"/>
              </a:rPr>
              <a:t>01</a:t>
            </a:r>
          </a:p>
        </p:txBody>
      </p:sp>
      <p:sp>
        <p:nvSpPr>
          <p:cNvPr id="7" name="TextBox 6"/>
          <p:cNvSpPr txBox="1"/>
          <p:nvPr/>
        </p:nvSpPr>
        <p:spPr>
          <a:xfrm>
            <a:off x="1280160" y="1819656"/>
            <a:ext cx="3273552" cy="438912"/>
          </a:xfrm>
          <a:prstGeom prst="rect">
            <a:avLst/>
          </a:prstGeom>
          <a:noFill/>
        </p:spPr>
        <p:txBody>
          <a:bodyPr wrap="square" lIns="0" rIns="0" tIns="0" bIns="0" anchor="t">
            <a:spAutoFit/>
          </a:bodyPr>
          <a:lstStyle/>
          <a:p>
            <a:pPr algn="l">
              <a:spcBef>
                <a:spcPts val="0"/>
              </a:spcBef>
              <a:spcAft>
                <a:spcPts val="200"/>
              </a:spcAft>
            </a:pPr>
            <a:r>
              <a:rPr sz="1550" b="1" i="0">
                <a:solidFill>
                  <a:srgbClr val="0A4D9B"/>
                </a:solidFill>
                <a:latin typeface="맑은 고딕"/>
                <a:ea typeface="맑은 고딕"/>
                <a:cs typeface="맑은 고딕"/>
              </a:rPr>
              <a:t>연구실 · 인턴십 개요</a:t>
            </a:r>
          </a:p>
        </p:txBody>
      </p:sp>
      <p:sp>
        <p:nvSpPr>
          <p:cNvPr id="8" name="TextBox 7"/>
          <p:cNvSpPr txBox="1"/>
          <p:nvPr/>
        </p:nvSpPr>
        <p:spPr>
          <a:xfrm>
            <a:off x="4608576" y="1869948"/>
            <a:ext cx="3611880" cy="310896"/>
          </a:xfrm>
          <a:prstGeom prst="rect">
            <a:avLst/>
          </a:prstGeom>
          <a:noFill/>
        </p:spPr>
        <p:txBody>
          <a:bodyPr wrap="square" lIns="0" rIns="0" tIns="0" bIns="0" anchor="t">
            <a:spAutoFit/>
          </a:bodyPr>
          <a:lstStyle/>
          <a:p>
            <a:pPr algn="l">
              <a:spcBef>
                <a:spcPts val="0"/>
              </a:spcBef>
              <a:spcAft>
                <a:spcPts val="200"/>
              </a:spcAft>
            </a:pPr>
            <a:r>
              <a:rPr sz="1250" b="0" i="0">
                <a:solidFill>
                  <a:srgbClr val="767171"/>
                </a:solidFill>
                <a:latin typeface="맑은 고딕"/>
                <a:ea typeface="맑은 고딕"/>
                <a:cs typeface="맑은 고딕"/>
              </a:rPr>
              <a:t>VisAGI Lab / 담당 범위</a:t>
            </a:r>
          </a:p>
        </p:txBody>
      </p:sp>
      <p:sp>
        <p:nvSpPr>
          <p:cNvPr id="9" name="TextBox 8"/>
          <p:cNvSpPr txBox="1"/>
          <p:nvPr/>
        </p:nvSpPr>
        <p:spPr>
          <a:xfrm>
            <a:off x="8357616" y="1869948"/>
            <a:ext cx="777240" cy="310896"/>
          </a:xfrm>
          <a:prstGeom prst="rect">
            <a:avLst/>
          </a:prstGeom>
          <a:noFill/>
        </p:spPr>
        <p:txBody>
          <a:bodyPr wrap="square" lIns="0" rIns="0" tIns="0" bIns="0" anchor="t">
            <a:spAutoFit/>
          </a:bodyPr>
          <a:lstStyle/>
          <a:p>
            <a:pPr algn="r">
              <a:spcBef>
                <a:spcPts val="0"/>
              </a:spcBef>
              <a:spcAft>
                <a:spcPts val="200"/>
              </a:spcAft>
            </a:pPr>
            <a:r>
              <a:rPr sz="1250" b="1" i="0">
                <a:solidFill>
                  <a:srgbClr val="2E75B6"/>
                </a:solidFill>
                <a:latin typeface="맑은 고딕"/>
                <a:ea typeface="맑은 고딕"/>
                <a:cs typeface="맑은 고딕"/>
              </a:rPr>
              <a:t>0:20</a:t>
            </a:r>
          </a:p>
        </p:txBody>
      </p:sp>
      <p:sp>
        <p:nvSpPr>
          <p:cNvPr id="10" name="Rounded Rectangle 9"/>
          <p:cNvSpPr/>
          <p:nvPr/>
        </p:nvSpPr>
        <p:spPr>
          <a:xfrm>
            <a:off x="585216" y="2432304"/>
            <a:ext cx="8732520" cy="658368"/>
          </a:xfrm>
          <a:prstGeom prst="roundRect">
            <a:avLst>
              <a:gd name="adj" fmla="val 16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11" name="Rounded Rectangle 10"/>
          <p:cNvSpPr/>
          <p:nvPr/>
        </p:nvSpPr>
        <p:spPr>
          <a:xfrm>
            <a:off x="731520" y="2578608"/>
            <a:ext cx="384048" cy="365760"/>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300" b="1" i="0">
                <a:solidFill>
                  <a:srgbClr val="FFFFFF"/>
                </a:solidFill>
                <a:latin typeface="맑은 고딕"/>
                <a:ea typeface="맑은 고딕"/>
                <a:cs typeface="맑은 고딕"/>
              </a:rPr>
              <a:t>02</a:t>
            </a:r>
          </a:p>
        </p:txBody>
      </p:sp>
      <p:sp>
        <p:nvSpPr>
          <p:cNvPr id="12" name="TextBox 11"/>
          <p:cNvSpPr txBox="1"/>
          <p:nvPr/>
        </p:nvSpPr>
        <p:spPr>
          <a:xfrm>
            <a:off x="1280160" y="2551176"/>
            <a:ext cx="3273552" cy="438912"/>
          </a:xfrm>
          <a:prstGeom prst="rect">
            <a:avLst/>
          </a:prstGeom>
          <a:noFill/>
        </p:spPr>
        <p:txBody>
          <a:bodyPr wrap="square" lIns="0" rIns="0" tIns="0" bIns="0" anchor="t">
            <a:spAutoFit/>
          </a:bodyPr>
          <a:lstStyle/>
          <a:p>
            <a:pPr algn="l">
              <a:spcBef>
                <a:spcPts val="0"/>
              </a:spcBef>
              <a:spcAft>
                <a:spcPts val="200"/>
              </a:spcAft>
            </a:pPr>
            <a:r>
              <a:rPr sz="1550" b="1" i="0">
                <a:solidFill>
                  <a:srgbClr val="0A4D9B"/>
                </a:solidFill>
                <a:latin typeface="맑은 고딕"/>
                <a:ea typeface="맑은 고딕"/>
                <a:cs typeface="맑은 고딕"/>
              </a:rPr>
              <a:t>문제 정의</a:t>
            </a:r>
          </a:p>
        </p:txBody>
      </p:sp>
      <p:sp>
        <p:nvSpPr>
          <p:cNvPr id="13" name="TextBox 12"/>
          <p:cNvSpPr txBox="1"/>
          <p:nvPr/>
        </p:nvSpPr>
        <p:spPr>
          <a:xfrm>
            <a:off x="4608576" y="2601468"/>
            <a:ext cx="3611880" cy="310896"/>
          </a:xfrm>
          <a:prstGeom prst="rect">
            <a:avLst/>
          </a:prstGeom>
          <a:noFill/>
        </p:spPr>
        <p:txBody>
          <a:bodyPr wrap="square" lIns="0" rIns="0" tIns="0" bIns="0" anchor="t">
            <a:spAutoFit/>
          </a:bodyPr>
          <a:lstStyle/>
          <a:p>
            <a:pPr algn="l">
              <a:spcBef>
                <a:spcPts val="0"/>
              </a:spcBef>
              <a:spcAft>
                <a:spcPts val="200"/>
              </a:spcAft>
            </a:pPr>
            <a:r>
              <a:rPr sz="1250" b="0" i="0">
                <a:solidFill>
                  <a:srgbClr val="767171"/>
                </a:solidFill>
                <a:latin typeface="맑은 고딕"/>
                <a:ea typeface="맑은 고딕"/>
                <a:cs typeface="맑은 고딕"/>
              </a:rPr>
              <a:t>취향(Preference) vs 상황(TPO)</a:t>
            </a:r>
          </a:p>
        </p:txBody>
      </p:sp>
      <p:sp>
        <p:nvSpPr>
          <p:cNvPr id="14" name="TextBox 13"/>
          <p:cNvSpPr txBox="1"/>
          <p:nvPr/>
        </p:nvSpPr>
        <p:spPr>
          <a:xfrm>
            <a:off x="8357616" y="2601468"/>
            <a:ext cx="777240" cy="310896"/>
          </a:xfrm>
          <a:prstGeom prst="rect">
            <a:avLst/>
          </a:prstGeom>
          <a:noFill/>
        </p:spPr>
        <p:txBody>
          <a:bodyPr wrap="square" lIns="0" rIns="0" tIns="0" bIns="0" anchor="t">
            <a:spAutoFit/>
          </a:bodyPr>
          <a:lstStyle/>
          <a:p>
            <a:pPr algn="r">
              <a:spcBef>
                <a:spcPts val="0"/>
              </a:spcBef>
              <a:spcAft>
                <a:spcPts val="200"/>
              </a:spcAft>
            </a:pPr>
            <a:r>
              <a:rPr sz="1250" b="1" i="0">
                <a:solidFill>
                  <a:srgbClr val="2E75B6"/>
                </a:solidFill>
                <a:latin typeface="맑은 고딕"/>
                <a:ea typeface="맑은 고딕"/>
                <a:cs typeface="맑은 고딕"/>
              </a:rPr>
              <a:t>0:40</a:t>
            </a:r>
          </a:p>
        </p:txBody>
      </p:sp>
      <p:sp>
        <p:nvSpPr>
          <p:cNvPr id="15" name="Rounded Rectangle 14"/>
          <p:cNvSpPr/>
          <p:nvPr/>
        </p:nvSpPr>
        <p:spPr>
          <a:xfrm>
            <a:off x="585216" y="3163824"/>
            <a:ext cx="8732520" cy="658368"/>
          </a:xfrm>
          <a:prstGeom prst="roundRect">
            <a:avLst>
              <a:gd name="adj" fmla="val 16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16" name="Rounded Rectangle 15"/>
          <p:cNvSpPr/>
          <p:nvPr/>
        </p:nvSpPr>
        <p:spPr>
          <a:xfrm>
            <a:off x="731520" y="3310128"/>
            <a:ext cx="384048" cy="365760"/>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300" b="1" i="0">
                <a:solidFill>
                  <a:srgbClr val="FFFFFF"/>
                </a:solidFill>
                <a:latin typeface="맑은 고딕"/>
                <a:ea typeface="맑은 고딕"/>
                <a:cs typeface="맑은 고딕"/>
              </a:rPr>
              <a:t>03</a:t>
            </a:r>
          </a:p>
        </p:txBody>
      </p:sp>
      <p:sp>
        <p:nvSpPr>
          <p:cNvPr id="17" name="TextBox 16"/>
          <p:cNvSpPr txBox="1"/>
          <p:nvPr/>
        </p:nvSpPr>
        <p:spPr>
          <a:xfrm>
            <a:off x="1280160" y="3282696"/>
            <a:ext cx="3273552" cy="438912"/>
          </a:xfrm>
          <a:prstGeom prst="rect">
            <a:avLst/>
          </a:prstGeom>
          <a:noFill/>
        </p:spPr>
        <p:txBody>
          <a:bodyPr wrap="square" lIns="0" rIns="0" tIns="0" bIns="0" anchor="t">
            <a:spAutoFit/>
          </a:bodyPr>
          <a:lstStyle/>
          <a:p>
            <a:pPr algn="l">
              <a:spcBef>
                <a:spcPts val="0"/>
              </a:spcBef>
              <a:spcAft>
                <a:spcPts val="200"/>
              </a:spcAft>
            </a:pPr>
            <a:r>
              <a:rPr sz="1550" b="1" i="0">
                <a:solidFill>
                  <a:srgbClr val="0A4D9B"/>
                </a:solidFill>
                <a:latin typeface="맑은 고딕"/>
                <a:ea typeface="맑은 고딕"/>
                <a:cs typeface="맑은 고딕"/>
              </a:rPr>
              <a:t>Method — 벤치마크 구성</a:t>
            </a:r>
          </a:p>
        </p:txBody>
      </p:sp>
      <p:sp>
        <p:nvSpPr>
          <p:cNvPr id="18" name="TextBox 17"/>
          <p:cNvSpPr txBox="1"/>
          <p:nvPr/>
        </p:nvSpPr>
        <p:spPr>
          <a:xfrm>
            <a:off x="4608576" y="3332988"/>
            <a:ext cx="3611880" cy="310896"/>
          </a:xfrm>
          <a:prstGeom prst="rect">
            <a:avLst/>
          </a:prstGeom>
          <a:noFill/>
        </p:spPr>
        <p:txBody>
          <a:bodyPr wrap="square" lIns="0" rIns="0" tIns="0" bIns="0" anchor="t">
            <a:spAutoFit/>
          </a:bodyPr>
          <a:lstStyle/>
          <a:p>
            <a:pPr algn="l">
              <a:spcBef>
                <a:spcPts val="0"/>
              </a:spcBef>
              <a:spcAft>
                <a:spcPts val="200"/>
              </a:spcAft>
            </a:pPr>
            <a:r>
              <a:rPr sz="1250" b="0" i="0">
                <a:solidFill>
                  <a:srgbClr val="767171"/>
                </a:solidFill>
                <a:latin typeface="맑은 고딕"/>
                <a:ea typeface="맑은 고딕"/>
                <a:cs typeface="맑은 고딕"/>
              </a:rPr>
              <a:t>설계 · 데이터 · 이미지 수집</a:t>
            </a:r>
          </a:p>
        </p:txBody>
      </p:sp>
      <p:sp>
        <p:nvSpPr>
          <p:cNvPr id="19" name="TextBox 18"/>
          <p:cNvSpPr txBox="1"/>
          <p:nvPr/>
        </p:nvSpPr>
        <p:spPr>
          <a:xfrm>
            <a:off x="8357616" y="3332988"/>
            <a:ext cx="777240" cy="310896"/>
          </a:xfrm>
          <a:prstGeom prst="rect">
            <a:avLst/>
          </a:prstGeom>
          <a:noFill/>
        </p:spPr>
        <p:txBody>
          <a:bodyPr wrap="square" lIns="0" rIns="0" tIns="0" bIns="0" anchor="t">
            <a:spAutoFit/>
          </a:bodyPr>
          <a:lstStyle/>
          <a:p>
            <a:pPr algn="r">
              <a:spcBef>
                <a:spcPts val="0"/>
              </a:spcBef>
              <a:spcAft>
                <a:spcPts val="200"/>
              </a:spcAft>
            </a:pPr>
            <a:r>
              <a:rPr sz="1250" b="1" i="0">
                <a:solidFill>
                  <a:srgbClr val="2E75B6"/>
                </a:solidFill>
                <a:latin typeface="맑은 고딕"/>
                <a:ea typeface="맑은 고딕"/>
                <a:cs typeface="맑은 고딕"/>
              </a:rPr>
              <a:t>1:40</a:t>
            </a:r>
          </a:p>
        </p:txBody>
      </p:sp>
      <p:sp>
        <p:nvSpPr>
          <p:cNvPr id="20" name="Rounded Rectangle 19"/>
          <p:cNvSpPr/>
          <p:nvPr/>
        </p:nvSpPr>
        <p:spPr>
          <a:xfrm>
            <a:off x="585216" y="3895344"/>
            <a:ext cx="8732520" cy="658368"/>
          </a:xfrm>
          <a:prstGeom prst="roundRect">
            <a:avLst>
              <a:gd name="adj" fmla="val 16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21" name="Rounded Rectangle 20"/>
          <p:cNvSpPr/>
          <p:nvPr/>
        </p:nvSpPr>
        <p:spPr>
          <a:xfrm>
            <a:off x="731520" y="4041648"/>
            <a:ext cx="384048" cy="365760"/>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300" b="1" i="0">
                <a:solidFill>
                  <a:srgbClr val="FFFFFF"/>
                </a:solidFill>
                <a:latin typeface="맑은 고딕"/>
                <a:ea typeface="맑은 고딕"/>
                <a:cs typeface="맑은 고딕"/>
              </a:rPr>
              <a:t>04</a:t>
            </a:r>
          </a:p>
        </p:txBody>
      </p:sp>
      <p:sp>
        <p:nvSpPr>
          <p:cNvPr id="22" name="TextBox 21"/>
          <p:cNvSpPr txBox="1"/>
          <p:nvPr/>
        </p:nvSpPr>
        <p:spPr>
          <a:xfrm>
            <a:off x="1280160" y="4014215"/>
            <a:ext cx="3273552" cy="438912"/>
          </a:xfrm>
          <a:prstGeom prst="rect">
            <a:avLst/>
          </a:prstGeom>
          <a:noFill/>
        </p:spPr>
        <p:txBody>
          <a:bodyPr wrap="square" lIns="0" rIns="0" tIns="0" bIns="0" anchor="t">
            <a:spAutoFit/>
          </a:bodyPr>
          <a:lstStyle/>
          <a:p>
            <a:pPr algn="l">
              <a:spcBef>
                <a:spcPts val="0"/>
              </a:spcBef>
              <a:spcAft>
                <a:spcPts val="200"/>
              </a:spcAft>
            </a:pPr>
            <a:r>
              <a:rPr sz="1550" b="1" i="0">
                <a:solidFill>
                  <a:srgbClr val="0A4D9B"/>
                </a:solidFill>
                <a:latin typeface="맑은 고딕"/>
                <a:ea typeface="맑은 고딕"/>
                <a:cs typeface="맑은 고딕"/>
              </a:rPr>
              <a:t>전공지식 활용 · 문제해결 사례</a:t>
            </a:r>
          </a:p>
        </p:txBody>
      </p:sp>
      <p:sp>
        <p:nvSpPr>
          <p:cNvPr id="23" name="TextBox 22"/>
          <p:cNvSpPr txBox="1"/>
          <p:nvPr/>
        </p:nvSpPr>
        <p:spPr>
          <a:xfrm>
            <a:off x="4608576" y="4064507"/>
            <a:ext cx="3611880" cy="310896"/>
          </a:xfrm>
          <a:prstGeom prst="rect">
            <a:avLst/>
          </a:prstGeom>
          <a:noFill/>
        </p:spPr>
        <p:txBody>
          <a:bodyPr wrap="square" lIns="0" rIns="0" tIns="0" bIns="0" anchor="t">
            <a:spAutoFit/>
          </a:bodyPr>
          <a:lstStyle/>
          <a:p>
            <a:pPr algn="l">
              <a:spcBef>
                <a:spcPts val="0"/>
              </a:spcBef>
              <a:spcAft>
                <a:spcPts val="200"/>
              </a:spcAft>
            </a:pPr>
            <a:r>
              <a:rPr sz="1250" b="0" i="0">
                <a:solidFill>
                  <a:srgbClr val="767171"/>
                </a:solidFill>
                <a:latin typeface="맑은 고딕"/>
                <a:ea typeface="맑은 고딕"/>
                <a:cs typeface="맑은 고딕"/>
              </a:rPr>
              <a:t>국소 패턴 / 제약 배치</a:t>
            </a:r>
          </a:p>
        </p:txBody>
      </p:sp>
      <p:sp>
        <p:nvSpPr>
          <p:cNvPr id="24" name="TextBox 23"/>
          <p:cNvSpPr txBox="1"/>
          <p:nvPr/>
        </p:nvSpPr>
        <p:spPr>
          <a:xfrm>
            <a:off x="8357616" y="4064507"/>
            <a:ext cx="777240" cy="310896"/>
          </a:xfrm>
          <a:prstGeom prst="rect">
            <a:avLst/>
          </a:prstGeom>
          <a:noFill/>
        </p:spPr>
        <p:txBody>
          <a:bodyPr wrap="square" lIns="0" rIns="0" tIns="0" bIns="0" anchor="t">
            <a:spAutoFit/>
          </a:bodyPr>
          <a:lstStyle/>
          <a:p>
            <a:pPr algn="r">
              <a:spcBef>
                <a:spcPts val="0"/>
              </a:spcBef>
              <a:spcAft>
                <a:spcPts val="200"/>
              </a:spcAft>
            </a:pPr>
            <a:r>
              <a:rPr sz="1250" b="1" i="0">
                <a:solidFill>
                  <a:srgbClr val="2E75B6"/>
                </a:solidFill>
                <a:latin typeface="맑은 고딕"/>
                <a:ea typeface="맑은 고딕"/>
                <a:cs typeface="맑은 고딕"/>
              </a:rPr>
              <a:t>1:20</a:t>
            </a:r>
          </a:p>
        </p:txBody>
      </p:sp>
      <p:sp>
        <p:nvSpPr>
          <p:cNvPr id="25" name="Rounded Rectangle 24"/>
          <p:cNvSpPr/>
          <p:nvPr/>
        </p:nvSpPr>
        <p:spPr>
          <a:xfrm>
            <a:off x="585216" y="4626864"/>
            <a:ext cx="8732520" cy="658368"/>
          </a:xfrm>
          <a:prstGeom prst="roundRect">
            <a:avLst>
              <a:gd name="adj" fmla="val 16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26" name="Rounded Rectangle 25"/>
          <p:cNvSpPr/>
          <p:nvPr/>
        </p:nvSpPr>
        <p:spPr>
          <a:xfrm>
            <a:off x="731520" y="4773168"/>
            <a:ext cx="384048" cy="365760"/>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300" b="1" i="0">
                <a:solidFill>
                  <a:srgbClr val="FFFFFF"/>
                </a:solidFill>
                <a:latin typeface="맑은 고딕"/>
                <a:ea typeface="맑은 고딕"/>
                <a:cs typeface="맑은 고딕"/>
              </a:rPr>
              <a:t>05</a:t>
            </a:r>
          </a:p>
        </p:txBody>
      </p:sp>
      <p:sp>
        <p:nvSpPr>
          <p:cNvPr id="27" name="TextBox 26"/>
          <p:cNvSpPr txBox="1"/>
          <p:nvPr/>
        </p:nvSpPr>
        <p:spPr>
          <a:xfrm>
            <a:off x="1280160" y="4745736"/>
            <a:ext cx="3273552" cy="438912"/>
          </a:xfrm>
          <a:prstGeom prst="rect">
            <a:avLst/>
          </a:prstGeom>
          <a:noFill/>
        </p:spPr>
        <p:txBody>
          <a:bodyPr wrap="square" lIns="0" rIns="0" tIns="0" bIns="0" anchor="t">
            <a:spAutoFit/>
          </a:bodyPr>
          <a:lstStyle/>
          <a:p>
            <a:pPr algn="l">
              <a:spcBef>
                <a:spcPts val="0"/>
              </a:spcBef>
              <a:spcAft>
                <a:spcPts val="200"/>
              </a:spcAft>
            </a:pPr>
            <a:r>
              <a:rPr sz="1550" b="1" i="0">
                <a:solidFill>
                  <a:srgbClr val="0A4D9B"/>
                </a:solidFill>
                <a:latin typeface="맑은 고딕"/>
                <a:ea typeface="맑은 고딕"/>
                <a:cs typeface="맑은 고딕"/>
              </a:rPr>
              <a:t>Key Finding · Contribution</a:t>
            </a:r>
          </a:p>
        </p:txBody>
      </p:sp>
      <p:sp>
        <p:nvSpPr>
          <p:cNvPr id="28" name="TextBox 27"/>
          <p:cNvSpPr txBox="1"/>
          <p:nvPr/>
        </p:nvSpPr>
        <p:spPr>
          <a:xfrm>
            <a:off x="4608576" y="4796027"/>
            <a:ext cx="3611880" cy="310896"/>
          </a:xfrm>
          <a:prstGeom prst="rect">
            <a:avLst/>
          </a:prstGeom>
          <a:noFill/>
        </p:spPr>
        <p:txBody>
          <a:bodyPr wrap="square" lIns="0" rIns="0" tIns="0" bIns="0" anchor="t">
            <a:spAutoFit/>
          </a:bodyPr>
          <a:lstStyle/>
          <a:p>
            <a:pPr algn="l">
              <a:spcBef>
                <a:spcPts val="0"/>
              </a:spcBef>
              <a:spcAft>
                <a:spcPts val="200"/>
              </a:spcAft>
            </a:pPr>
            <a:r>
              <a:rPr sz="1250" b="0" i="0">
                <a:solidFill>
                  <a:srgbClr val="767171"/>
                </a:solidFill>
                <a:latin typeface="맑은 고딕"/>
                <a:ea typeface="맑은 고딕"/>
                <a:cs typeface="맑은 고딕"/>
              </a:rPr>
              <a:t>핵심 결과와 기여</a:t>
            </a:r>
          </a:p>
        </p:txBody>
      </p:sp>
      <p:sp>
        <p:nvSpPr>
          <p:cNvPr id="29" name="TextBox 28"/>
          <p:cNvSpPr txBox="1"/>
          <p:nvPr/>
        </p:nvSpPr>
        <p:spPr>
          <a:xfrm>
            <a:off x="8357616" y="4796027"/>
            <a:ext cx="777240" cy="310896"/>
          </a:xfrm>
          <a:prstGeom prst="rect">
            <a:avLst/>
          </a:prstGeom>
          <a:noFill/>
        </p:spPr>
        <p:txBody>
          <a:bodyPr wrap="square" lIns="0" rIns="0" tIns="0" bIns="0" anchor="t">
            <a:spAutoFit/>
          </a:bodyPr>
          <a:lstStyle/>
          <a:p>
            <a:pPr algn="r">
              <a:spcBef>
                <a:spcPts val="0"/>
              </a:spcBef>
              <a:spcAft>
                <a:spcPts val="200"/>
              </a:spcAft>
            </a:pPr>
            <a:r>
              <a:rPr sz="1250" b="1" i="0">
                <a:solidFill>
                  <a:srgbClr val="2E75B6"/>
                </a:solidFill>
                <a:latin typeface="맑은 고딕"/>
                <a:ea typeface="맑은 고딕"/>
                <a:cs typeface="맑은 고딕"/>
              </a:rPr>
              <a:t>0:50</a:t>
            </a:r>
          </a:p>
        </p:txBody>
      </p:sp>
      <p:sp>
        <p:nvSpPr>
          <p:cNvPr id="30" name="Rounded Rectangle 29"/>
          <p:cNvSpPr/>
          <p:nvPr/>
        </p:nvSpPr>
        <p:spPr>
          <a:xfrm>
            <a:off x="585216" y="5358383"/>
            <a:ext cx="8732520" cy="658368"/>
          </a:xfrm>
          <a:prstGeom prst="roundRect">
            <a:avLst>
              <a:gd name="adj" fmla="val 16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31" name="Rounded Rectangle 30"/>
          <p:cNvSpPr/>
          <p:nvPr/>
        </p:nvSpPr>
        <p:spPr>
          <a:xfrm>
            <a:off x="731520" y="5504688"/>
            <a:ext cx="384048" cy="365760"/>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300" b="1" i="0">
                <a:solidFill>
                  <a:srgbClr val="FFFFFF"/>
                </a:solidFill>
                <a:latin typeface="맑은 고딕"/>
                <a:ea typeface="맑은 고딕"/>
                <a:cs typeface="맑은 고딕"/>
              </a:rPr>
              <a:t>06</a:t>
            </a:r>
          </a:p>
        </p:txBody>
      </p:sp>
      <p:sp>
        <p:nvSpPr>
          <p:cNvPr id="32" name="TextBox 31"/>
          <p:cNvSpPr txBox="1"/>
          <p:nvPr/>
        </p:nvSpPr>
        <p:spPr>
          <a:xfrm>
            <a:off x="1280160" y="5477255"/>
            <a:ext cx="3273552" cy="438912"/>
          </a:xfrm>
          <a:prstGeom prst="rect">
            <a:avLst/>
          </a:prstGeom>
          <a:noFill/>
        </p:spPr>
        <p:txBody>
          <a:bodyPr wrap="square" lIns="0" rIns="0" tIns="0" bIns="0" anchor="t">
            <a:spAutoFit/>
          </a:bodyPr>
          <a:lstStyle/>
          <a:p>
            <a:pPr algn="l">
              <a:spcBef>
                <a:spcPts val="0"/>
              </a:spcBef>
              <a:spcAft>
                <a:spcPts val="200"/>
              </a:spcAft>
            </a:pPr>
            <a:r>
              <a:rPr sz="1550" b="1" i="0">
                <a:solidFill>
                  <a:srgbClr val="0A4D9B"/>
                </a:solidFill>
                <a:latin typeface="맑은 고딕"/>
                <a:ea typeface="맑은 고딕"/>
                <a:cs typeface="맑은 고딕"/>
              </a:rPr>
              <a:t>향후 계획 · 소감</a:t>
            </a:r>
          </a:p>
        </p:txBody>
      </p:sp>
      <p:sp>
        <p:nvSpPr>
          <p:cNvPr id="33" name="TextBox 32"/>
          <p:cNvSpPr txBox="1"/>
          <p:nvPr/>
        </p:nvSpPr>
        <p:spPr>
          <a:xfrm>
            <a:off x="4608576" y="5527547"/>
            <a:ext cx="3611880" cy="310896"/>
          </a:xfrm>
          <a:prstGeom prst="rect">
            <a:avLst/>
          </a:prstGeom>
          <a:noFill/>
        </p:spPr>
        <p:txBody>
          <a:bodyPr wrap="square" lIns="0" rIns="0" tIns="0" bIns="0" anchor="t">
            <a:spAutoFit/>
          </a:bodyPr>
          <a:lstStyle/>
          <a:p>
            <a:pPr algn="l">
              <a:spcBef>
                <a:spcPts val="0"/>
              </a:spcBef>
              <a:spcAft>
                <a:spcPts val="200"/>
              </a:spcAft>
            </a:pPr>
            <a:r>
              <a:rPr sz="1250" b="0" i="0">
                <a:solidFill>
                  <a:srgbClr val="767171"/>
                </a:solidFill>
                <a:latin typeface="맑은 고딕"/>
                <a:ea typeface="맑은 고딕"/>
                <a:cs typeface="맑은 고딕"/>
              </a:rPr>
              <a:t>학업 · 진로 계획</a:t>
            </a:r>
          </a:p>
        </p:txBody>
      </p:sp>
      <p:sp>
        <p:nvSpPr>
          <p:cNvPr id="34" name="TextBox 33"/>
          <p:cNvSpPr txBox="1"/>
          <p:nvPr/>
        </p:nvSpPr>
        <p:spPr>
          <a:xfrm>
            <a:off x="8357616" y="5527547"/>
            <a:ext cx="777240" cy="310896"/>
          </a:xfrm>
          <a:prstGeom prst="rect">
            <a:avLst/>
          </a:prstGeom>
          <a:noFill/>
        </p:spPr>
        <p:txBody>
          <a:bodyPr wrap="square" lIns="0" rIns="0" tIns="0" bIns="0" anchor="t">
            <a:spAutoFit/>
          </a:bodyPr>
          <a:lstStyle/>
          <a:p>
            <a:pPr algn="r">
              <a:spcBef>
                <a:spcPts val="0"/>
              </a:spcBef>
              <a:spcAft>
                <a:spcPts val="200"/>
              </a:spcAft>
            </a:pPr>
            <a:r>
              <a:rPr sz="1250" b="1" i="0">
                <a:solidFill>
                  <a:srgbClr val="2E75B6"/>
                </a:solidFill>
                <a:latin typeface="맑은 고딕"/>
                <a:ea typeface="맑은 고딕"/>
                <a:cs typeface="맑은 고딕"/>
              </a:rPr>
              <a:t>0:30</a:t>
            </a:r>
          </a:p>
        </p:txBody>
      </p:sp>
      <p:sp>
        <p:nvSpPr>
          <p:cNvPr id="35" name="TextBox 34"/>
          <p:cNvSpPr txBox="1"/>
          <p:nvPr/>
        </p:nvSpPr>
        <p:spPr>
          <a:xfrm>
            <a:off x="585216" y="6144768"/>
            <a:ext cx="8732520" cy="310896"/>
          </a:xfrm>
          <a:prstGeom prst="rect">
            <a:avLst/>
          </a:prstGeom>
          <a:noFill/>
        </p:spPr>
        <p:txBody>
          <a:bodyPr wrap="square" lIns="0" rIns="0" tIns="0" bIns="0" anchor="t">
            <a:spAutoFit/>
          </a:bodyPr>
          <a:lstStyle/>
          <a:p>
            <a:pPr algn="l">
              <a:spcBef>
                <a:spcPts val="0"/>
              </a:spcBef>
              <a:spcAft>
                <a:spcPts val="200"/>
              </a:spcAft>
            </a:pPr>
            <a:r>
              <a:rPr sz="1200" b="1" i="0">
                <a:solidFill>
                  <a:srgbClr val="C00000"/>
                </a:solidFill>
                <a:latin typeface="맑은 고딕"/>
                <a:ea typeface="맑은 고딕"/>
                <a:cs typeface="맑은 고딕"/>
              </a:rPr>
              <a:t>발표 5분</a:t>
            </a:r>
            <a:r>
              <a:rPr sz="1200" b="0" i="0">
                <a:solidFill>
                  <a:srgbClr val="767171"/>
                </a:solidFill>
                <a:latin typeface="맑은 고딕"/>
                <a:ea typeface="맑은 고딕"/>
                <a:cs typeface="맑은 고딕"/>
              </a:rPr>
              <a:t>  ·  제한 시간 내 핵심 method · key finding · contribution 중심으로 구성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3</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연구실 · 인턴십 개요</a:t>
            </a:r>
          </a:p>
        </p:txBody>
      </p:sp>
      <p:sp>
        <p:nvSpPr>
          <p:cNvPr id="5" name="TextBox 4"/>
          <p:cNvSpPr txBox="1"/>
          <p:nvPr/>
        </p:nvSpPr>
        <p:spPr>
          <a:xfrm>
            <a:off x="585216" y="1645920"/>
            <a:ext cx="8732520" cy="8229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VisAGI Lab  ·  Vision &amp; AGI  (서울시립대학교 인공지능학과)</a:t>
            </a:r>
          </a:p>
          <a:p>
            <a:pPr algn="l">
              <a:spcBef>
                <a:spcPts val="200"/>
              </a:spcBef>
              <a:spcAft>
                <a:spcPts val="200"/>
              </a:spcAft>
            </a:pPr>
            <a:r>
              <a:rPr sz="1500" b="1" i="0">
                <a:solidFill>
                  <a:srgbClr val="27251E"/>
                </a:solidFill>
                <a:latin typeface="맑은 고딕"/>
                <a:ea typeface="맑은 고딕"/>
                <a:cs typeface="맑은 고딕"/>
              </a:rPr>
              <a:t>Vision-Language Model</a:t>
            </a:r>
            <a:r>
              <a:rPr sz="1500" b="0" i="0">
                <a:solidFill>
                  <a:srgbClr val="27251E"/>
                </a:solidFill>
                <a:latin typeface="맑은 고딕"/>
                <a:ea typeface="맑은 고딕"/>
                <a:cs typeface="맑은 고딕"/>
              </a:rPr>
              <a:t>의 인식·추론 능력을 평가하고 개선하는 연구를 수행 — </a:t>
            </a:r>
            <a:r>
              <a:rPr sz="1500" b="0" i="0">
                <a:solidFill>
                  <a:srgbClr val="27251E"/>
                </a:solidFill>
                <a:latin typeface="맑은 고딕"/>
                <a:ea typeface="맑은 고딕"/>
                <a:cs typeface="맑은 고딕"/>
              </a:rPr>
              <a:t>본 인턴십에서는 </a:t>
            </a:r>
            <a:r>
              <a:rPr sz="1500" b="1" i="0">
                <a:solidFill>
                  <a:srgbClr val="27251E"/>
                </a:solidFill>
                <a:latin typeface="맑은 고딕"/>
                <a:ea typeface="맑은 고딕"/>
                <a:cs typeface="맑은 고딕"/>
              </a:rPr>
              <a:t>개인화(Personalization) 평가 벤치마크</a:t>
            </a:r>
            <a:r>
              <a:rPr sz="1500" b="0" i="0">
                <a:solidFill>
                  <a:srgbClr val="27251E"/>
                </a:solidFill>
                <a:latin typeface="맑은 고딕"/>
                <a:ea typeface="맑은 고딕"/>
                <a:cs typeface="맑은 고딕"/>
              </a:rPr>
              <a:t> 구축을 담당</a:t>
            </a:r>
          </a:p>
        </p:txBody>
      </p:sp>
      <p:sp>
        <p:nvSpPr>
          <p:cNvPr id="6" name="Rounded Rectangle 5"/>
          <p:cNvSpPr/>
          <p:nvPr/>
        </p:nvSpPr>
        <p:spPr>
          <a:xfrm>
            <a:off x="585216" y="2761488"/>
            <a:ext cx="2048256" cy="1060704"/>
          </a:xfrm>
          <a:prstGeom prst="roundRect">
            <a:avLst>
              <a:gd name="adj" fmla="val 12000"/>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3200" b="1" i="0">
                <a:solidFill>
                  <a:srgbClr val="004094"/>
                </a:solidFill>
                <a:latin typeface="맑은 고딕"/>
                <a:ea typeface="맑은 고딕"/>
                <a:cs typeface="맑은 고딕"/>
              </a:rPr>
              <a:t>2,621</a:t>
            </a:r>
          </a:p>
          <a:p>
            <a:pPr algn="ctr">
              <a:lnSpc>
                <a:spcPct val="115000"/>
              </a:lnSpc>
              <a:spcBef>
                <a:spcPts val="0"/>
              </a:spcBef>
              <a:spcAft>
                <a:spcPts val="200"/>
              </a:spcAft>
            </a:pPr>
            <a:r>
              <a:rPr sz="1100" b="0" i="0">
                <a:solidFill>
                  <a:srgbClr val="27251E"/>
                </a:solidFill>
                <a:latin typeface="맑은 고딕"/>
                <a:ea typeface="맑은 고딕"/>
                <a:cs typeface="맑은 고딕"/>
              </a:rPr>
              <a:t>option plans
(4지선다 문항)</a:t>
            </a:r>
          </a:p>
        </p:txBody>
      </p:sp>
      <p:sp>
        <p:nvSpPr>
          <p:cNvPr id="7" name="Rounded Rectangle 6"/>
          <p:cNvSpPr/>
          <p:nvPr/>
        </p:nvSpPr>
        <p:spPr>
          <a:xfrm>
            <a:off x="2724912" y="2761488"/>
            <a:ext cx="2048256" cy="1060704"/>
          </a:xfrm>
          <a:prstGeom prst="roundRect">
            <a:avLst>
              <a:gd name="adj" fmla="val 12000"/>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3200" b="1" i="0">
                <a:solidFill>
                  <a:srgbClr val="2E75B6"/>
                </a:solidFill>
                <a:latin typeface="맑은 고딕"/>
                <a:ea typeface="맑은 고딕"/>
                <a:cs typeface="맑은 고딕"/>
              </a:rPr>
              <a:t>59</a:t>
            </a:r>
          </a:p>
          <a:p>
            <a:pPr algn="ctr">
              <a:lnSpc>
                <a:spcPct val="115000"/>
              </a:lnSpc>
              <a:spcBef>
                <a:spcPts val="0"/>
              </a:spcBef>
              <a:spcAft>
                <a:spcPts val="200"/>
              </a:spcAft>
            </a:pPr>
            <a:r>
              <a:rPr sz="1100" b="0" i="0">
                <a:solidFill>
                  <a:srgbClr val="27251E"/>
                </a:solidFill>
                <a:latin typeface="맑은 고딕"/>
                <a:ea typeface="맑은 고딕"/>
                <a:cs typeface="맑은 고딕"/>
              </a:rPr>
              <a:t>canonical scenarios
/ 20 archetypes</a:t>
            </a:r>
          </a:p>
        </p:txBody>
      </p:sp>
      <p:sp>
        <p:nvSpPr>
          <p:cNvPr id="8" name="Rounded Rectangle 7"/>
          <p:cNvSpPr/>
          <p:nvPr/>
        </p:nvSpPr>
        <p:spPr>
          <a:xfrm>
            <a:off x="4864608" y="2761488"/>
            <a:ext cx="2048256" cy="1060704"/>
          </a:xfrm>
          <a:prstGeom prst="roundRect">
            <a:avLst>
              <a:gd name="adj" fmla="val 12000"/>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3200" b="1" i="0">
                <a:solidFill>
                  <a:srgbClr val="2E75B6"/>
                </a:solidFill>
                <a:latin typeface="맑은 고딕"/>
                <a:ea typeface="맑은 고딕"/>
                <a:cs typeface="맑은 고딕"/>
              </a:rPr>
              <a:t>1,661</a:t>
            </a:r>
          </a:p>
          <a:p>
            <a:pPr algn="ctr">
              <a:lnSpc>
                <a:spcPct val="115000"/>
              </a:lnSpc>
              <a:spcBef>
                <a:spcPts val="0"/>
              </a:spcBef>
              <a:spcAft>
                <a:spcPts val="200"/>
              </a:spcAft>
            </a:pPr>
            <a:r>
              <a:rPr sz="1100" b="0" i="0">
                <a:solidFill>
                  <a:srgbClr val="27251E"/>
                </a:solidFill>
                <a:latin typeface="맑은 고딕"/>
                <a:ea typeface="맑은 고딕"/>
                <a:cs typeface="맑은 고딕"/>
              </a:rPr>
              <a:t>이미지 셀
전수 수작업 검수</a:t>
            </a:r>
          </a:p>
        </p:txBody>
      </p:sp>
      <p:sp>
        <p:nvSpPr>
          <p:cNvPr id="9" name="Rounded Rectangle 8"/>
          <p:cNvSpPr/>
          <p:nvPr/>
        </p:nvSpPr>
        <p:spPr>
          <a:xfrm>
            <a:off x="7004304" y="2761488"/>
            <a:ext cx="2048256" cy="1060704"/>
          </a:xfrm>
          <a:prstGeom prst="roundRect">
            <a:avLst>
              <a:gd name="adj" fmla="val 12000"/>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3200" b="1" i="0">
                <a:solidFill>
                  <a:srgbClr val="004094"/>
                </a:solidFill>
                <a:latin typeface="맑은 고딕"/>
                <a:ea typeface="맑은 고딕"/>
                <a:cs typeface="맑은 고딕"/>
              </a:rPr>
              <a:t>7</a:t>
            </a:r>
          </a:p>
          <a:p>
            <a:pPr algn="ctr">
              <a:lnSpc>
                <a:spcPct val="115000"/>
              </a:lnSpc>
              <a:spcBef>
                <a:spcPts val="0"/>
              </a:spcBef>
              <a:spcAft>
                <a:spcPts val="200"/>
              </a:spcAft>
            </a:pPr>
            <a:r>
              <a:rPr sz="1100" b="0" i="0">
                <a:solidFill>
                  <a:srgbClr val="27251E"/>
                </a:solidFill>
                <a:latin typeface="맑은 고딕"/>
                <a:ea typeface="맑은 고딕"/>
                <a:cs typeface="맑은 고딕"/>
              </a:rPr>
              <a:t>stage pipeline
구성 → 수집 → 평가</a:t>
            </a:r>
          </a:p>
        </p:txBody>
      </p:sp>
      <p:sp>
        <p:nvSpPr>
          <p:cNvPr id="10" name="TextBox 9"/>
          <p:cNvSpPr txBox="1"/>
          <p:nvPr/>
        </p:nvSpPr>
        <p:spPr>
          <a:xfrm>
            <a:off x="585216" y="4059936"/>
            <a:ext cx="8732520" cy="3657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인턴십에서 제가 담당한 범위</a:t>
            </a:r>
          </a:p>
        </p:txBody>
      </p:sp>
      <p:sp>
        <p:nvSpPr>
          <p:cNvPr id="11" name="Rounded Rectangle 10"/>
          <p:cNvSpPr/>
          <p:nvPr/>
        </p:nvSpPr>
        <p:spPr>
          <a:xfrm>
            <a:off x="585216" y="4480560"/>
            <a:ext cx="1481328" cy="310896"/>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50" b="1" i="0">
                <a:solidFill>
                  <a:srgbClr val="FFFFFF"/>
                </a:solidFill>
                <a:latin typeface="맑은 고딕"/>
                <a:ea typeface="맑은 고딕"/>
                <a:cs typeface="맑은 고딕"/>
              </a:rPr>
              <a:t>벤치마크 설계</a:t>
            </a:r>
          </a:p>
        </p:txBody>
      </p:sp>
      <p:sp>
        <p:nvSpPr>
          <p:cNvPr id="12" name="TextBox 11"/>
          <p:cNvSpPr txBox="1"/>
          <p:nvPr/>
        </p:nvSpPr>
        <p:spPr>
          <a:xfrm>
            <a:off x="2194560" y="4521708"/>
            <a:ext cx="7086600" cy="274320"/>
          </a:xfrm>
          <a:prstGeom prst="rect">
            <a:avLst/>
          </a:prstGeom>
          <a:noFill/>
        </p:spPr>
        <p:txBody>
          <a:bodyPr wrap="square" lIns="0" rIns="0" tIns="0" bIns="0" anchor="t">
            <a:spAutoFit/>
          </a:bodyPr>
          <a:lstStyle/>
          <a:p>
            <a:pPr algn="l">
              <a:spcBef>
                <a:spcPts val="0"/>
              </a:spcBef>
              <a:spcAft>
                <a:spcPts val="200"/>
              </a:spcAft>
            </a:pPr>
            <a:r>
              <a:rPr sz="1300" b="0" i="0">
                <a:solidFill>
                  <a:srgbClr val="27251E"/>
                </a:solidFill>
                <a:latin typeface="맑은 고딕"/>
                <a:ea typeface="맑은 고딕"/>
                <a:cs typeface="맑은 고딕"/>
              </a:rPr>
              <a:t>2×2 factorial 설계, 3-way scoring 정의, 시나리오·프로필 생성 규칙 작성</a:t>
            </a:r>
          </a:p>
        </p:txBody>
      </p:sp>
      <p:sp>
        <p:nvSpPr>
          <p:cNvPr id="13" name="Rounded Rectangle 12"/>
          <p:cNvSpPr/>
          <p:nvPr/>
        </p:nvSpPr>
        <p:spPr>
          <a:xfrm>
            <a:off x="585216" y="4901184"/>
            <a:ext cx="1481328" cy="310896"/>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50" b="1" i="0">
                <a:solidFill>
                  <a:srgbClr val="FFFFFF"/>
                </a:solidFill>
                <a:latin typeface="맑은 고딕"/>
                <a:ea typeface="맑은 고딕"/>
                <a:cs typeface="맑은 고딕"/>
              </a:rPr>
              <a:t>데이터 파이프라인</a:t>
            </a:r>
          </a:p>
        </p:txBody>
      </p:sp>
      <p:sp>
        <p:nvSpPr>
          <p:cNvPr id="14" name="TextBox 13"/>
          <p:cNvSpPr txBox="1"/>
          <p:nvPr/>
        </p:nvSpPr>
        <p:spPr>
          <a:xfrm>
            <a:off x="2194560" y="4942332"/>
            <a:ext cx="7086600" cy="274320"/>
          </a:xfrm>
          <a:prstGeom prst="rect">
            <a:avLst/>
          </a:prstGeom>
          <a:noFill/>
        </p:spPr>
        <p:txBody>
          <a:bodyPr wrap="square" lIns="0" rIns="0" tIns="0" bIns="0" anchor="t">
            <a:spAutoFit/>
          </a:bodyPr>
          <a:lstStyle/>
          <a:p>
            <a:pPr algn="l">
              <a:spcBef>
                <a:spcPts val="0"/>
              </a:spcBef>
              <a:spcAft>
                <a:spcPts val="200"/>
              </a:spcAft>
            </a:pPr>
            <a:r>
              <a:rPr sz="1300" b="0" i="0">
                <a:solidFill>
                  <a:srgbClr val="27251E"/>
                </a:solidFill>
                <a:latin typeface="맑은 고딕"/>
                <a:ea typeface="맑은 고딕"/>
                <a:cs typeface="맑은 고딕"/>
              </a:rPr>
              <a:t>FashionSigLIP 검색 · SAM3 분할 · patch-wise 속성 검증 수집기 구현</a:t>
            </a:r>
          </a:p>
        </p:txBody>
      </p:sp>
      <p:sp>
        <p:nvSpPr>
          <p:cNvPr id="15" name="Rounded Rectangle 14"/>
          <p:cNvSpPr/>
          <p:nvPr/>
        </p:nvSpPr>
        <p:spPr>
          <a:xfrm>
            <a:off x="585216" y="5321808"/>
            <a:ext cx="1481328" cy="310896"/>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50" b="1" i="0">
                <a:solidFill>
                  <a:srgbClr val="FFFFFF"/>
                </a:solidFill>
                <a:latin typeface="맑은 고딕"/>
                <a:ea typeface="맑은 고딕"/>
                <a:cs typeface="맑은 고딕"/>
              </a:rPr>
              <a:t>품질 검증</a:t>
            </a:r>
          </a:p>
        </p:txBody>
      </p:sp>
      <p:sp>
        <p:nvSpPr>
          <p:cNvPr id="16" name="TextBox 15"/>
          <p:cNvSpPr txBox="1"/>
          <p:nvPr/>
        </p:nvSpPr>
        <p:spPr>
          <a:xfrm>
            <a:off x="2194560" y="5362956"/>
            <a:ext cx="7086600" cy="274320"/>
          </a:xfrm>
          <a:prstGeom prst="rect">
            <a:avLst/>
          </a:prstGeom>
          <a:noFill/>
        </p:spPr>
        <p:txBody>
          <a:bodyPr wrap="square" lIns="0" rIns="0" tIns="0" bIns="0" anchor="t">
            <a:spAutoFit/>
          </a:bodyPr>
          <a:lstStyle/>
          <a:p>
            <a:pPr algn="l">
              <a:spcBef>
                <a:spcPts val="0"/>
              </a:spcBef>
              <a:spcAft>
                <a:spcPts val="200"/>
              </a:spcAft>
            </a:pPr>
            <a:r>
              <a:rPr sz="1300" b="0" i="0">
                <a:solidFill>
                  <a:srgbClr val="27251E"/>
                </a:solidFill>
                <a:latin typeface="맑은 고딕"/>
                <a:ea typeface="맑은 고딕"/>
                <a:cs typeface="맑은 고딕"/>
              </a:rPr>
              <a:t>1,661개 셀 human annotation 도구 제작 및 전수 검수, 재현성 검증 스크립트</a:t>
            </a:r>
          </a:p>
        </p:txBody>
      </p:sp>
      <p:sp>
        <p:nvSpPr>
          <p:cNvPr id="17" name="Rounded Rectangle 16"/>
          <p:cNvSpPr/>
          <p:nvPr/>
        </p:nvSpPr>
        <p:spPr>
          <a:xfrm>
            <a:off x="585216" y="5742432"/>
            <a:ext cx="1481328" cy="310896"/>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50" b="1" i="0">
                <a:solidFill>
                  <a:srgbClr val="FFFFFF"/>
                </a:solidFill>
                <a:latin typeface="맑은 고딕"/>
                <a:ea typeface="맑은 고딕"/>
                <a:cs typeface="맑은 고딕"/>
              </a:rPr>
              <a:t>평가 실험</a:t>
            </a:r>
          </a:p>
        </p:txBody>
      </p:sp>
      <p:sp>
        <p:nvSpPr>
          <p:cNvPr id="18" name="TextBox 17"/>
          <p:cNvSpPr txBox="1"/>
          <p:nvPr/>
        </p:nvSpPr>
        <p:spPr>
          <a:xfrm>
            <a:off x="2194560" y="5783580"/>
            <a:ext cx="7086600" cy="274320"/>
          </a:xfrm>
          <a:prstGeom prst="rect">
            <a:avLst/>
          </a:prstGeom>
          <a:noFill/>
        </p:spPr>
        <p:txBody>
          <a:bodyPr wrap="square" lIns="0" rIns="0" tIns="0" bIns="0" anchor="t">
            <a:spAutoFit/>
          </a:bodyPr>
          <a:lstStyle/>
          <a:p>
            <a:pPr algn="l">
              <a:spcBef>
                <a:spcPts val="0"/>
              </a:spcBef>
              <a:spcAft>
                <a:spcPts val="200"/>
              </a:spcAft>
            </a:pPr>
            <a:r>
              <a:rPr sz="1300" b="0" i="0">
                <a:solidFill>
                  <a:srgbClr val="27251E"/>
                </a:solidFill>
                <a:latin typeface="맑은 고딕"/>
                <a:ea typeface="맑은 고딕"/>
                <a:cs typeface="맑은 고딕"/>
              </a:rPr>
              <a:t>vLLM 기반 VLM 5개 input format ablation 실행 및 결과 분석</a:t>
            </a:r>
          </a:p>
        </p:txBody>
      </p:sp>
      <p:sp>
        <p:nvSpPr>
          <p:cNvPr id="19" name="TextBox 18"/>
          <p:cNvSpPr txBox="1"/>
          <p:nvPr/>
        </p:nvSpPr>
        <p:spPr>
          <a:xfrm>
            <a:off x="585216" y="6272784"/>
            <a:ext cx="8732520" cy="292608"/>
          </a:xfrm>
          <a:prstGeom prst="rect">
            <a:avLst/>
          </a:prstGeom>
          <a:noFill/>
        </p:spPr>
        <p:txBody>
          <a:bodyPr wrap="square" lIns="0" rIns="0" tIns="0" bIns="0" anchor="t">
            <a:spAutoFit/>
          </a:bodyPr>
          <a:lstStyle/>
          <a:p>
            <a:pPr algn="l">
              <a:spcBef>
                <a:spcPts val="0"/>
              </a:spcBef>
              <a:spcAft>
                <a:spcPts val="200"/>
              </a:spcAft>
            </a:pPr>
            <a:r>
              <a:rPr sz="1150" b="1" i="0">
                <a:solidFill>
                  <a:srgbClr val="767171"/>
                </a:solidFill>
                <a:latin typeface="맑은 고딕"/>
                <a:ea typeface="맑은 고딕"/>
                <a:cs typeface="맑은 고딕"/>
              </a:rPr>
              <a:t>사용 기술  </a:t>
            </a:r>
            <a:r>
              <a:rPr sz="1150" b="0" i="0">
                <a:solidFill>
                  <a:srgbClr val="767171"/>
                </a:solidFill>
                <a:latin typeface="맑은 고딕"/>
                <a:ea typeface="맑은 고딕"/>
                <a:cs typeface="맑은 고딕"/>
              </a:rPr>
              <a:t>PyTorch · vLLM · FAISS · Marqo-FashionSigLIP · SAM3 · Qwen3-VL · FastAPI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4</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Problem Definition</a:t>
            </a:r>
            <a:r>
              <a:rPr sz="1400" b="0" i="0">
                <a:solidFill>
                  <a:srgbClr val="767171"/>
                </a:solidFill>
                <a:latin typeface="맑은 고딕"/>
                <a:ea typeface="맑은 고딕"/>
                <a:cs typeface="맑은 고딕"/>
              </a:rPr>
              <a:t>   취향과 상황은 다른 축이다</a:t>
            </a:r>
          </a:p>
        </p:txBody>
      </p:sp>
      <p:sp>
        <p:nvSpPr>
          <p:cNvPr id="5" name="TextBox 4"/>
          <p:cNvSpPr txBox="1"/>
          <p:nvPr/>
        </p:nvSpPr>
        <p:spPr>
          <a:xfrm>
            <a:off x="585216" y="1591056"/>
            <a:ext cx="8732520" cy="548640"/>
          </a:xfrm>
          <a:prstGeom prst="rect">
            <a:avLst/>
          </a:prstGeom>
          <a:noFill/>
        </p:spPr>
        <p:txBody>
          <a:bodyPr wrap="square" lIns="0" rIns="0" tIns="0" bIns="0" anchor="t">
            <a:spAutoFit/>
          </a:bodyPr>
          <a:lstStyle/>
          <a:p>
            <a:pPr algn="l">
              <a:spcBef>
                <a:spcPts val="0"/>
              </a:spcBef>
              <a:spcAft>
                <a:spcPts val="200"/>
              </a:spcAft>
            </a:pPr>
            <a:r>
              <a:rPr sz="1800" b="1" i="0">
                <a:solidFill>
                  <a:srgbClr val="27251E"/>
                </a:solidFill>
                <a:latin typeface="맑은 고딕"/>
                <a:ea typeface="맑은 고딕"/>
                <a:cs typeface="맑은 고딕"/>
              </a:rPr>
              <a:t>AI는 사용자의 </a:t>
            </a:r>
            <a:r>
              <a:rPr sz="1800" b="1" i="0">
                <a:solidFill>
                  <a:srgbClr val="C00000"/>
                </a:solidFill>
                <a:latin typeface="맑은 고딕"/>
                <a:ea typeface="맑은 고딕"/>
                <a:cs typeface="맑은 고딕"/>
              </a:rPr>
              <a:t>취향(Preference)</a:t>
            </a:r>
            <a:r>
              <a:rPr sz="1800" b="1" i="0">
                <a:solidFill>
                  <a:srgbClr val="27251E"/>
                </a:solidFill>
                <a:latin typeface="맑은 고딕"/>
                <a:ea typeface="맑은 고딕"/>
                <a:cs typeface="맑은 고딕"/>
              </a:rPr>
              <a:t>과 </a:t>
            </a:r>
            <a:r>
              <a:rPr sz="1800" b="1" i="0">
                <a:solidFill>
                  <a:srgbClr val="2E75B6"/>
                </a:solidFill>
                <a:latin typeface="맑은 고딕"/>
                <a:ea typeface="맑은 고딕"/>
                <a:cs typeface="맑은 고딕"/>
              </a:rPr>
              <a:t>상황 기반 선택(TPO)</a:t>
            </a:r>
            <a:r>
              <a:rPr sz="1800" b="1" i="0">
                <a:solidFill>
                  <a:srgbClr val="27251E"/>
                </a:solidFill>
                <a:latin typeface="맑은 고딕"/>
                <a:ea typeface="맑은 고딕"/>
                <a:cs typeface="맑은 고딕"/>
              </a:rPr>
              <a:t>을 구별하고, </a:t>
            </a:r>
            <a:r>
              <a:rPr sz="1800" b="1" i="0">
                <a:solidFill>
                  <a:srgbClr val="7030A0"/>
                </a:solidFill>
                <a:latin typeface="맑은 고딕"/>
                <a:ea typeface="맑은 고딕"/>
                <a:cs typeface="맑은 고딕"/>
              </a:rPr>
              <a:t>동시에</a:t>
            </a:r>
            <a:r>
              <a:rPr sz="1800" b="1" i="0">
                <a:solidFill>
                  <a:srgbClr val="27251E"/>
                </a:solidFill>
                <a:latin typeface="맑은 고딕"/>
                <a:ea typeface="맑은 고딕"/>
                <a:cs typeface="맑은 고딕"/>
              </a:rPr>
              <a:t> 만족시킬 수 있는가?</a:t>
            </a:r>
          </a:p>
        </p:txBody>
      </p:sp>
      <p:sp>
        <p:nvSpPr>
          <p:cNvPr id="6" name="Rounded Rectangle 5"/>
          <p:cNvSpPr/>
          <p:nvPr/>
        </p:nvSpPr>
        <p:spPr>
          <a:xfrm>
            <a:off x="585216" y="2212848"/>
            <a:ext cx="4160520" cy="1389888"/>
          </a:xfrm>
          <a:prstGeom prst="roundRect">
            <a:avLst>
              <a:gd name="adj" fmla="val 10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7" name="TextBox 6"/>
          <p:cNvSpPr txBox="1"/>
          <p:nvPr/>
        </p:nvSpPr>
        <p:spPr>
          <a:xfrm>
            <a:off x="749808" y="2322576"/>
            <a:ext cx="3840480" cy="1188720"/>
          </a:xfrm>
          <a:prstGeom prst="rect">
            <a:avLst/>
          </a:prstGeom>
          <a:noFill/>
        </p:spPr>
        <p:txBody>
          <a:bodyPr wrap="square" lIns="0" rIns="0" tIns="0" bIns="0" anchor="t">
            <a:spAutoFit/>
          </a:bodyPr>
          <a:lstStyle/>
          <a:p>
            <a:pPr algn="l">
              <a:spcBef>
                <a:spcPts val="0"/>
              </a:spcBef>
              <a:spcAft>
                <a:spcPts val="200"/>
              </a:spcAft>
            </a:pPr>
            <a:r>
              <a:rPr sz="1300" b="1" i="0">
                <a:solidFill>
                  <a:srgbClr val="004094"/>
                </a:solidFill>
                <a:latin typeface="맑은 고딕"/>
                <a:ea typeface="맑은 고딕"/>
                <a:cs typeface="맑은 고딕"/>
              </a:rPr>
              <a:t>Profile</a:t>
            </a:r>
            <a:r>
              <a:rPr sz="1300" b="0" i="0">
                <a:solidFill>
                  <a:srgbClr val="767171"/>
                </a:solidFill>
                <a:latin typeface="맑은 고딕"/>
                <a:ea typeface="맑은 고딕"/>
                <a:cs typeface="맑은 고딕"/>
              </a:rPr>
              <a:t>  사용자 취향</a:t>
            </a:r>
          </a:p>
          <a:p>
            <a:pPr algn="l">
              <a:spcBef>
                <a:spcPts val="100"/>
              </a:spcBef>
              <a:spcAft>
                <a:spcPts val="200"/>
              </a:spcAft>
            </a:pPr>
            <a:r>
              <a:rPr sz="1250" b="0" i="0">
                <a:solidFill>
                  <a:srgbClr val="27251E"/>
                </a:solidFill>
                <a:latin typeface="맑은 고딕"/>
                <a:ea typeface="맑은 고딕"/>
                <a:cs typeface="맑은 고딕"/>
              </a:rPr>
              <a:t>navy·beige를 선호하고, orange·red는 피함</a:t>
            </a:r>
          </a:p>
          <a:p>
            <a:pPr algn="l">
              <a:spcBef>
                <a:spcPts val="700"/>
              </a:spcBef>
              <a:spcAft>
                <a:spcPts val="200"/>
              </a:spcAft>
            </a:pPr>
            <a:r>
              <a:rPr sz="1300" b="1" i="0">
                <a:solidFill>
                  <a:srgbClr val="004094"/>
                </a:solidFill>
                <a:latin typeface="맑은 고딕"/>
                <a:ea typeface="맑은 고딕"/>
                <a:cs typeface="맑은 고딕"/>
              </a:rPr>
              <a:t>Query</a:t>
            </a:r>
            <a:r>
              <a:rPr sz="1300" b="0" i="0">
                <a:solidFill>
                  <a:srgbClr val="767171"/>
                </a:solidFill>
                <a:latin typeface="맑은 고딕"/>
                <a:ea typeface="맑은 고딕"/>
                <a:cs typeface="맑은 고딕"/>
              </a:rPr>
              <a:t>  상황 (Time · Place · Occasion)</a:t>
            </a:r>
          </a:p>
          <a:p>
            <a:pPr algn="l">
              <a:spcBef>
                <a:spcPts val="100"/>
              </a:spcBef>
              <a:spcAft>
                <a:spcPts val="200"/>
              </a:spcAft>
            </a:pPr>
            <a:r>
              <a:rPr sz="1250" b="0" i="0">
                <a:solidFill>
                  <a:srgbClr val="27251E"/>
                </a:solidFill>
                <a:latin typeface="맑은 고딕"/>
                <a:ea typeface="맑은 고딕"/>
                <a:cs typeface="맑은 고딕"/>
              </a:rPr>
              <a:t>“한겨울 야외 홀리데이 마켓에서 하루 종일 있을 예정”</a:t>
            </a:r>
          </a:p>
        </p:txBody>
      </p:sp>
      <p:sp>
        <p:nvSpPr>
          <p:cNvPr id="8" name="Rounded Rectangle 7"/>
          <p:cNvSpPr/>
          <p:nvPr/>
        </p:nvSpPr>
        <p:spPr>
          <a:xfrm>
            <a:off x="5074920" y="2212848"/>
            <a:ext cx="4242816" cy="1389888"/>
          </a:xfrm>
          <a:prstGeom prst="roundRect">
            <a:avLst>
              <a:gd name="adj" fmla="val 10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9" name="TextBox 8"/>
          <p:cNvSpPr txBox="1"/>
          <p:nvPr/>
        </p:nvSpPr>
        <p:spPr>
          <a:xfrm>
            <a:off x="5239512" y="2322576"/>
            <a:ext cx="3931920" cy="1188720"/>
          </a:xfrm>
          <a:prstGeom prst="rect">
            <a:avLst/>
          </a:prstGeom>
          <a:noFill/>
        </p:spPr>
        <p:txBody>
          <a:bodyPr wrap="square" lIns="0" rIns="0" tIns="0" bIns="0" anchor="t">
            <a:spAutoFit/>
          </a:bodyPr>
          <a:lstStyle/>
          <a:p>
            <a:pPr algn="l">
              <a:spcBef>
                <a:spcPts val="0"/>
              </a:spcBef>
              <a:spcAft>
                <a:spcPts val="200"/>
              </a:spcAft>
            </a:pPr>
            <a:r>
              <a:rPr sz="1300" b="1" i="0">
                <a:solidFill>
                  <a:srgbClr val="C00000"/>
                </a:solidFill>
                <a:latin typeface="맑은 고딕"/>
                <a:ea typeface="맑은 고딕"/>
                <a:cs typeface="맑은 고딕"/>
              </a:rPr>
              <a:t>기존 개인화 평가의 공백</a:t>
            </a:r>
          </a:p>
          <a:p>
            <a:pPr algn="l">
              <a:spcBef>
                <a:spcPts val="400"/>
              </a:spcBef>
              <a:spcAft>
                <a:spcPts val="200"/>
              </a:spcAft>
            </a:pPr>
            <a:r>
              <a:rPr sz="1250" b="1" i="0">
                <a:solidFill>
                  <a:srgbClr val="27251E"/>
                </a:solidFill>
                <a:latin typeface="맑은 고딕"/>
                <a:ea typeface="맑은 고딕"/>
                <a:cs typeface="맑은 고딕"/>
              </a:rPr>
              <a:t>취향만 반영</a:t>
            </a:r>
            <a:r>
              <a:rPr sz="1250" b="0" i="0">
                <a:solidFill>
                  <a:srgbClr val="27251E"/>
                </a:solidFill>
                <a:latin typeface="맑은 고딕"/>
                <a:ea typeface="맑은 고딕"/>
                <a:cs typeface="맑은 고딕"/>
              </a:rPr>
              <a:t> → 파란 원피스 (한겨울에 부적합)</a:t>
            </a:r>
          </a:p>
          <a:p>
            <a:pPr algn="l">
              <a:spcBef>
                <a:spcPts val="200"/>
              </a:spcBef>
              <a:spcAft>
                <a:spcPts val="200"/>
              </a:spcAft>
            </a:pPr>
            <a:r>
              <a:rPr sz="1250" b="1" i="0">
                <a:solidFill>
                  <a:srgbClr val="27251E"/>
                </a:solidFill>
                <a:latin typeface="맑은 고딕"/>
                <a:ea typeface="맑은 고딕"/>
                <a:cs typeface="맑은 고딕"/>
              </a:rPr>
              <a:t>상황만 반영</a:t>
            </a:r>
            <a:r>
              <a:rPr sz="1250" b="0" i="0">
                <a:solidFill>
                  <a:srgbClr val="27251E"/>
                </a:solidFill>
                <a:latin typeface="맑은 고딕"/>
                <a:ea typeface="맑은 고딕"/>
                <a:cs typeface="맑은 고딕"/>
              </a:rPr>
              <a:t> → 주황 후드 (사용자가 싫어하는 색)</a:t>
            </a:r>
          </a:p>
          <a:p>
            <a:pPr algn="l">
              <a:spcBef>
                <a:spcPts val="500"/>
              </a:spcBef>
              <a:spcAft>
                <a:spcPts val="200"/>
              </a:spcAft>
            </a:pPr>
            <a:r>
              <a:rPr sz="1250" b="0" i="0">
                <a:solidFill>
                  <a:srgbClr val="C00000"/>
                </a:solidFill>
                <a:latin typeface="맑은 고딕"/>
                <a:ea typeface="맑은 고딕"/>
                <a:cs typeface="맑은 고딕"/>
              </a:rPr>
              <a:t>두 응답 모두 기존 기준에서는 “개인화된 응답”으로 채점됨</a:t>
            </a:r>
          </a:p>
        </p:txBody>
      </p:sp>
      <p:sp>
        <p:nvSpPr>
          <p:cNvPr id="10" name="Down Arrow 9"/>
          <p:cNvSpPr/>
          <p:nvPr/>
        </p:nvSpPr>
        <p:spPr>
          <a:xfrm>
            <a:off x="4828032" y="3675887"/>
            <a:ext cx="219456" cy="237744"/>
          </a:xfrm>
          <a:prstGeom prst="downArrow">
            <a:avLst/>
          </a:prstGeom>
          <a:solidFill>
            <a:srgbClr val="9D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abcd.png"/>
          <p:cNvPicPr>
            <a:picLocks noChangeAspect="1"/>
          </p:cNvPicPr>
          <p:nvPr/>
        </p:nvPicPr>
        <p:blipFill>
          <a:blip r:embed="rId3"/>
          <a:stretch>
            <a:fillRect/>
          </a:stretch>
        </p:blipFill>
        <p:spPr>
          <a:xfrm>
            <a:off x="841248" y="3968496"/>
            <a:ext cx="8229600" cy="28409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5</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Method ①  벤치마크 설계</a:t>
            </a:r>
            <a:r>
              <a:rPr sz="1400" b="0" i="0">
                <a:solidFill>
                  <a:srgbClr val="767171"/>
                </a:solidFill>
                <a:latin typeface="맑은 고딕"/>
                <a:ea typeface="맑은 고딕"/>
                <a:cs typeface="맑은 고딕"/>
              </a:rPr>
              <a:t>   2×2 factorial → 3-way scoring</a:t>
            </a:r>
          </a:p>
        </p:txBody>
      </p:sp>
      <p:sp>
        <p:nvSpPr>
          <p:cNvPr id="5" name="TextBox 4"/>
          <p:cNvSpPr txBox="1"/>
          <p:nvPr/>
        </p:nvSpPr>
        <p:spPr>
          <a:xfrm>
            <a:off x="585216" y="1627632"/>
            <a:ext cx="8732520" cy="365760"/>
          </a:xfrm>
          <a:prstGeom prst="rect">
            <a:avLst/>
          </a:prstGeom>
          <a:noFill/>
        </p:spPr>
        <p:txBody>
          <a:bodyPr wrap="square" lIns="0" rIns="0" tIns="0" bIns="0" anchor="t">
            <a:spAutoFit/>
          </a:bodyPr>
          <a:lstStyle/>
          <a:p>
            <a:pPr algn="l">
              <a:spcBef>
                <a:spcPts val="0"/>
              </a:spcBef>
              <a:spcAft>
                <a:spcPts val="200"/>
              </a:spcAft>
            </a:pPr>
            <a:r>
              <a:rPr sz="1500" b="0" i="0">
                <a:solidFill>
                  <a:srgbClr val="27251E"/>
                </a:solidFill>
                <a:latin typeface="맑은 고딕"/>
                <a:ea typeface="맑은 고딕"/>
                <a:cs typeface="맑은 고딕"/>
              </a:rPr>
              <a:t>두 축을 </a:t>
            </a:r>
            <a:r>
              <a:rPr sz="1500" b="1" i="0">
                <a:solidFill>
                  <a:srgbClr val="0A4D9B"/>
                </a:solidFill>
                <a:latin typeface="맑은 고딕"/>
                <a:ea typeface="맑은 고딕"/>
                <a:cs typeface="맑은 고딕"/>
              </a:rPr>
              <a:t>직교</a:t>
            </a:r>
            <a:r>
              <a:rPr sz="1500" b="0" i="0">
                <a:solidFill>
                  <a:srgbClr val="27251E"/>
                </a:solidFill>
                <a:latin typeface="맑은 고딕"/>
                <a:ea typeface="맑은 고딕"/>
                <a:cs typeface="맑은 고딕"/>
              </a:rPr>
              <a:t>시켜 4지선다를 구성 — 어느 축에서 실패했는지가 답 하나로 분리 측정됨</a:t>
            </a:r>
          </a:p>
        </p:txBody>
      </p:sp>
      <p:graphicFrame>
        <p:nvGraphicFramePr>
          <p:cNvPr id="6" name="Table 5"/>
          <p:cNvGraphicFramePr>
            <a:graphicFrameLocks noGrp="1"/>
          </p:cNvGraphicFramePr>
          <p:nvPr/>
        </p:nvGraphicFramePr>
        <p:xfrm>
          <a:off x="585216" y="2103120"/>
          <a:ext cx="5138928" cy="1481328"/>
        </p:xfrm>
        <a:graphic>
          <a:graphicData uri="http://schemas.openxmlformats.org/drawingml/2006/table">
            <a:tbl>
              <a:tblPr firstRow="1" bandRow="1">
                <a:tableStyleId>{5C22544A-7EE6-4342-B048-85BDC9FD1C3A}</a:tableStyleId>
              </a:tblPr>
              <a:tblGrid>
                <a:gridCol w="1700784"/>
                <a:gridCol w="1719072"/>
                <a:gridCol w="1719072"/>
              </a:tblGrid>
              <a:tr h="493776">
                <a:tc>
                  <a:txBody>
                    <a:bodyPr/>
                    <a:lstStyle/>
                    <a:p>
                      <a:pPr algn="ctr"/>
                    </a:p>
                  </a:txBody>
                  <a:tcPr marL="54864" marR="54864" marT="18288" marB="18288" anchor="ctr">
                    <a:solidFill>
                      <a:srgbClr val="E9F1FA"/>
                    </a:solidFill>
                  </a:tcPr>
                </a:tc>
                <a:tc>
                  <a:txBody>
                    <a:bodyPr/>
                    <a:lstStyle/>
                    <a:p>
                      <a:pPr algn="ctr"/>
                      <a:r>
                        <a:rPr sz="1300" b="1" i="0">
                          <a:solidFill>
                            <a:srgbClr val="004094"/>
                          </a:solidFill>
                          <a:latin typeface="맑은 고딕"/>
                          <a:ea typeface="맑은 고딕"/>
                          <a:cs typeface="맑은 고딕"/>
                        </a:rPr>
                        <a:t>TPO 적합 garment</a:t>
                      </a:r>
                    </a:p>
                  </a:txBody>
                  <a:tcPr marL="54864" marR="54864" marT="18288" marB="18288" anchor="ctr">
                    <a:solidFill>
                      <a:srgbClr val="E9F1FA"/>
                    </a:solidFill>
                  </a:tcPr>
                </a:tc>
                <a:tc>
                  <a:txBody>
                    <a:bodyPr/>
                    <a:lstStyle/>
                    <a:p>
                      <a:pPr algn="ctr"/>
                      <a:r>
                        <a:rPr sz="1300" b="1" i="0">
                          <a:solidFill>
                            <a:srgbClr val="004094"/>
                          </a:solidFill>
                          <a:latin typeface="맑은 고딕"/>
                          <a:ea typeface="맑은 고딕"/>
                          <a:cs typeface="맑은 고딕"/>
                        </a:rPr>
                        <a:t>TPO 부적합 garment</a:t>
                      </a:r>
                    </a:p>
                  </a:txBody>
                  <a:tcPr marL="54864" marR="54864" marT="18288" marB="18288" anchor="ctr">
                    <a:solidFill>
                      <a:srgbClr val="E9F1FA"/>
                    </a:solidFill>
                  </a:tcPr>
                </a:tc>
              </a:tr>
              <a:tr h="493776">
                <a:tc>
                  <a:txBody>
                    <a:bodyPr/>
                    <a:lstStyle/>
                    <a:p>
                      <a:pPr algn="ctr"/>
                      <a:r>
                        <a:rPr sz="1300" b="1" i="0">
                          <a:solidFill>
                            <a:srgbClr val="004094"/>
                          </a:solidFill>
                          <a:latin typeface="맑은 고딕"/>
                          <a:ea typeface="맑은 고딕"/>
                          <a:cs typeface="맑은 고딕"/>
                        </a:rPr>
                        <a:t>선호 값</a:t>
                      </a:r>
                    </a:p>
                  </a:txBody>
                  <a:tcPr marL="54864" marR="54864" marT="18288" marB="18288" anchor="ctr">
                    <a:solidFill>
                      <a:srgbClr val="E9F1FA"/>
                    </a:solidFill>
                  </a:tcPr>
                </a:tc>
                <a:tc>
                  <a:txBody>
                    <a:bodyPr/>
                    <a:lstStyle/>
                    <a:p>
                      <a:pPr algn="ctr"/>
                      <a:r>
                        <a:rPr sz="1700" b="1" i="0">
                          <a:solidFill>
                            <a:srgbClr val="7030A0"/>
                          </a:solidFill>
                          <a:latin typeface="맑은 고딕"/>
                          <a:ea typeface="맑은 고딕"/>
                          <a:cs typeface="맑은 고딕"/>
                        </a:rPr>
                        <a:t>A</a:t>
                      </a:r>
                      <a:r>
                        <a:rPr sz="1150" b="0" i="0">
                          <a:solidFill>
                            <a:srgbClr val="767171"/>
                          </a:solidFill>
                          <a:latin typeface="맑은 고딕"/>
                          <a:ea typeface="맑은 고딕"/>
                          <a:cs typeface="맑은 고딕"/>
                        </a:rPr>
                        <a:t>  정답</a:t>
                      </a:r>
                    </a:p>
                  </a:txBody>
                  <a:tcPr marL="54864" marR="54864" marT="18288" marB="18288" anchor="ctr">
                    <a:solidFill>
                      <a:srgbClr val="F3EEF8"/>
                    </a:solidFill>
                  </a:tcPr>
                </a:tc>
                <a:tc>
                  <a:txBody>
                    <a:bodyPr/>
                    <a:lstStyle/>
                    <a:p>
                      <a:pPr algn="ctr"/>
                      <a:r>
                        <a:rPr sz="1700" b="1" i="0">
                          <a:solidFill>
                            <a:srgbClr val="0A4D9B"/>
                          </a:solidFill>
                          <a:latin typeface="맑은 고딕"/>
                          <a:ea typeface="맑은 고딕"/>
                          <a:cs typeface="맑은 고딕"/>
                        </a:rPr>
                        <a:t>C</a:t>
                      </a:r>
                      <a:r>
                        <a:rPr sz="1150" b="0" i="0">
                          <a:solidFill>
                            <a:srgbClr val="767171"/>
                          </a:solidFill>
                          <a:latin typeface="맑은 고딕"/>
                          <a:ea typeface="맑은 고딕"/>
                          <a:cs typeface="맑은 고딕"/>
                        </a:rPr>
                        <a:t>  취향만</a:t>
                      </a:r>
                    </a:p>
                  </a:txBody>
                  <a:tcPr marL="54864" marR="54864" marT="18288" marB="18288" anchor="ctr">
                    <a:solidFill>
                      <a:srgbClr val="FFFFFF"/>
                    </a:solidFill>
                  </a:tcPr>
                </a:tc>
              </a:tr>
              <a:tr h="493776">
                <a:tc>
                  <a:txBody>
                    <a:bodyPr/>
                    <a:lstStyle/>
                    <a:p>
                      <a:pPr algn="ctr"/>
                      <a:r>
                        <a:rPr sz="1300" b="1" i="0">
                          <a:solidFill>
                            <a:srgbClr val="004094"/>
                          </a:solidFill>
                          <a:latin typeface="맑은 고딕"/>
                          <a:ea typeface="맑은 고딕"/>
                          <a:cs typeface="맑은 고딕"/>
                        </a:rPr>
                        <a:t>비선호 값</a:t>
                      </a:r>
                    </a:p>
                  </a:txBody>
                  <a:tcPr marL="54864" marR="54864" marT="18288" marB="18288" anchor="ctr">
                    <a:solidFill>
                      <a:srgbClr val="E9F1FA"/>
                    </a:solidFill>
                  </a:tcPr>
                </a:tc>
                <a:tc>
                  <a:txBody>
                    <a:bodyPr/>
                    <a:lstStyle/>
                    <a:p>
                      <a:pPr algn="ctr"/>
                      <a:r>
                        <a:rPr sz="1700" b="1" i="0">
                          <a:solidFill>
                            <a:srgbClr val="C00000"/>
                          </a:solidFill>
                          <a:latin typeface="맑은 고딕"/>
                          <a:ea typeface="맑은 고딕"/>
                          <a:cs typeface="맑은 고딕"/>
                        </a:rPr>
                        <a:t>B</a:t>
                      </a:r>
                      <a:r>
                        <a:rPr sz="1150" b="0" i="0">
                          <a:solidFill>
                            <a:srgbClr val="767171"/>
                          </a:solidFill>
                          <a:latin typeface="맑은 고딕"/>
                          <a:ea typeface="맑은 고딕"/>
                          <a:cs typeface="맑은 고딕"/>
                        </a:rPr>
                        <a:t>  상황만</a:t>
                      </a:r>
                    </a:p>
                  </a:txBody>
                  <a:tcPr marL="54864" marR="54864" marT="18288" marB="18288" anchor="ctr">
                    <a:solidFill>
                      <a:srgbClr val="FFFFFF"/>
                    </a:solidFill>
                  </a:tcPr>
                </a:tc>
                <a:tc>
                  <a:txBody>
                    <a:bodyPr/>
                    <a:lstStyle/>
                    <a:p>
                      <a:pPr algn="ctr"/>
                      <a:r>
                        <a:rPr sz="1700" b="1" i="0">
                          <a:solidFill>
                            <a:srgbClr val="767171"/>
                          </a:solidFill>
                          <a:latin typeface="맑은 고딕"/>
                          <a:ea typeface="맑은 고딕"/>
                          <a:cs typeface="맑은 고딕"/>
                        </a:rPr>
                        <a:t>D</a:t>
                      </a:r>
                      <a:r>
                        <a:rPr sz="1150" b="0" i="0">
                          <a:solidFill>
                            <a:srgbClr val="767171"/>
                          </a:solidFill>
                          <a:latin typeface="맑은 고딕"/>
                          <a:ea typeface="맑은 고딕"/>
                          <a:cs typeface="맑은 고딕"/>
                        </a:rPr>
                        <a:t>  둘 다 위반</a:t>
                      </a:r>
                    </a:p>
                  </a:txBody>
                  <a:tcPr marL="54864" marR="54864" marT="18288" marB="18288" anchor="ctr">
                    <a:solidFill>
                      <a:srgbClr val="FFFFFF"/>
                    </a:solidFill>
                  </a:tcPr>
                </a:tc>
              </a:tr>
            </a:tbl>
          </a:graphicData>
        </a:graphic>
      </p:graphicFrame>
      <p:sp>
        <p:nvSpPr>
          <p:cNvPr id="7" name="Rounded Rectangle 6"/>
          <p:cNvSpPr/>
          <p:nvPr/>
        </p:nvSpPr>
        <p:spPr>
          <a:xfrm>
            <a:off x="5907024" y="2103120"/>
            <a:ext cx="3410712" cy="1481328"/>
          </a:xfrm>
          <a:prstGeom prst="roundRect">
            <a:avLst>
              <a:gd name="adj" fmla="val 10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8" name="TextBox 7"/>
          <p:cNvSpPr txBox="1"/>
          <p:nvPr/>
        </p:nvSpPr>
        <p:spPr>
          <a:xfrm>
            <a:off x="6071616" y="2212848"/>
            <a:ext cx="3108960" cy="1280160"/>
          </a:xfrm>
          <a:prstGeom prst="rect">
            <a:avLst/>
          </a:prstGeom>
          <a:noFill/>
        </p:spPr>
        <p:txBody>
          <a:bodyPr wrap="square" lIns="0" rIns="0" tIns="0" bIns="0" anchor="t">
            <a:spAutoFit/>
          </a:bodyPr>
          <a:lstStyle/>
          <a:p>
            <a:pPr algn="l">
              <a:spcBef>
                <a:spcPts val="0"/>
              </a:spcBef>
              <a:spcAft>
                <a:spcPts val="200"/>
              </a:spcAft>
            </a:pPr>
            <a:r>
              <a:rPr sz="1400" b="1" i="0">
                <a:solidFill>
                  <a:srgbClr val="004094"/>
                </a:solidFill>
                <a:latin typeface="맑은 고딕"/>
                <a:ea typeface="맑은 고딕"/>
                <a:cs typeface="맑은 고딕"/>
              </a:rPr>
              <a:t>3-way scoring</a:t>
            </a:r>
          </a:p>
          <a:p>
            <a:pPr algn="l">
              <a:spcBef>
                <a:spcPts val="400"/>
              </a:spcBef>
              <a:spcAft>
                <a:spcPts val="200"/>
              </a:spcAft>
            </a:pPr>
            <a:r>
              <a:rPr sz="1250" b="1" i="0">
                <a:solidFill>
                  <a:srgbClr val="7030A0"/>
                </a:solidFill>
                <a:latin typeface="맑은 고딕"/>
                <a:ea typeface="맑은 고딕"/>
                <a:cs typeface="맑은 고딕"/>
              </a:rPr>
              <a:t>Strict </a:t>
            </a:r>
            <a:r>
              <a:rPr sz="1250" b="1" i="0">
                <a:solidFill>
                  <a:srgbClr val="27251E"/>
                </a:solidFill>
                <a:latin typeface="맑은 고딕"/>
                <a:ea typeface="맑은 고딕"/>
                <a:cs typeface="맑은 고딕"/>
              </a:rPr>
              <a:t>= A</a:t>
            </a:r>
            <a:r>
              <a:rPr sz="1250" b="0" i="0">
                <a:solidFill>
                  <a:srgbClr val="767171"/>
                </a:solidFill>
                <a:latin typeface="맑은 고딕"/>
                <a:ea typeface="맑은 고딕"/>
                <a:cs typeface="맑은 고딕"/>
              </a:rPr>
              <a:t>   두 축 모두 성공</a:t>
            </a:r>
          </a:p>
          <a:p>
            <a:pPr algn="l">
              <a:spcBef>
                <a:spcPts val="400"/>
              </a:spcBef>
              <a:spcAft>
                <a:spcPts val="200"/>
              </a:spcAft>
            </a:pPr>
            <a:r>
              <a:rPr sz="1250" b="1" i="0">
                <a:solidFill>
                  <a:srgbClr val="2E75B6"/>
                </a:solidFill>
                <a:latin typeface="맑은 고딕"/>
                <a:ea typeface="맑은 고딕"/>
                <a:cs typeface="맑은 고딕"/>
              </a:rPr>
              <a:t>TPO </a:t>
            </a:r>
            <a:r>
              <a:rPr sz="1250" b="1" i="0">
                <a:solidFill>
                  <a:srgbClr val="27251E"/>
                </a:solidFill>
                <a:latin typeface="맑은 고딕"/>
                <a:ea typeface="맑은 고딕"/>
                <a:cs typeface="맑은 고딕"/>
              </a:rPr>
              <a:t>= A or B</a:t>
            </a:r>
            <a:r>
              <a:rPr sz="1250" b="0" i="0">
                <a:solidFill>
                  <a:srgbClr val="767171"/>
                </a:solidFill>
                <a:latin typeface="맑은 고딕"/>
                <a:ea typeface="맑은 고딕"/>
                <a:cs typeface="맑은 고딕"/>
              </a:rPr>
              <a:t>   상황 축만 채점</a:t>
            </a:r>
          </a:p>
          <a:p>
            <a:pPr algn="l">
              <a:spcBef>
                <a:spcPts val="400"/>
              </a:spcBef>
              <a:spcAft>
                <a:spcPts val="200"/>
              </a:spcAft>
            </a:pPr>
            <a:r>
              <a:rPr sz="1250" b="1" i="0">
                <a:solidFill>
                  <a:srgbClr val="9DC3E6"/>
                </a:solidFill>
                <a:latin typeface="맑은 고딕"/>
                <a:ea typeface="맑은 고딕"/>
                <a:cs typeface="맑은 고딕"/>
              </a:rPr>
              <a:t>Preference </a:t>
            </a:r>
            <a:r>
              <a:rPr sz="1250" b="1" i="0">
                <a:solidFill>
                  <a:srgbClr val="27251E"/>
                </a:solidFill>
                <a:latin typeface="맑은 고딕"/>
                <a:ea typeface="맑은 고딕"/>
                <a:cs typeface="맑은 고딕"/>
              </a:rPr>
              <a:t>= A or C</a:t>
            </a:r>
            <a:r>
              <a:rPr sz="1250" b="0" i="0">
                <a:solidFill>
                  <a:srgbClr val="767171"/>
                </a:solidFill>
                <a:latin typeface="맑은 고딕"/>
                <a:ea typeface="맑은 고딕"/>
                <a:cs typeface="맑은 고딕"/>
              </a:rPr>
              <a:t>   취향 축만 채점</a:t>
            </a:r>
          </a:p>
          <a:p>
            <a:pPr algn="l">
              <a:spcBef>
                <a:spcPts val="600"/>
              </a:spcBef>
              <a:spcAft>
                <a:spcPts val="200"/>
              </a:spcAft>
            </a:pPr>
            <a:r>
              <a:rPr sz="1200" b="0" i="0">
                <a:solidFill>
                  <a:srgbClr val="27251E"/>
                </a:solidFill>
                <a:latin typeface="맑은 고딕"/>
                <a:ea typeface="맑은 고딕"/>
                <a:cs typeface="맑은 고딕"/>
              </a:rPr>
              <a:t>→ 하나의 답에서 두 능력을 분해</a:t>
            </a:r>
          </a:p>
        </p:txBody>
      </p:sp>
      <p:sp>
        <p:nvSpPr>
          <p:cNvPr id="9" name="TextBox 8"/>
          <p:cNvSpPr txBox="1"/>
          <p:nvPr/>
        </p:nvSpPr>
        <p:spPr>
          <a:xfrm>
            <a:off x="585216" y="3803904"/>
            <a:ext cx="8732520" cy="3657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설계에서 통제한 교란 요인</a:t>
            </a:r>
          </a:p>
        </p:txBody>
      </p:sp>
      <p:sp>
        <p:nvSpPr>
          <p:cNvPr id="10" name="Rounded Rectangle 9"/>
          <p:cNvSpPr/>
          <p:nvPr/>
        </p:nvSpPr>
        <p:spPr>
          <a:xfrm>
            <a:off x="585216" y="4224528"/>
            <a:ext cx="2825496" cy="1115568"/>
          </a:xfrm>
          <a:prstGeom prst="roundRect">
            <a:avLst>
              <a:gd name="adj" fmla="val 10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300" b="1" i="0">
                <a:solidFill>
                  <a:srgbClr val="0A4D9B"/>
                </a:solidFill>
                <a:latin typeface="맑은 고딕"/>
                <a:ea typeface="맑은 고딕"/>
                <a:cs typeface="맑은 고딕"/>
              </a:rPr>
              <a:t>Counterbalance</a:t>
            </a:r>
          </a:p>
          <a:p>
            <a:pPr algn="ctr">
              <a:lnSpc>
                <a:spcPct val="118000"/>
              </a:lnSpc>
              <a:spcBef>
                <a:spcPts val="0"/>
              </a:spcBef>
              <a:spcAft>
                <a:spcPts val="200"/>
              </a:spcAft>
            </a:pPr>
            <a:r>
              <a:rPr sz="1100" b="0" i="0">
                <a:solidFill>
                  <a:srgbClr val="27251E"/>
                </a:solidFill>
                <a:latin typeface="맑은 고딕"/>
                <a:ea typeface="맑은 고딕"/>
                <a:cs typeface="맑은 고딕"/>
              </a:rPr>
              <a:t>모든 값이 A(선호)·B(비선호)에 균등 배치 →
선호 무관 추측 정확도 0.50 (1,964 plans)</a:t>
            </a:r>
          </a:p>
        </p:txBody>
      </p:sp>
      <p:sp>
        <p:nvSpPr>
          <p:cNvPr id="11" name="Rounded Rectangle 10"/>
          <p:cNvSpPr/>
          <p:nvPr/>
        </p:nvSpPr>
        <p:spPr>
          <a:xfrm>
            <a:off x="3538728" y="4224528"/>
            <a:ext cx="2825496" cy="1115568"/>
          </a:xfrm>
          <a:prstGeom prst="roundRect">
            <a:avLst>
              <a:gd name="adj" fmla="val 10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300" b="1" i="0">
                <a:solidFill>
                  <a:srgbClr val="0A4D9B"/>
                </a:solidFill>
                <a:latin typeface="맑은 고딕"/>
                <a:ea typeface="맑은 고딕"/>
                <a:cs typeface="맑은 고딕"/>
              </a:rPr>
              <a:t>Confusability</a:t>
            </a:r>
          </a:p>
          <a:p>
            <a:pPr algn="ctr">
              <a:lnSpc>
                <a:spcPct val="118000"/>
              </a:lnSpc>
              <a:spcBef>
                <a:spcPts val="0"/>
              </a:spcBef>
              <a:spcAft>
                <a:spcPts val="200"/>
              </a:spcAft>
            </a:pPr>
            <a:r>
              <a:rPr sz="1100" b="0" i="0">
                <a:solidFill>
                  <a:srgbClr val="27251E"/>
                </a:solidFill>
                <a:latin typeface="맑은 고딕"/>
                <a:ea typeface="맑은 고딕"/>
                <a:cs typeface="맑은 고딕"/>
              </a:rPr>
              <a:t>시각적으로 혼동되는 쌍(black↔navy, jeans↔slacks)에
큰 페널티 — 혼동쌍 비율 45% → 19%</a:t>
            </a:r>
          </a:p>
        </p:txBody>
      </p:sp>
      <p:sp>
        <p:nvSpPr>
          <p:cNvPr id="12" name="Rounded Rectangle 11"/>
          <p:cNvSpPr/>
          <p:nvPr/>
        </p:nvSpPr>
        <p:spPr>
          <a:xfrm>
            <a:off x="6492240" y="4224528"/>
            <a:ext cx="2825496" cy="1115568"/>
          </a:xfrm>
          <a:prstGeom prst="roundRect">
            <a:avLst>
              <a:gd name="adj" fmla="val 10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300" b="1" i="0">
                <a:solidFill>
                  <a:srgbClr val="0A4D9B"/>
                </a:solidFill>
                <a:latin typeface="맑은 고딕"/>
                <a:ea typeface="맑은 고딕"/>
                <a:cs typeface="맑은 고딕"/>
              </a:rPr>
              <a:t>Background axis</a:t>
            </a:r>
          </a:p>
          <a:p>
            <a:pPr algn="ctr">
              <a:lnSpc>
                <a:spcPct val="118000"/>
              </a:lnSpc>
              <a:spcBef>
                <a:spcPts val="0"/>
              </a:spcBef>
              <a:spcAft>
                <a:spcPts val="200"/>
              </a:spcAft>
            </a:pPr>
            <a:r>
              <a:rPr sz="1100" b="0" i="0">
                <a:solidFill>
                  <a:srgbClr val="27251E"/>
                </a:solidFill>
                <a:latin typeface="맑은 고딕"/>
                <a:ea typeface="맑은 고딕"/>
                <a:cs typeface="맑은 고딕"/>
              </a:rPr>
              <a:t>제3의 축은 A/B/C/D에서 동일하게 고정 →
정답 식별의 단서가 될 수 없음</a:t>
            </a:r>
          </a:p>
        </p:txBody>
      </p:sp>
      <p:sp>
        <p:nvSpPr>
          <p:cNvPr id="13" name="TextBox 12"/>
          <p:cNvSpPr txBox="1"/>
          <p:nvPr/>
        </p:nvSpPr>
        <p:spPr>
          <a:xfrm>
            <a:off x="585216" y="5468112"/>
            <a:ext cx="8732520" cy="822960"/>
          </a:xfrm>
          <a:prstGeom prst="rect">
            <a:avLst/>
          </a:prstGeom>
          <a:noFill/>
        </p:spPr>
        <p:txBody>
          <a:bodyPr wrap="square" lIns="0" rIns="0" tIns="0" bIns="0" anchor="t">
            <a:spAutoFit/>
          </a:bodyPr>
          <a:lstStyle/>
          <a:p>
            <a:pPr algn="l">
              <a:lnSpc>
                <a:spcPct val="125000"/>
              </a:lnSpc>
              <a:spcBef>
                <a:spcPts val="0"/>
              </a:spcBef>
              <a:spcAft>
                <a:spcPts val="200"/>
              </a:spcAft>
            </a:pPr>
            <a:r>
              <a:rPr sz="1300" b="1" i="0">
                <a:solidFill>
                  <a:srgbClr val="004094"/>
                </a:solidFill>
                <a:latin typeface="맑은 고딕"/>
                <a:ea typeface="맑은 고딕"/>
                <a:cs typeface="맑은 고딕"/>
              </a:rPr>
              <a:t>Track 분리  </a:t>
            </a:r>
            <a:r>
              <a:rPr sz="1300" b="0" i="0">
                <a:solidFill>
                  <a:srgbClr val="27251E"/>
                </a:solidFill>
                <a:latin typeface="맑은 고딕"/>
                <a:ea typeface="맑은 고딕"/>
                <a:cs typeface="맑은 고딕"/>
              </a:rPr>
              <a:t>물리적 부적합(Physical, 24개)과 사회적 복장 규범(Dress-code, 35개)은 </a:t>
            </a:r>
            <a:r>
              <a:rPr sz="1300" b="1" i="0">
                <a:solidFill>
                  <a:srgbClr val="27251E"/>
                </a:solidFill>
                <a:latin typeface="맑은 고딕"/>
                <a:ea typeface="맑은 고딕"/>
                <a:cs typeface="맑은 고딕"/>
              </a:rPr>
              <a:t>근거의 종류가 다르므로</a:t>
            </a:r>
            <a:r>
              <a:rPr sz="1300" b="0" i="0">
                <a:solidFill>
                  <a:srgbClr val="27251E"/>
                </a:solidFill>
                <a:latin typeface="맑은 고딕"/>
                <a:ea typeface="맑은 고딕"/>
                <a:cs typeface="맑은 고딕"/>
              </a:rPr>
              <a:t> 별도 데이터셋으로 구성·채점하고 절대 합산하지 않음</a:t>
            </a:r>
          </a:p>
          <a:p>
            <a:pPr algn="l">
              <a:lnSpc>
                <a:spcPct val="120000"/>
              </a:lnSpc>
              <a:spcBef>
                <a:spcPts val="300"/>
              </a:spcBef>
              <a:spcAft>
                <a:spcPts val="200"/>
              </a:spcAft>
            </a:pPr>
            <a:r>
              <a:rPr sz="1150" b="1" i="0">
                <a:solidFill>
                  <a:srgbClr val="2E75B6"/>
                </a:solidFill>
                <a:latin typeface="맑은 고딕"/>
                <a:ea typeface="맑은 고딕"/>
                <a:cs typeface="맑은 고딕"/>
              </a:rPr>
              <a:t>Physical</a:t>
            </a:r>
            <a:r>
              <a:rPr sz="1150" b="0" i="0">
                <a:solidFill>
                  <a:srgbClr val="767171"/>
                </a:solidFill>
                <a:latin typeface="맑은 고딕"/>
                <a:ea typeface="맑은 고딕"/>
                <a:cs typeface="맑은 고딕"/>
              </a:rPr>
              <a:t>은 물리적 위험·기능적 불가능에, </a:t>
            </a:r>
            <a:r>
              <a:rPr sz="1150" b="1" i="0">
                <a:solidFill>
                  <a:srgbClr val="2E75B6"/>
                </a:solidFill>
                <a:latin typeface="맑은 고딕"/>
                <a:ea typeface="맑은 고딕"/>
                <a:cs typeface="맑은 고딕"/>
              </a:rPr>
              <a:t>Dress-code</a:t>
            </a:r>
            <a:r>
              <a:rPr sz="1150" b="0" i="0">
                <a:solidFill>
                  <a:srgbClr val="767171"/>
                </a:solidFill>
                <a:latin typeface="맑은 고딕"/>
                <a:ea typeface="맑은 고딕"/>
                <a:cs typeface="맑은 고딕"/>
              </a:rPr>
              <a:t>는 사회적 관습에 근거 — 후자는 평가 프롬프트에서 문화권을 명시적으로 한정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6</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Method ②  전체 파이프라인</a:t>
            </a:r>
            <a:r>
              <a:rPr sz="1400" b="0" i="0">
                <a:solidFill>
                  <a:srgbClr val="767171"/>
                </a:solidFill>
                <a:latin typeface="맑은 고딕"/>
                <a:ea typeface="맑은 고딕"/>
                <a:cs typeface="맑은 고딕"/>
              </a:rPr>
              <a:t>   구성 → 수집 → 평가</a:t>
            </a:r>
          </a:p>
        </p:txBody>
      </p:sp>
      <p:sp>
        <p:nvSpPr>
          <p:cNvPr id="5" name="TextBox 4"/>
          <p:cNvSpPr txBox="1"/>
          <p:nvPr/>
        </p:nvSpPr>
        <p:spPr>
          <a:xfrm>
            <a:off x="585216" y="1609344"/>
            <a:ext cx="8732520" cy="329184"/>
          </a:xfrm>
          <a:prstGeom prst="rect">
            <a:avLst/>
          </a:prstGeom>
          <a:noFill/>
        </p:spPr>
        <p:txBody>
          <a:bodyPr wrap="square" lIns="0" rIns="0" tIns="0" bIns="0" anchor="t">
            <a:spAutoFit/>
          </a:bodyPr>
          <a:lstStyle/>
          <a:p>
            <a:pPr algn="l">
              <a:spcBef>
                <a:spcPts val="0"/>
              </a:spcBef>
              <a:spcAft>
                <a:spcPts val="200"/>
              </a:spcAft>
            </a:pPr>
            <a:r>
              <a:rPr sz="1400" b="0" i="0">
                <a:solidFill>
                  <a:srgbClr val="27251E"/>
                </a:solidFill>
                <a:latin typeface="맑은 고딕"/>
                <a:ea typeface="맑은 고딕"/>
                <a:cs typeface="맑은 고딕"/>
              </a:rPr>
              <a:t>Stage 1–3은 </a:t>
            </a:r>
            <a:r>
              <a:rPr sz="1400" b="1" i="0">
                <a:solidFill>
                  <a:srgbClr val="0A4D9B"/>
                </a:solidFill>
                <a:latin typeface="맑은 고딕"/>
                <a:ea typeface="맑은 고딕"/>
                <a:cs typeface="맑은 고딕"/>
              </a:rPr>
              <a:t>LLM을 전혀 쓰지 않는 결정론적 생성</a:t>
            </a:r>
            <a:r>
              <a:rPr sz="1400" b="0" i="0">
                <a:solidFill>
                  <a:srgbClr val="27251E"/>
                </a:solidFill>
                <a:latin typeface="맑은 고딕"/>
                <a:ea typeface="맑은 고딕"/>
                <a:cs typeface="맑은 고딕"/>
              </a:rPr>
              <a:t> — seed 42로 SHA256까지 bit-identical 재현</a:t>
            </a:r>
          </a:p>
        </p:txBody>
      </p:sp>
      <p:sp>
        <p:nvSpPr>
          <p:cNvPr id="6" name="Rounded Rectangle 5"/>
          <p:cNvSpPr/>
          <p:nvPr/>
        </p:nvSpPr>
        <p:spPr>
          <a:xfrm>
            <a:off x="585216" y="2048256"/>
            <a:ext cx="8732520" cy="1298448"/>
          </a:xfrm>
          <a:prstGeom prst="roundRect">
            <a:avLst>
              <a:gd name="adj" fmla="val 6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7" name="TextBox 6"/>
          <p:cNvSpPr txBox="1"/>
          <p:nvPr/>
        </p:nvSpPr>
        <p:spPr>
          <a:xfrm>
            <a:off x="713232" y="2121408"/>
            <a:ext cx="3657600" cy="256032"/>
          </a:xfrm>
          <a:prstGeom prst="rect">
            <a:avLst/>
          </a:prstGeom>
          <a:noFill/>
        </p:spPr>
        <p:txBody>
          <a:bodyPr wrap="square" lIns="0" rIns="0" tIns="0" bIns="0" anchor="t">
            <a:spAutoFit/>
          </a:bodyPr>
          <a:lstStyle/>
          <a:p>
            <a:pPr algn="l">
              <a:spcBef>
                <a:spcPts val="0"/>
              </a:spcBef>
              <a:spcAft>
                <a:spcPts val="200"/>
              </a:spcAft>
            </a:pPr>
            <a:r>
              <a:rPr sz="1250" b="1" i="0">
                <a:solidFill>
                  <a:srgbClr val="004094"/>
                </a:solidFill>
                <a:latin typeface="맑은 고딕"/>
                <a:ea typeface="맑은 고딕"/>
                <a:cs typeface="맑은 고딕"/>
              </a:rPr>
              <a:t>Stage 1–3   결정론적 구성 (no LLM)</a:t>
            </a:r>
          </a:p>
        </p:txBody>
      </p:sp>
      <p:sp>
        <p:nvSpPr>
          <p:cNvPr id="8" name="Rounded Rectangle 7"/>
          <p:cNvSpPr/>
          <p:nvPr/>
        </p:nvSpPr>
        <p:spPr>
          <a:xfrm>
            <a:off x="731520" y="2432304"/>
            <a:ext cx="2688336" cy="786384"/>
          </a:xfrm>
          <a:prstGeom prst="roundRect">
            <a:avLst>
              <a:gd name="adj" fmla="val 10000"/>
            </a:avLst>
          </a:prstGeom>
          <a:solidFill>
            <a:srgbClr val="FFFFFF"/>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300" b="1" i="0">
                <a:solidFill>
                  <a:srgbClr val="004094"/>
                </a:solidFill>
                <a:latin typeface="맑은 고딕"/>
                <a:ea typeface="맑은 고딕"/>
                <a:cs typeface="맑은 고딕"/>
              </a:rPr>
              <a:t>1  Profile</a:t>
            </a:r>
          </a:p>
          <a:p>
            <a:pPr algn="ctr">
              <a:lnSpc>
                <a:spcPct val="115000"/>
              </a:lnSpc>
              <a:spcBef>
                <a:spcPts val="0"/>
              </a:spcBef>
              <a:spcAft>
                <a:spcPts val="200"/>
              </a:spcAft>
            </a:pPr>
            <a:r>
              <a:rPr sz="1050" b="0" i="0">
                <a:solidFill>
                  <a:srgbClr val="27251E"/>
                </a:solidFill>
                <a:latin typeface="맑은 고딕"/>
                <a:ea typeface="맑은 고딕"/>
                <a:cs typeface="맑은 고딕"/>
              </a:rPr>
              <a:t>24명 · 축별 quota
color 3+3 / pattern 2+2 / garment 4+4</a:t>
            </a:r>
          </a:p>
        </p:txBody>
      </p:sp>
      <p:sp>
        <p:nvSpPr>
          <p:cNvPr id="9" name="Rounded Rectangle 8"/>
          <p:cNvSpPr/>
          <p:nvPr/>
        </p:nvSpPr>
        <p:spPr>
          <a:xfrm>
            <a:off x="3566160" y="2432304"/>
            <a:ext cx="2688336" cy="786384"/>
          </a:xfrm>
          <a:prstGeom prst="roundRect">
            <a:avLst>
              <a:gd name="adj" fmla="val 10000"/>
            </a:avLst>
          </a:prstGeom>
          <a:solidFill>
            <a:srgbClr val="FFFFFF"/>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300" b="1" i="0">
                <a:solidFill>
                  <a:srgbClr val="004094"/>
                </a:solidFill>
                <a:latin typeface="맑은 고딕"/>
                <a:ea typeface="맑은 고딕"/>
                <a:cs typeface="맑은 고딕"/>
              </a:rPr>
              <a:t>2  Query</a:t>
            </a:r>
          </a:p>
          <a:p>
            <a:pPr algn="ctr">
              <a:lnSpc>
                <a:spcPct val="115000"/>
              </a:lnSpc>
              <a:spcBef>
                <a:spcPts val="0"/>
              </a:spcBef>
              <a:spcAft>
                <a:spcPts val="200"/>
              </a:spcAft>
            </a:pPr>
            <a:r>
              <a:rPr sz="1050" b="0" i="0">
                <a:solidFill>
                  <a:srgbClr val="27251E"/>
                </a:solidFill>
                <a:latin typeface="맑은 고딕"/>
                <a:ea typeface="맑은 고딕"/>
                <a:cs typeface="맑은 고딕"/>
              </a:rPr>
              <a:t>user × scenario 적합성 검사
2,561 queries</a:t>
            </a:r>
          </a:p>
        </p:txBody>
      </p:sp>
      <p:sp>
        <p:nvSpPr>
          <p:cNvPr id="10" name="Rounded Rectangle 9"/>
          <p:cNvSpPr/>
          <p:nvPr/>
        </p:nvSpPr>
        <p:spPr>
          <a:xfrm>
            <a:off x="6400800" y="2432304"/>
            <a:ext cx="2688336" cy="786384"/>
          </a:xfrm>
          <a:prstGeom prst="roundRect">
            <a:avLst>
              <a:gd name="adj" fmla="val 10000"/>
            </a:avLst>
          </a:prstGeom>
          <a:solidFill>
            <a:srgbClr val="FFFFFF"/>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300" b="1" i="0">
                <a:solidFill>
                  <a:srgbClr val="004094"/>
                </a:solidFill>
                <a:latin typeface="맑은 고딕"/>
                <a:ea typeface="맑은 고딕"/>
                <a:cs typeface="맑은 고딕"/>
              </a:rPr>
              <a:t>3  Option Plan</a:t>
            </a:r>
          </a:p>
          <a:p>
            <a:pPr algn="ctr">
              <a:lnSpc>
                <a:spcPct val="115000"/>
              </a:lnSpc>
              <a:spcBef>
                <a:spcPts val="0"/>
              </a:spcBef>
              <a:spcAft>
                <a:spcPts val="200"/>
              </a:spcAft>
            </a:pPr>
            <a:r>
              <a:rPr sz="1050" b="0" i="0">
                <a:solidFill>
                  <a:srgbClr val="27251E"/>
                </a:solidFill>
                <a:latin typeface="맑은 고딕"/>
                <a:ea typeface="맑은 고딕"/>
                <a:cs typeface="맑은 고딕"/>
              </a:rPr>
              <a:t>A/B/C/D 배치 + counterbalance
2,621 plans</a:t>
            </a:r>
          </a:p>
        </p:txBody>
      </p:sp>
      <p:sp>
        <p:nvSpPr>
          <p:cNvPr id="11" name="Right Arrow 10"/>
          <p:cNvSpPr/>
          <p:nvPr/>
        </p:nvSpPr>
        <p:spPr>
          <a:xfrm>
            <a:off x="3438144" y="2761488"/>
            <a:ext cx="118872" cy="146304"/>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6272784" y="2761488"/>
            <a:ext cx="118872" cy="146304"/>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3474720"/>
            <a:ext cx="3557016" cy="420624"/>
          </a:xfrm>
          <a:prstGeom prst="roundRect">
            <a:avLst>
              <a:gd name="adj" fmla="val 16000"/>
            </a:avLst>
          </a:prstGeom>
          <a:solidFill>
            <a:srgbClr val="FFF3F3"/>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14" name="TextBox 13"/>
          <p:cNvSpPr txBox="1"/>
          <p:nvPr/>
        </p:nvSpPr>
        <p:spPr>
          <a:xfrm>
            <a:off x="5870448" y="3566160"/>
            <a:ext cx="3383280" cy="256032"/>
          </a:xfrm>
          <a:prstGeom prst="rect">
            <a:avLst/>
          </a:prstGeom>
          <a:noFill/>
        </p:spPr>
        <p:txBody>
          <a:bodyPr wrap="square" lIns="0" rIns="0" tIns="0" bIns="0" anchor="t">
            <a:spAutoFit/>
          </a:bodyPr>
          <a:lstStyle/>
          <a:p>
            <a:pPr algn="l">
              <a:spcBef>
                <a:spcPts val="0"/>
              </a:spcBef>
              <a:spcAft>
                <a:spcPts val="200"/>
              </a:spcAft>
            </a:pPr>
            <a:r>
              <a:rPr sz="1100" b="1" i="0">
                <a:solidFill>
                  <a:srgbClr val="C00000"/>
                </a:solidFill>
                <a:latin typeface="맑은 고딕"/>
                <a:ea typeface="맑은 고딕"/>
                <a:cs typeface="맑은 고딕"/>
              </a:rPr>
              <a:t>attribute_library.json</a:t>
            </a:r>
            <a:r>
              <a:rPr sz="1100" b="0" i="0">
                <a:solidFill>
                  <a:srgbClr val="27251E"/>
                </a:solidFill>
                <a:latin typeface="맑은 고딕"/>
                <a:ea typeface="맑은 고딕"/>
                <a:cs typeface="맑은 고딕"/>
              </a:rPr>
              <a:t>  →  Stage 3 생성 입력</a:t>
            </a:r>
          </a:p>
        </p:txBody>
      </p:sp>
      <p:sp>
        <p:nvSpPr>
          <p:cNvPr id="15" name="Up Arrow 14"/>
          <p:cNvSpPr/>
          <p:nvPr/>
        </p:nvSpPr>
        <p:spPr>
          <a:xfrm>
            <a:off x="6675120" y="3273552"/>
            <a:ext cx="182880" cy="201168"/>
          </a:xfrm>
          <a:prstGeom prst="up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5216" y="4041648"/>
            <a:ext cx="8732520" cy="1481328"/>
          </a:xfrm>
          <a:prstGeom prst="roundRect">
            <a:avLst>
              <a:gd name="adj" fmla="val 6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17" name="TextBox 16"/>
          <p:cNvSpPr txBox="1"/>
          <p:nvPr/>
        </p:nvSpPr>
        <p:spPr>
          <a:xfrm>
            <a:off x="713232" y="4114800"/>
            <a:ext cx="4572000" cy="256032"/>
          </a:xfrm>
          <a:prstGeom prst="rect">
            <a:avLst/>
          </a:prstGeom>
          <a:noFill/>
        </p:spPr>
        <p:txBody>
          <a:bodyPr wrap="square" lIns="0" rIns="0" tIns="0" bIns="0" anchor="t">
            <a:spAutoFit/>
          </a:bodyPr>
          <a:lstStyle/>
          <a:p>
            <a:pPr algn="l">
              <a:spcBef>
                <a:spcPts val="0"/>
              </a:spcBef>
              <a:spcAft>
                <a:spcPts val="200"/>
              </a:spcAft>
            </a:pPr>
            <a:r>
              <a:rPr sz="1250" b="1" i="0">
                <a:solidFill>
                  <a:srgbClr val="004094"/>
                </a:solidFill>
                <a:latin typeface="맑은 고딕"/>
                <a:ea typeface="맑은 고딕"/>
                <a:cs typeface="맑은 고딕"/>
              </a:rPr>
              <a:t>Stage 4–7   이미지 수집 · 검증 · 평가</a:t>
            </a:r>
          </a:p>
        </p:txBody>
      </p:sp>
      <p:sp>
        <p:nvSpPr>
          <p:cNvPr id="18" name="Rounded Rectangle 17"/>
          <p:cNvSpPr/>
          <p:nvPr/>
        </p:nvSpPr>
        <p:spPr>
          <a:xfrm>
            <a:off x="731520" y="4443984"/>
            <a:ext cx="1975104" cy="932688"/>
          </a:xfrm>
          <a:prstGeom prst="roundRect">
            <a:avLst>
              <a:gd name="adj" fmla="val 10000"/>
            </a:avLst>
          </a:prstGeom>
          <a:solidFill>
            <a:srgbClr val="FFFFFF"/>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5000"/>
              </a:lnSpc>
              <a:spcBef>
                <a:spcPts val="0"/>
              </a:spcBef>
              <a:spcAft>
                <a:spcPts val="200"/>
              </a:spcAft>
            </a:pPr>
            <a:r>
              <a:rPr sz="1250" b="1" i="0">
                <a:solidFill>
                  <a:srgbClr val="2E75B6"/>
                </a:solidFill>
                <a:latin typeface="맑은 고딕"/>
                <a:ea typeface="맑은 고딕"/>
                <a:cs typeface="맑은 고딕"/>
              </a:rPr>
              <a:t>4  Image
Collection</a:t>
            </a:r>
          </a:p>
          <a:p>
            <a:pPr algn="ctr">
              <a:lnSpc>
                <a:spcPct val="112000"/>
              </a:lnSpc>
              <a:spcBef>
                <a:spcPts val="0"/>
              </a:spcBef>
              <a:spcAft>
                <a:spcPts val="200"/>
              </a:spcAft>
            </a:pPr>
            <a:r>
              <a:rPr sz="1000" b="0" i="0">
                <a:solidFill>
                  <a:srgbClr val="27251E"/>
                </a:solidFill>
                <a:latin typeface="맑은 고딕"/>
                <a:ea typeface="맑은 고딕"/>
                <a:cs typeface="맑은 고딕"/>
              </a:rPr>
              <a:t>FashionSigLIP 651k
+ SAM3 + human 검수</a:t>
            </a:r>
          </a:p>
        </p:txBody>
      </p:sp>
      <p:sp>
        <p:nvSpPr>
          <p:cNvPr id="19" name="Rounded Rectangle 18"/>
          <p:cNvSpPr/>
          <p:nvPr/>
        </p:nvSpPr>
        <p:spPr>
          <a:xfrm>
            <a:off x="2852928" y="4443984"/>
            <a:ext cx="1975104" cy="932688"/>
          </a:xfrm>
          <a:prstGeom prst="roundRect">
            <a:avLst>
              <a:gd name="adj" fmla="val 10000"/>
            </a:avLst>
          </a:prstGeom>
          <a:solidFill>
            <a:srgbClr val="FFFFFF"/>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5000"/>
              </a:lnSpc>
              <a:spcBef>
                <a:spcPts val="0"/>
              </a:spcBef>
              <a:spcAft>
                <a:spcPts val="200"/>
              </a:spcAft>
            </a:pPr>
            <a:r>
              <a:rPr sz="1250" b="1" i="0">
                <a:solidFill>
                  <a:srgbClr val="2E75B6"/>
                </a:solidFill>
                <a:latin typeface="맑은 고딕"/>
                <a:ea typeface="맑은 고딕"/>
                <a:cs typeface="맑은 고딕"/>
              </a:rPr>
              <a:t>5  Label
Verification</a:t>
            </a:r>
          </a:p>
          <a:p>
            <a:pPr algn="ctr">
              <a:lnSpc>
                <a:spcPct val="112000"/>
              </a:lnSpc>
              <a:spcBef>
                <a:spcPts val="0"/>
              </a:spcBef>
              <a:spcAft>
                <a:spcPts val="200"/>
              </a:spcAft>
            </a:pPr>
            <a:r>
              <a:rPr sz="1000" b="0" i="0">
                <a:solidFill>
                  <a:srgbClr val="27251E"/>
                </a:solidFill>
                <a:latin typeface="맑은 고딕"/>
                <a:ea typeface="맑은 고딕"/>
                <a:cs typeface="맑은 고딕"/>
              </a:rPr>
              <a:t>규칙 기반 검증 +
multi-judge LLM</a:t>
            </a:r>
          </a:p>
        </p:txBody>
      </p:sp>
      <p:sp>
        <p:nvSpPr>
          <p:cNvPr id="20" name="Rounded Rectangle 19"/>
          <p:cNvSpPr/>
          <p:nvPr/>
        </p:nvSpPr>
        <p:spPr>
          <a:xfrm>
            <a:off x="4974336" y="4443984"/>
            <a:ext cx="1975104" cy="932688"/>
          </a:xfrm>
          <a:prstGeom prst="roundRect">
            <a:avLst>
              <a:gd name="adj" fmla="val 10000"/>
            </a:avLst>
          </a:prstGeom>
          <a:solidFill>
            <a:srgbClr val="FFFFFF"/>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5000"/>
              </a:lnSpc>
              <a:spcBef>
                <a:spcPts val="0"/>
              </a:spcBef>
              <a:spcAft>
                <a:spcPts val="200"/>
              </a:spcAft>
            </a:pPr>
            <a:r>
              <a:rPr sz="1250" b="1" i="0">
                <a:solidFill>
                  <a:srgbClr val="2E75B6"/>
                </a:solidFill>
                <a:latin typeface="맑은 고딕"/>
                <a:ea typeface="맑은 고딕"/>
                <a:cs typeface="맑은 고딕"/>
              </a:rPr>
              <a:t>6  Quality
Audit</a:t>
            </a:r>
          </a:p>
          <a:p>
            <a:pPr algn="ctr">
              <a:lnSpc>
                <a:spcPct val="112000"/>
              </a:lnSpc>
              <a:spcBef>
                <a:spcPts val="0"/>
              </a:spcBef>
              <a:spcAft>
                <a:spcPts val="200"/>
              </a:spcAft>
            </a:pPr>
            <a:r>
              <a:rPr sz="1000" b="0" i="0">
                <a:solidFill>
                  <a:srgbClr val="27251E"/>
                </a:solidFill>
                <a:latin typeface="맑은 고딕"/>
                <a:ea typeface="맑은 고딕"/>
                <a:cs typeface="맑은 고딕"/>
              </a:rPr>
              <a:t>조립 검사 +
vision-essentiality</a:t>
            </a:r>
          </a:p>
        </p:txBody>
      </p:sp>
      <p:sp>
        <p:nvSpPr>
          <p:cNvPr id="21" name="Rounded Rectangle 20"/>
          <p:cNvSpPr/>
          <p:nvPr/>
        </p:nvSpPr>
        <p:spPr>
          <a:xfrm>
            <a:off x="7095744" y="4443984"/>
            <a:ext cx="1975104" cy="932688"/>
          </a:xfrm>
          <a:prstGeom prst="roundRect">
            <a:avLst>
              <a:gd name="adj" fmla="val 10000"/>
            </a:avLst>
          </a:prstGeom>
          <a:solidFill>
            <a:srgbClr val="FFFFFF"/>
          </a:solidFill>
          <a:ln w="12700">
            <a:solidFill>
              <a:srgbClr val="004094"/>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5000"/>
              </a:lnSpc>
              <a:spcBef>
                <a:spcPts val="0"/>
              </a:spcBef>
              <a:spcAft>
                <a:spcPts val="200"/>
              </a:spcAft>
            </a:pPr>
            <a:r>
              <a:rPr sz="1250" b="1" i="0">
                <a:solidFill>
                  <a:srgbClr val="004094"/>
                </a:solidFill>
                <a:latin typeface="맑은 고딕"/>
                <a:ea typeface="맑은 고딕"/>
                <a:cs typeface="맑은 고딕"/>
              </a:rPr>
              <a:t>7  Evaluation</a:t>
            </a:r>
          </a:p>
          <a:p>
            <a:pPr algn="ctr">
              <a:lnSpc>
                <a:spcPct val="112000"/>
              </a:lnSpc>
              <a:spcBef>
                <a:spcPts val="0"/>
              </a:spcBef>
              <a:spcAft>
                <a:spcPts val="200"/>
              </a:spcAft>
            </a:pPr>
            <a:r>
              <a:rPr sz="1000" b="0" i="0">
                <a:solidFill>
                  <a:srgbClr val="27251E"/>
                </a:solidFill>
                <a:latin typeface="맑은 고딕"/>
                <a:ea typeface="맑은 고딕"/>
                <a:cs typeface="맑은 고딕"/>
              </a:rPr>
              <a:t>multimodal / text-only
5 input formats</a:t>
            </a:r>
          </a:p>
        </p:txBody>
      </p:sp>
      <p:sp>
        <p:nvSpPr>
          <p:cNvPr id="22" name="Right Arrow 21"/>
          <p:cNvSpPr/>
          <p:nvPr/>
        </p:nvSpPr>
        <p:spPr>
          <a:xfrm>
            <a:off x="2734056" y="4846320"/>
            <a:ext cx="109728" cy="146304"/>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4855464" y="4846320"/>
            <a:ext cx="109728" cy="146304"/>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6976872" y="4846320"/>
            <a:ext cx="109728" cy="146304"/>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5216" y="5687568"/>
            <a:ext cx="8732520" cy="786384"/>
          </a:xfrm>
          <a:prstGeom prst="rect">
            <a:avLst/>
          </a:prstGeom>
          <a:noFill/>
        </p:spPr>
        <p:txBody>
          <a:bodyPr wrap="square" lIns="0" rIns="0" tIns="0" bIns="0" anchor="t">
            <a:spAutoFit/>
          </a:bodyPr>
          <a:lstStyle/>
          <a:p>
            <a:pPr algn="l">
              <a:spcBef>
                <a:spcPts val="0"/>
              </a:spcBef>
              <a:spcAft>
                <a:spcPts val="200"/>
              </a:spcAft>
            </a:pPr>
            <a:r>
              <a:rPr sz="1250" b="1" i="0">
                <a:solidFill>
                  <a:srgbClr val="004094"/>
                </a:solidFill>
                <a:latin typeface="맑은 고딕"/>
                <a:ea typeface="맑은 고딕"/>
                <a:cs typeface="맑은 고딕"/>
              </a:rPr>
              <a:t>재현성 검증  </a:t>
            </a:r>
            <a:r>
              <a:rPr sz="1250" b="0" i="0">
                <a:solidFill>
                  <a:srgbClr val="27251E"/>
                </a:solidFill>
                <a:latin typeface="맑은 고딕"/>
                <a:ea typeface="맑은 고딕"/>
                <a:cs typeface="맑은 고딕"/>
              </a:rPr>
              <a:t>scripts/verify_release.sh — 생성 입력 해시 고정 → 재생성 → SHA256 3종 비교 → 검증기 실행</a:t>
            </a:r>
          </a:p>
          <a:p>
            <a:pPr algn="l">
              <a:spcBef>
                <a:spcPts val="300"/>
              </a:spcBef>
              <a:spcAft>
                <a:spcPts val="200"/>
              </a:spcAft>
            </a:pPr>
            <a:r>
              <a:rPr sz="1150" b="0" i="0">
                <a:solidFill>
                  <a:srgbClr val="767171"/>
                </a:solidFill>
                <a:latin typeface="맑은 고딕"/>
                <a:ea typeface="맑은 고딕"/>
                <a:cs typeface="맑은 고딕"/>
              </a:rPr>
              <a:t>+ mutation test 6종 × 8 plan = </a:t>
            </a:r>
            <a:r>
              <a:rPr sz="1150" b="1" i="0">
                <a:solidFill>
                  <a:srgbClr val="C00000"/>
                </a:solidFill>
                <a:latin typeface="맑은 고딕"/>
                <a:ea typeface="맑은 고딕"/>
                <a:cs typeface="맑은 고딕"/>
              </a:rPr>
              <a:t>48/48 검출 필수</a:t>
            </a:r>
            <a:r>
              <a:rPr sz="1150" b="0" i="0">
                <a:solidFill>
                  <a:srgbClr val="767171"/>
                </a:solidFill>
                <a:latin typeface="맑은 고딕"/>
                <a:ea typeface="맑은 고딕"/>
                <a:cs typeface="맑은 고딕"/>
              </a:rPr>
              <a:t>  (실패할 수 없는 검증기는 증거가 아니라는 원칙)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7</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Method ③  데이터 구성</a:t>
            </a:r>
            <a:r>
              <a:rPr sz="1400" b="0" i="0">
                <a:solidFill>
                  <a:srgbClr val="767171"/>
                </a:solidFill>
                <a:latin typeface="맑은 고딕"/>
                <a:ea typeface="맑은 고딕"/>
                <a:cs typeface="맑은 고딕"/>
              </a:rPr>
              <a:t>   24 users × 59 scenarios</a:t>
            </a:r>
          </a:p>
        </p:txBody>
      </p:sp>
      <p:sp>
        <p:nvSpPr>
          <p:cNvPr id="5" name="TextBox 4"/>
          <p:cNvSpPr txBox="1"/>
          <p:nvPr/>
        </p:nvSpPr>
        <p:spPr>
          <a:xfrm>
            <a:off x="585216" y="1609344"/>
            <a:ext cx="8732520" cy="329184"/>
          </a:xfrm>
          <a:prstGeom prst="rect">
            <a:avLst/>
          </a:prstGeom>
          <a:noFill/>
        </p:spPr>
        <p:txBody>
          <a:bodyPr wrap="square" lIns="0" rIns="0" tIns="0" bIns="0" anchor="t">
            <a:spAutoFit/>
          </a:bodyPr>
          <a:lstStyle/>
          <a:p>
            <a:pPr algn="l">
              <a:spcBef>
                <a:spcPts val="0"/>
              </a:spcBef>
              <a:spcAft>
                <a:spcPts val="200"/>
              </a:spcAft>
            </a:pPr>
            <a:r>
              <a:rPr sz="1400" b="0" i="0">
                <a:solidFill>
                  <a:srgbClr val="27251E"/>
                </a:solidFill>
                <a:latin typeface="맑은 고딕"/>
                <a:ea typeface="맑은 고딕"/>
                <a:cs typeface="맑은 고딕"/>
              </a:rPr>
              <a:t>시나리오는 </a:t>
            </a:r>
            <a:r>
              <a:rPr sz="1400" b="1" i="0">
                <a:solidFill>
                  <a:srgbClr val="0A4D9B"/>
                </a:solidFill>
                <a:latin typeface="맑은 고딕"/>
                <a:ea typeface="맑은 고딕"/>
                <a:cs typeface="맑은 고딕"/>
              </a:rPr>
              <a:t>물리적 위험 · 기능적 불가능 · 널리 공유된 관습</a:t>
            </a:r>
            <a:r>
              <a:rPr sz="1400" b="0" i="0">
                <a:solidFill>
                  <a:srgbClr val="27251E"/>
                </a:solidFill>
                <a:latin typeface="맑은 고딕"/>
                <a:ea typeface="맑은 고딕"/>
                <a:cs typeface="맑은 고딕"/>
              </a:rPr>
              <a:t>에 근거한 것만 채택 — 저자의 취향이 정답이 되지 않도록</a:t>
            </a:r>
          </a:p>
        </p:txBody>
      </p:sp>
      <p:sp>
        <p:nvSpPr>
          <p:cNvPr id="6" name="Rounded Rectangle 5"/>
          <p:cNvSpPr/>
          <p:nvPr/>
        </p:nvSpPr>
        <p:spPr>
          <a:xfrm>
            <a:off x="585216" y="2029968"/>
            <a:ext cx="2048256" cy="969264"/>
          </a:xfrm>
          <a:prstGeom prst="roundRect">
            <a:avLst>
              <a:gd name="adj" fmla="val 12000"/>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2500" b="1" i="0">
                <a:solidFill>
                  <a:srgbClr val="004094"/>
                </a:solidFill>
                <a:latin typeface="맑은 고딕"/>
                <a:ea typeface="맑은 고딕"/>
                <a:cs typeface="맑은 고딕"/>
              </a:rPr>
              <a:t>24</a:t>
            </a:r>
          </a:p>
          <a:p>
            <a:pPr algn="ctr">
              <a:spcBef>
                <a:spcPts val="0"/>
              </a:spcBef>
              <a:spcAft>
                <a:spcPts val="200"/>
              </a:spcAft>
            </a:pPr>
            <a:r>
              <a:rPr sz="1050" b="1" i="0">
                <a:solidFill>
                  <a:srgbClr val="27251E"/>
                </a:solidFill>
                <a:latin typeface="맑은 고딕"/>
                <a:ea typeface="맑은 고딕"/>
                <a:cs typeface="맑은 고딕"/>
              </a:rPr>
              <a:t>user profiles</a:t>
            </a:r>
          </a:p>
          <a:p>
            <a:pPr algn="ctr">
              <a:spcBef>
                <a:spcPts val="0"/>
              </a:spcBef>
              <a:spcAft>
                <a:spcPts val="200"/>
              </a:spcAft>
            </a:pPr>
            <a:r>
              <a:rPr sz="900" b="0" i="0">
                <a:solidFill>
                  <a:srgbClr val="767171"/>
                </a:solidFill>
                <a:latin typeface="맑은 고딕"/>
                <a:ea typeface="맑은 고딕"/>
                <a:cs typeface="맑은 고딕"/>
              </a:rPr>
              <a:t>규칙 생성 · 축별 quota</a:t>
            </a:r>
          </a:p>
        </p:txBody>
      </p:sp>
      <p:sp>
        <p:nvSpPr>
          <p:cNvPr id="7" name="Rounded Rectangle 6"/>
          <p:cNvSpPr/>
          <p:nvPr/>
        </p:nvSpPr>
        <p:spPr>
          <a:xfrm>
            <a:off x="2724912" y="2029968"/>
            <a:ext cx="2048256" cy="969264"/>
          </a:xfrm>
          <a:prstGeom prst="roundRect">
            <a:avLst>
              <a:gd name="adj" fmla="val 12000"/>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2500" b="1" i="0">
                <a:solidFill>
                  <a:srgbClr val="004094"/>
                </a:solidFill>
                <a:latin typeface="맑은 고딕"/>
                <a:ea typeface="맑은 고딕"/>
                <a:cs typeface="맑은 고딕"/>
              </a:rPr>
              <a:t>59</a:t>
            </a:r>
          </a:p>
          <a:p>
            <a:pPr algn="ctr">
              <a:spcBef>
                <a:spcPts val="0"/>
              </a:spcBef>
              <a:spcAft>
                <a:spcPts val="200"/>
              </a:spcAft>
            </a:pPr>
            <a:r>
              <a:rPr sz="1050" b="1" i="0">
                <a:solidFill>
                  <a:srgbClr val="27251E"/>
                </a:solidFill>
                <a:latin typeface="맑은 고딕"/>
                <a:ea typeface="맑은 고딕"/>
                <a:cs typeface="맑은 고딕"/>
              </a:rPr>
              <a:t>scenarios</a:t>
            </a:r>
          </a:p>
          <a:p>
            <a:pPr algn="ctr">
              <a:spcBef>
                <a:spcPts val="0"/>
              </a:spcBef>
              <a:spcAft>
                <a:spcPts val="200"/>
              </a:spcAft>
            </a:pPr>
            <a:r>
              <a:rPr sz="900" b="0" i="0">
                <a:solidFill>
                  <a:srgbClr val="767171"/>
                </a:solidFill>
                <a:latin typeface="맑은 고딕"/>
                <a:ea typeface="맑은 고딕"/>
                <a:cs typeface="맑은 고딕"/>
              </a:rPr>
              <a:t>20 archetypes · 2 tracks</a:t>
            </a:r>
          </a:p>
        </p:txBody>
      </p:sp>
      <p:sp>
        <p:nvSpPr>
          <p:cNvPr id="8" name="Rounded Rectangle 7"/>
          <p:cNvSpPr/>
          <p:nvPr/>
        </p:nvSpPr>
        <p:spPr>
          <a:xfrm>
            <a:off x="4864608" y="2029968"/>
            <a:ext cx="2048256" cy="969264"/>
          </a:xfrm>
          <a:prstGeom prst="roundRect">
            <a:avLst>
              <a:gd name="adj" fmla="val 12000"/>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2500" b="1" i="0">
                <a:solidFill>
                  <a:srgbClr val="004094"/>
                </a:solidFill>
                <a:latin typeface="맑은 고딕"/>
                <a:ea typeface="맑은 고딕"/>
                <a:cs typeface="맑은 고딕"/>
              </a:rPr>
              <a:t>2,621</a:t>
            </a:r>
          </a:p>
          <a:p>
            <a:pPr algn="ctr">
              <a:spcBef>
                <a:spcPts val="0"/>
              </a:spcBef>
              <a:spcAft>
                <a:spcPts val="200"/>
              </a:spcAft>
            </a:pPr>
            <a:r>
              <a:rPr sz="1050" b="1" i="0">
                <a:solidFill>
                  <a:srgbClr val="27251E"/>
                </a:solidFill>
                <a:latin typeface="맑은 고딕"/>
                <a:ea typeface="맑은 고딕"/>
                <a:cs typeface="맑은 고딕"/>
              </a:rPr>
              <a:t>option plans</a:t>
            </a:r>
          </a:p>
          <a:p>
            <a:pPr algn="ctr">
              <a:spcBef>
                <a:spcPts val="0"/>
              </a:spcBef>
              <a:spcAft>
                <a:spcPts val="200"/>
              </a:spcAft>
            </a:pPr>
            <a:r>
              <a:rPr sz="900" b="0" i="0">
                <a:solidFill>
                  <a:srgbClr val="767171"/>
                </a:solidFill>
                <a:latin typeface="맑은 고딕"/>
                <a:ea typeface="맑은 고딕"/>
                <a:cs typeface="맑은 고딕"/>
              </a:rPr>
              <a:t>2,253 query 문맥</a:t>
            </a:r>
          </a:p>
        </p:txBody>
      </p:sp>
      <p:sp>
        <p:nvSpPr>
          <p:cNvPr id="9" name="Rounded Rectangle 8"/>
          <p:cNvSpPr/>
          <p:nvPr/>
        </p:nvSpPr>
        <p:spPr>
          <a:xfrm>
            <a:off x="7004304" y="2029968"/>
            <a:ext cx="2048256" cy="969264"/>
          </a:xfrm>
          <a:prstGeom prst="roundRect">
            <a:avLst>
              <a:gd name="adj" fmla="val 12000"/>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2500" b="1" i="0">
                <a:solidFill>
                  <a:srgbClr val="004094"/>
                </a:solidFill>
                <a:latin typeface="맑은 고딕"/>
                <a:ea typeface="맑은 고딕"/>
                <a:cs typeface="맑은 고딕"/>
              </a:rPr>
              <a:t>97.3%</a:t>
            </a:r>
          </a:p>
          <a:p>
            <a:pPr algn="ctr">
              <a:spcBef>
                <a:spcPts val="0"/>
              </a:spcBef>
              <a:spcAft>
                <a:spcPts val="200"/>
              </a:spcAft>
            </a:pPr>
            <a:r>
              <a:rPr sz="1050" b="1" i="0">
                <a:solidFill>
                  <a:srgbClr val="27251E"/>
                </a:solidFill>
                <a:latin typeface="맑은 고딕"/>
                <a:ea typeface="맑은 고딕"/>
                <a:cs typeface="맑은 고딕"/>
              </a:rPr>
              <a:t>4장 모두 확보</a:t>
            </a:r>
          </a:p>
          <a:p>
            <a:pPr algn="ctr">
              <a:spcBef>
                <a:spcPts val="0"/>
              </a:spcBef>
              <a:spcAft>
                <a:spcPts val="200"/>
              </a:spcAft>
            </a:pPr>
            <a:r>
              <a:rPr sz="900" b="0" i="0">
                <a:solidFill>
                  <a:srgbClr val="767171"/>
                </a:solidFill>
                <a:latin typeface="맑은 고딕"/>
                <a:ea typeface="맑은 고딕"/>
                <a:cs typeface="맑은 고딕"/>
              </a:rPr>
              <a:t>2,550 / 2,621</a:t>
            </a:r>
          </a:p>
        </p:txBody>
      </p:sp>
      <p:pic>
        <p:nvPicPr>
          <p:cNvPr id="10" name="Picture 9" descr="fig_dataset.png"/>
          <p:cNvPicPr>
            <a:picLocks noChangeAspect="1"/>
          </p:cNvPicPr>
          <p:nvPr/>
        </p:nvPicPr>
        <p:blipFill>
          <a:blip r:embed="rId3"/>
          <a:stretch>
            <a:fillRect/>
          </a:stretch>
        </p:blipFill>
        <p:spPr>
          <a:xfrm>
            <a:off x="658368" y="3108960"/>
            <a:ext cx="8595360" cy="1721242"/>
          </a:xfrm>
          <a:prstGeom prst="rect">
            <a:avLst/>
          </a:prstGeom>
        </p:spPr>
      </p:pic>
      <p:sp>
        <p:nvSpPr>
          <p:cNvPr id="11" name="TextBox 10"/>
          <p:cNvSpPr txBox="1"/>
          <p:nvPr/>
        </p:nvSpPr>
        <p:spPr>
          <a:xfrm>
            <a:off x="585216" y="4992624"/>
            <a:ext cx="8732520" cy="384048"/>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설계상 반드시 공개해야 하는 비대칭</a:t>
            </a:r>
          </a:p>
        </p:txBody>
      </p:sp>
      <p:sp>
        <p:nvSpPr>
          <p:cNvPr id="12" name="TextBox 11"/>
          <p:cNvSpPr txBox="1"/>
          <p:nvPr/>
        </p:nvSpPr>
        <p:spPr>
          <a:xfrm>
            <a:off x="585216" y="5376672"/>
            <a:ext cx="8732520" cy="274320"/>
          </a:xfrm>
          <a:prstGeom prst="rect">
            <a:avLst/>
          </a:prstGeom>
          <a:noFill/>
        </p:spPr>
        <p:txBody>
          <a:bodyPr wrap="square" lIns="0" rIns="0" tIns="0" bIns="0" anchor="t">
            <a:spAutoFit/>
          </a:bodyPr>
          <a:lstStyle/>
          <a:p>
            <a:pPr algn="l">
              <a:spcBef>
                <a:spcPts val="0"/>
              </a:spcBef>
              <a:spcAft>
                <a:spcPts val="200"/>
              </a:spcAft>
            </a:pPr>
            <a:r>
              <a:rPr sz="1150" b="0" i="0">
                <a:solidFill>
                  <a:srgbClr val="2E75B6"/>
                </a:solidFill>
                <a:latin typeface="맑은 고딕"/>
                <a:ea typeface="맑은 고딕"/>
                <a:cs typeface="맑은 고딕"/>
              </a:rPr>
              <a:t>· </a:t>
            </a:r>
            <a:r>
              <a:rPr sz="1150" b="1" i="0">
                <a:solidFill>
                  <a:srgbClr val="27251E"/>
                </a:solidFill>
                <a:latin typeface="맑은 고딕"/>
                <a:ea typeface="맑은 고딕"/>
                <a:cs typeface="맑은 고딕"/>
              </a:rPr>
              <a:t>축별 quota가 비대칭</a:t>
            </a:r>
            <a:r>
              <a:rPr sz="1150" b="0" i="0">
                <a:solidFill>
                  <a:srgbClr val="767171"/>
                </a:solidFill>
                <a:latin typeface="맑은 고딕"/>
                <a:ea typeface="맑은 고딕"/>
                <a:cs typeface="맑은 고딕"/>
              </a:rPr>
              <a:t>  —  </a:t>
            </a:r>
            <a:r>
              <a:rPr sz="1150" b="0" i="0">
                <a:solidFill>
                  <a:srgbClr val="27251E"/>
                </a:solidFill>
                <a:latin typeface="맑은 고딕"/>
                <a:ea typeface="맑은 고딕"/>
                <a:cs typeface="맑은 고딕"/>
              </a:rPr>
              <a:t>어휘 크기(23·13·5)가 달라 의도적으로 다르게 설정하고 명시</a:t>
            </a:r>
          </a:p>
        </p:txBody>
      </p:sp>
      <p:sp>
        <p:nvSpPr>
          <p:cNvPr id="13" name="TextBox 12"/>
          <p:cNvSpPr txBox="1"/>
          <p:nvPr/>
        </p:nvSpPr>
        <p:spPr>
          <a:xfrm>
            <a:off x="585216" y="5724144"/>
            <a:ext cx="8732520" cy="274320"/>
          </a:xfrm>
          <a:prstGeom prst="rect">
            <a:avLst/>
          </a:prstGeom>
          <a:noFill/>
        </p:spPr>
        <p:txBody>
          <a:bodyPr wrap="square" lIns="0" rIns="0" tIns="0" bIns="0" anchor="t">
            <a:spAutoFit/>
          </a:bodyPr>
          <a:lstStyle/>
          <a:p>
            <a:pPr algn="l">
              <a:spcBef>
                <a:spcPts val="0"/>
              </a:spcBef>
              <a:spcAft>
                <a:spcPts val="200"/>
              </a:spcAft>
            </a:pPr>
            <a:r>
              <a:rPr sz="1150" b="0" i="0">
                <a:solidFill>
                  <a:srgbClr val="2E75B6"/>
                </a:solidFill>
                <a:latin typeface="맑은 고딕"/>
                <a:ea typeface="맑은 고딕"/>
                <a:cs typeface="맑은 고딕"/>
              </a:rPr>
              <a:t>· </a:t>
            </a:r>
            <a:r>
              <a:rPr sz="1150" b="1" i="0">
                <a:solidFill>
                  <a:srgbClr val="27251E"/>
                </a:solidFill>
                <a:latin typeface="맑은 고딕"/>
                <a:ea typeface="맑은 고딕"/>
                <a:cs typeface="맑은 고딕"/>
              </a:rPr>
              <a:t>solid은 pattern의 baseline</a:t>
            </a:r>
            <a:r>
              <a:rPr sz="1150" b="0" i="0">
                <a:solidFill>
                  <a:srgbClr val="767171"/>
                </a:solidFill>
                <a:latin typeface="맑은 고딕"/>
                <a:ea typeface="맑은 고딕"/>
                <a:cs typeface="맑은 고딕"/>
              </a:rPr>
              <a:t>  —  </a:t>
            </a:r>
            <a:r>
              <a:rPr sz="1150" b="0" i="0">
                <a:solidFill>
                  <a:srgbClr val="27251E"/>
                </a:solidFill>
                <a:latin typeface="맑은 고딕"/>
                <a:ea typeface="맑은 고딕"/>
                <a:cs typeface="맑은 고딕"/>
              </a:rPr>
              <a:t>‘무늬 없음’은 여섯 번째 값이 아니라 부재 — v5에서 수정</a:t>
            </a:r>
          </a:p>
        </p:txBody>
      </p:sp>
      <p:sp>
        <p:nvSpPr>
          <p:cNvPr id="14" name="TextBox 13"/>
          <p:cNvSpPr txBox="1"/>
          <p:nvPr/>
        </p:nvSpPr>
        <p:spPr>
          <a:xfrm>
            <a:off x="585216" y="6071616"/>
            <a:ext cx="8732520" cy="274320"/>
          </a:xfrm>
          <a:prstGeom prst="rect">
            <a:avLst/>
          </a:prstGeom>
          <a:noFill/>
        </p:spPr>
        <p:txBody>
          <a:bodyPr wrap="square" lIns="0" rIns="0" tIns="0" bIns="0" anchor="t">
            <a:spAutoFit/>
          </a:bodyPr>
          <a:lstStyle/>
          <a:p>
            <a:pPr algn="l">
              <a:spcBef>
                <a:spcPts val="0"/>
              </a:spcBef>
              <a:spcAft>
                <a:spcPts val="200"/>
              </a:spcAft>
            </a:pPr>
            <a:r>
              <a:rPr sz="1150" b="0" i="0">
                <a:solidFill>
                  <a:srgbClr val="2E75B6"/>
                </a:solidFill>
                <a:latin typeface="맑은 고딕"/>
                <a:ea typeface="맑은 고딕"/>
                <a:cs typeface="맑은 고딕"/>
              </a:rPr>
              <a:t>· </a:t>
            </a:r>
            <a:r>
              <a:rPr sz="1150" b="1" i="0">
                <a:solidFill>
                  <a:srgbClr val="27251E"/>
                </a:solidFill>
                <a:latin typeface="맑은 고딕"/>
                <a:ea typeface="맑은 고딕"/>
                <a:cs typeface="맑은 고딕"/>
              </a:rPr>
              <a:t>Dress-code 라벨은 미검증</a:t>
            </a:r>
            <a:r>
              <a:rPr sz="1150" b="0" i="0">
                <a:solidFill>
                  <a:srgbClr val="767171"/>
                </a:solidFill>
                <a:latin typeface="맑은 고딕"/>
                <a:ea typeface="맑은 고딕"/>
                <a:cs typeface="맑은 고딕"/>
              </a:rPr>
              <a:t>  —  </a:t>
            </a:r>
            <a:r>
              <a:rPr sz="1150" b="0" i="0">
                <a:solidFill>
                  <a:srgbClr val="27251E"/>
                </a:solidFill>
                <a:latin typeface="맑은 고딕"/>
                <a:ea typeface="맑은 고딕"/>
                <a:cs typeface="맑은 고딕"/>
              </a:rPr>
              <a:t>관습 기반 35개는 human validation 전 — 저자 라벨로 표기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8</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Method ④  이미지 수집 파이프라인</a:t>
            </a:r>
            <a:r>
              <a:rPr sz="1400" b="0" i="0">
                <a:solidFill>
                  <a:srgbClr val="767171"/>
                </a:solidFill>
                <a:latin typeface="맑은 고딕"/>
                <a:ea typeface="맑은 고딕"/>
                <a:cs typeface="맑은 고딕"/>
              </a:rPr>
              <a:t>   Stage 4 — 엔지니어링 핵심</a:t>
            </a:r>
          </a:p>
        </p:txBody>
      </p:sp>
      <p:sp>
        <p:nvSpPr>
          <p:cNvPr id="5" name="TextBox 4"/>
          <p:cNvSpPr txBox="1"/>
          <p:nvPr/>
        </p:nvSpPr>
        <p:spPr>
          <a:xfrm>
            <a:off x="585216" y="1609344"/>
            <a:ext cx="8732520" cy="329184"/>
          </a:xfrm>
          <a:prstGeom prst="rect">
            <a:avLst/>
          </a:prstGeom>
          <a:noFill/>
        </p:spPr>
        <p:txBody>
          <a:bodyPr wrap="square" lIns="0" rIns="0" tIns="0" bIns="0" anchor="t">
            <a:spAutoFit/>
          </a:bodyPr>
          <a:lstStyle/>
          <a:p>
            <a:pPr algn="l">
              <a:spcBef>
                <a:spcPts val="0"/>
              </a:spcBef>
              <a:spcAft>
                <a:spcPts val="200"/>
              </a:spcAft>
            </a:pPr>
            <a:r>
              <a:rPr sz="1400" b="0" i="0">
                <a:solidFill>
                  <a:srgbClr val="27251E"/>
                </a:solidFill>
                <a:latin typeface="맑은 고딕"/>
                <a:ea typeface="맑은 고딕"/>
                <a:cs typeface="맑은 고딕"/>
              </a:rPr>
              <a:t>문항 하나에는 </a:t>
            </a:r>
            <a:r>
              <a:rPr sz="1400" b="1" i="0">
                <a:solidFill>
                  <a:srgbClr val="0A4D9B"/>
                </a:solidFill>
                <a:latin typeface="맑은 고딕"/>
                <a:ea typeface="맑은 고딕"/>
                <a:cs typeface="맑은 고딕"/>
              </a:rPr>
              <a:t>(색 · 의류 · 패턴)이 정확히 통제된 실제 상품 이미지 4장</a:t>
            </a:r>
            <a:r>
              <a:rPr sz="1400" b="0" i="0">
                <a:solidFill>
                  <a:srgbClr val="27251E"/>
                </a:solidFill>
                <a:latin typeface="맑은 고딕"/>
                <a:ea typeface="맑은 고딕"/>
                <a:cs typeface="맑은 고딕"/>
              </a:rPr>
              <a:t>이 필요 — 검색만으로는 절대 확보되지 않음</a:t>
            </a:r>
          </a:p>
        </p:txBody>
      </p:sp>
      <p:pic>
        <p:nvPicPr>
          <p:cNvPr id="6" name="Picture 5" descr="fig_funnel.png"/>
          <p:cNvPicPr>
            <a:picLocks noChangeAspect="1"/>
          </p:cNvPicPr>
          <p:nvPr/>
        </p:nvPicPr>
        <p:blipFill>
          <a:blip r:embed="rId3"/>
          <a:stretch>
            <a:fillRect/>
          </a:stretch>
        </p:blipFill>
        <p:spPr>
          <a:xfrm>
            <a:off x="1115568" y="1975104"/>
            <a:ext cx="7680960" cy="2928986"/>
          </a:xfrm>
          <a:prstGeom prst="rect">
            <a:avLst/>
          </a:prstGeom>
        </p:spPr>
      </p:pic>
      <p:sp>
        <p:nvSpPr>
          <p:cNvPr id="7" name="TextBox 6"/>
          <p:cNvSpPr txBox="1"/>
          <p:nvPr/>
        </p:nvSpPr>
        <p:spPr>
          <a:xfrm>
            <a:off x="585216" y="4974336"/>
            <a:ext cx="8732520" cy="3657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축마다 다른 검증기를 붙인 이유</a:t>
            </a:r>
          </a:p>
        </p:txBody>
      </p:sp>
      <p:sp>
        <p:nvSpPr>
          <p:cNvPr id="8" name="Rounded Rectangle 7"/>
          <p:cNvSpPr/>
          <p:nvPr/>
        </p:nvSpPr>
        <p:spPr>
          <a:xfrm>
            <a:off x="585216" y="5358384"/>
            <a:ext cx="2825496" cy="1042415"/>
          </a:xfrm>
          <a:prstGeom prst="roundRect">
            <a:avLst>
              <a:gd name="adj" fmla="val 10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150" b="1" i="0">
                <a:solidFill>
                  <a:srgbClr val="004094"/>
                </a:solidFill>
                <a:latin typeface="맑은 고딕"/>
                <a:ea typeface="맑은 고딕"/>
                <a:cs typeface="맑은 고딕"/>
              </a:rPr>
              <a:t>Garment  </a:t>
            </a:r>
            <a:r>
              <a:rPr sz="1150" b="1" i="0">
                <a:solidFill>
                  <a:srgbClr val="27251E"/>
                </a:solidFill>
                <a:latin typeface="맑은 고딕"/>
                <a:ea typeface="맑은 고딕"/>
                <a:cs typeface="맑은 고딕"/>
              </a:rPr>
              <a:t>closed-vocab VLM judge</a:t>
            </a:r>
          </a:p>
          <a:p>
            <a:pPr algn="ctr">
              <a:lnSpc>
                <a:spcPct val="115000"/>
              </a:lnSpc>
              <a:spcBef>
                <a:spcPts val="0"/>
              </a:spcBef>
              <a:spcAft>
                <a:spcPts val="200"/>
              </a:spcAft>
            </a:pPr>
            <a:r>
              <a:rPr sz="1000" b="0" i="0">
                <a:solidFill>
                  <a:srgbClr val="767171"/>
                </a:solidFill>
                <a:latin typeface="맑은 고딕"/>
                <a:ea typeface="맑은 고딕"/>
                <a:cs typeface="맑은 고딕"/>
              </a:rPr>
              <a:t>SAM3 마스크는 위치 특정용 —
분할 점수로는 dress↔tank top 구분 불가</a:t>
            </a:r>
          </a:p>
        </p:txBody>
      </p:sp>
      <p:sp>
        <p:nvSpPr>
          <p:cNvPr id="9" name="Rounded Rectangle 8"/>
          <p:cNvSpPr/>
          <p:nvPr/>
        </p:nvSpPr>
        <p:spPr>
          <a:xfrm>
            <a:off x="3538728" y="5358384"/>
            <a:ext cx="2825496" cy="1042415"/>
          </a:xfrm>
          <a:prstGeom prst="roundRect">
            <a:avLst>
              <a:gd name="adj" fmla="val 10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150" b="1" i="0">
                <a:solidFill>
                  <a:srgbClr val="2E75B6"/>
                </a:solidFill>
                <a:latin typeface="맑은 고딕"/>
                <a:ea typeface="맑은 고딕"/>
                <a:cs typeface="맑은 고딕"/>
              </a:rPr>
              <a:t>Pattern  </a:t>
            </a:r>
            <a:r>
              <a:rPr sz="1150" b="1" i="0">
                <a:solidFill>
                  <a:srgbClr val="27251E"/>
                </a:solidFill>
                <a:latin typeface="맑은 고딕"/>
                <a:ea typeface="맑은 고딕"/>
                <a:cs typeface="맑은 고딕"/>
              </a:rPr>
              <a:t>5-density patch 분류</a:t>
            </a:r>
          </a:p>
          <a:p>
            <a:pPr algn="ctr">
              <a:lnSpc>
                <a:spcPct val="115000"/>
              </a:lnSpc>
              <a:spcBef>
                <a:spcPts val="0"/>
              </a:spcBef>
              <a:spcAft>
                <a:spcPts val="200"/>
              </a:spcAft>
            </a:pPr>
            <a:r>
              <a:rPr sz="1000" b="0" i="0">
                <a:solidFill>
                  <a:srgbClr val="767171"/>
                </a:solidFill>
                <a:latin typeface="맑은 고딕"/>
                <a:ea typeface="맑은 고딕"/>
                <a:cs typeface="맑은 고딕"/>
              </a:rPr>
              <a:t>패턴은 넓은 시각적 맥락이 필요 →
타일을 크게</a:t>
            </a:r>
          </a:p>
        </p:txBody>
      </p:sp>
      <p:sp>
        <p:nvSpPr>
          <p:cNvPr id="10" name="Rounded Rectangle 9"/>
          <p:cNvSpPr/>
          <p:nvPr/>
        </p:nvSpPr>
        <p:spPr>
          <a:xfrm>
            <a:off x="6492240" y="5358384"/>
            <a:ext cx="2825496" cy="1042415"/>
          </a:xfrm>
          <a:prstGeom prst="roundRect">
            <a:avLst>
              <a:gd name="adj" fmla="val 10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150" b="1" i="0">
                <a:solidFill>
                  <a:srgbClr val="2E75B6"/>
                </a:solidFill>
                <a:latin typeface="맑은 고딕"/>
                <a:ea typeface="맑은 고딕"/>
                <a:cs typeface="맑은 고딕"/>
              </a:rPr>
              <a:t>Color  </a:t>
            </a:r>
            <a:r>
              <a:rPr sz="1150" b="1" i="0">
                <a:solidFill>
                  <a:srgbClr val="27251E"/>
                </a:solidFill>
                <a:latin typeface="맑은 고딕"/>
                <a:ea typeface="맑은 고딕"/>
                <a:cs typeface="맑은 고딕"/>
              </a:rPr>
              <a:t>15-density patch argmax</a:t>
            </a:r>
          </a:p>
          <a:p>
            <a:pPr algn="ctr">
              <a:lnSpc>
                <a:spcPct val="115000"/>
              </a:lnSpc>
              <a:spcBef>
                <a:spcPts val="0"/>
              </a:spcBef>
              <a:spcAft>
                <a:spcPts val="200"/>
              </a:spcAft>
            </a:pPr>
            <a:r>
              <a:rPr sz="1000" b="0" i="0">
                <a:solidFill>
                  <a:srgbClr val="767171"/>
                </a:solidFill>
                <a:latin typeface="맑은 고딕"/>
                <a:ea typeface="맑은 고딕"/>
                <a:cs typeface="맑은 고딕"/>
              </a:rPr>
              <a:t>단일 임베딩이 놓치는
Navy↔Blue / Beige↔Brown 혼동 검출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9</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문제해결 ①  국소 패턴 문제</a:t>
            </a:r>
            <a:r>
              <a:rPr sz="1400" b="0" i="0">
                <a:solidFill>
                  <a:srgbClr val="767171"/>
                </a:solidFill>
                <a:latin typeface="맑은 고딕"/>
                <a:ea typeface="맑은 고딕"/>
                <a:cs typeface="맑은 고딕"/>
              </a:rPr>
              <a:t>   증상 → 시도 → 원인 규명 → 해결</a:t>
            </a:r>
          </a:p>
        </p:txBody>
      </p:sp>
      <p:sp>
        <p:nvSpPr>
          <p:cNvPr id="5" name="TextBox 4"/>
          <p:cNvSpPr txBox="1"/>
          <p:nvPr/>
        </p:nvSpPr>
        <p:spPr>
          <a:xfrm>
            <a:off x="585216" y="1591056"/>
            <a:ext cx="8732520" cy="329184"/>
          </a:xfrm>
          <a:prstGeom prst="rect">
            <a:avLst/>
          </a:prstGeom>
          <a:noFill/>
        </p:spPr>
        <p:txBody>
          <a:bodyPr wrap="square" lIns="0" rIns="0" tIns="0" bIns="0" anchor="t">
            <a:spAutoFit/>
          </a:bodyPr>
          <a:lstStyle/>
          <a:p>
            <a:pPr algn="l">
              <a:spcBef>
                <a:spcPts val="0"/>
              </a:spcBef>
              <a:spcAft>
                <a:spcPts val="200"/>
              </a:spcAft>
            </a:pPr>
            <a:r>
              <a:rPr sz="1400" b="1" i="0">
                <a:solidFill>
                  <a:srgbClr val="C00000"/>
                </a:solidFill>
                <a:latin typeface="맑은 고딕"/>
                <a:ea typeface="맑은 고딕"/>
                <a:cs typeface="맑은 고딕"/>
              </a:rPr>
              <a:t>증상  </a:t>
            </a:r>
            <a:r>
              <a:rPr sz="1400" b="0" i="0">
                <a:solidFill>
                  <a:srgbClr val="27251E"/>
                </a:solidFill>
                <a:latin typeface="맑은 고딕"/>
                <a:ea typeface="맑은 고딕"/>
                <a:cs typeface="맑은 고딕"/>
              </a:rPr>
              <a:t>‘plaid beige shirt’로 검색하면 </a:t>
            </a:r>
            <a:r>
              <a:rPr sz="1400" b="1" i="0">
                <a:solidFill>
                  <a:srgbClr val="C00000"/>
                </a:solidFill>
                <a:latin typeface="맑은 고딕"/>
                <a:ea typeface="맑은 고딕"/>
                <a:cs typeface="맑은 고딕"/>
              </a:rPr>
              <a:t>포켓에만 체크무늬가 있는 옷</a:t>
            </a:r>
            <a:r>
              <a:rPr sz="1400" b="0" i="0">
                <a:solidFill>
                  <a:srgbClr val="27251E"/>
                </a:solidFill>
                <a:latin typeface="맑은 고딕"/>
                <a:ea typeface="맑은 고딕"/>
                <a:cs typeface="맑은 고딕"/>
              </a:rPr>
              <a:t>이 통과 — 축을 고정한다는 설계 전제가 깨짐</a:t>
            </a:r>
          </a:p>
        </p:txBody>
      </p:sp>
      <p:pic>
        <p:nvPicPr>
          <p:cNvPr id="6" name="Picture 5" descr="fig_patch.png"/>
          <p:cNvPicPr>
            <a:picLocks noChangeAspect="1"/>
          </p:cNvPicPr>
          <p:nvPr/>
        </p:nvPicPr>
        <p:blipFill>
          <a:blip r:embed="rId3"/>
          <a:stretch>
            <a:fillRect/>
          </a:stretch>
        </p:blipFill>
        <p:spPr>
          <a:xfrm>
            <a:off x="1481328" y="1920240"/>
            <a:ext cx="6949440" cy="2271412"/>
          </a:xfrm>
          <a:prstGeom prst="rect">
            <a:avLst/>
          </a:prstGeom>
        </p:spPr>
      </p:pic>
      <p:sp>
        <p:nvSpPr>
          <p:cNvPr id="7" name="TextBox 6"/>
          <p:cNvSpPr txBox="1"/>
          <p:nvPr/>
        </p:nvSpPr>
        <p:spPr>
          <a:xfrm>
            <a:off x="585216" y="4315968"/>
            <a:ext cx="8732520" cy="3657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시도한 해결책과 결과</a:t>
            </a:r>
          </a:p>
        </p:txBody>
      </p:sp>
      <p:sp>
        <p:nvSpPr>
          <p:cNvPr id="8" name="Rounded Rectangle 7"/>
          <p:cNvSpPr/>
          <p:nvPr/>
        </p:nvSpPr>
        <p:spPr>
          <a:xfrm>
            <a:off x="585216" y="4700016"/>
            <a:ext cx="2825496" cy="603504"/>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150" b="1" i="0">
                <a:solidFill>
                  <a:srgbClr val="767171"/>
                </a:solidFill>
                <a:latin typeface="맑은 고딕"/>
                <a:ea typeface="맑은 고딕"/>
                <a:cs typeface="맑은 고딕"/>
              </a:rPr>
              <a:t>Query 증강</a:t>
            </a:r>
            <a:r>
              <a:rPr sz="1150" b="0" i="0">
                <a:solidFill>
                  <a:srgbClr val="767171"/>
                </a:solidFill>
                <a:latin typeface="맑은 고딕"/>
                <a:ea typeface="맑은 고딕"/>
                <a:cs typeface="맑은 고딕"/>
              </a:rPr>
              <a:t>  검색어 구체화</a:t>
            </a:r>
          </a:p>
          <a:p>
            <a:pPr algn="ctr">
              <a:spcBef>
                <a:spcPts val="0"/>
              </a:spcBef>
              <a:spcAft>
                <a:spcPts val="200"/>
              </a:spcAft>
            </a:pPr>
            <a:r>
              <a:rPr sz="1100" b="1" i="0">
                <a:solidFill>
                  <a:srgbClr val="C00000"/>
                </a:solidFill>
                <a:latin typeface="맑은 고딕"/>
                <a:ea typeface="맑은 고딕"/>
                <a:cs typeface="맑은 고딕"/>
              </a:rPr>
              <a:t>✕  옷 정확도만 상승</a:t>
            </a:r>
          </a:p>
        </p:txBody>
      </p:sp>
      <p:sp>
        <p:nvSpPr>
          <p:cNvPr id="9" name="Rounded Rectangle 8"/>
          <p:cNvSpPr/>
          <p:nvPr/>
        </p:nvSpPr>
        <p:spPr>
          <a:xfrm>
            <a:off x="3538728" y="4700016"/>
            <a:ext cx="2825496" cy="603504"/>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150" b="1" i="0">
                <a:solidFill>
                  <a:srgbClr val="767171"/>
                </a:solidFill>
                <a:latin typeface="맑은 고딕"/>
                <a:ea typeface="맑은 고딕"/>
                <a:cs typeface="맑은 고딕"/>
              </a:rPr>
              <a:t>Reranker</a:t>
            </a:r>
            <a:r>
              <a:rPr sz="1150" b="0" i="0">
                <a:solidFill>
                  <a:srgbClr val="767171"/>
                </a:solidFill>
                <a:latin typeface="맑은 고딕"/>
                <a:ea typeface="맑은 고딕"/>
                <a:cs typeface="맑은 고딕"/>
              </a:rPr>
              <a:t>  Qwen VL 8B reasoning</a:t>
            </a:r>
          </a:p>
          <a:p>
            <a:pPr algn="ctr">
              <a:spcBef>
                <a:spcPts val="0"/>
              </a:spcBef>
              <a:spcAft>
                <a:spcPts val="200"/>
              </a:spcAft>
            </a:pPr>
            <a:r>
              <a:rPr sz="1100" b="1" i="0">
                <a:solidFill>
                  <a:srgbClr val="C00000"/>
                </a:solidFill>
                <a:latin typeface="맑은 고딕"/>
                <a:ea typeface="맑은 고딕"/>
                <a:cs typeface="맑은 고딕"/>
              </a:rPr>
              <a:t>✕  효과 없음</a:t>
            </a:r>
          </a:p>
        </p:txBody>
      </p:sp>
      <p:sp>
        <p:nvSpPr>
          <p:cNvPr id="10" name="Rounded Rectangle 9"/>
          <p:cNvSpPr/>
          <p:nvPr/>
        </p:nvSpPr>
        <p:spPr>
          <a:xfrm>
            <a:off x="6492240" y="4700016"/>
            <a:ext cx="2825496" cy="603504"/>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150" b="1" i="0">
                <a:solidFill>
                  <a:srgbClr val="767171"/>
                </a:solidFill>
                <a:latin typeface="맑은 고딕"/>
                <a:ea typeface="맑은 고딕"/>
                <a:cs typeface="맑은 고딕"/>
              </a:rPr>
              <a:t>VLM-as-judge</a:t>
            </a:r>
            <a:r>
              <a:rPr sz="1150" b="0" i="0">
                <a:solidFill>
                  <a:srgbClr val="767171"/>
                </a:solidFill>
                <a:latin typeface="맑은 고딕"/>
                <a:ea typeface="맑은 고딕"/>
                <a:cs typeface="맑은 고딕"/>
              </a:rPr>
              <a:t>  PASS / SELECT 판정</a:t>
            </a:r>
          </a:p>
          <a:p>
            <a:pPr algn="ctr">
              <a:spcBef>
                <a:spcPts val="0"/>
              </a:spcBef>
              <a:spcAft>
                <a:spcPts val="200"/>
              </a:spcAft>
            </a:pPr>
            <a:r>
              <a:rPr sz="1100" b="1" i="0">
                <a:solidFill>
                  <a:srgbClr val="C00000"/>
                </a:solidFill>
                <a:latin typeface="맑은 고딕"/>
                <a:ea typeface="맑은 고딕"/>
                <a:cs typeface="맑은 고딕"/>
              </a:rPr>
              <a:t>✕  동일한 한계</a:t>
            </a:r>
          </a:p>
        </p:txBody>
      </p:sp>
      <p:sp>
        <p:nvSpPr>
          <p:cNvPr id="11" name="Rounded Rectangle 10"/>
          <p:cNvSpPr/>
          <p:nvPr/>
        </p:nvSpPr>
        <p:spPr>
          <a:xfrm>
            <a:off x="585216" y="5358384"/>
            <a:ext cx="8732520" cy="1078992"/>
          </a:xfrm>
          <a:prstGeom prst="roundRect">
            <a:avLst>
              <a:gd name="adj" fmla="val 8000"/>
            </a:avLst>
          </a:prstGeom>
          <a:solidFill>
            <a:srgbClr val="E9F1FA"/>
          </a:solidFill>
          <a:ln w="12700">
            <a:solidFill>
              <a:srgbClr val="004094"/>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12" name="TextBox 11"/>
          <p:cNvSpPr txBox="1"/>
          <p:nvPr/>
        </p:nvSpPr>
        <p:spPr>
          <a:xfrm>
            <a:off x="768096" y="5449824"/>
            <a:ext cx="8366760" cy="932688"/>
          </a:xfrm>
          <a:prstGeom prst="rect">
            <a:avLst/>
          </a:prstGeom>
          <a:noFill/>
        </p:spPr>
        <p:txBody>
          <a:bodyPr wrap="square" lIns="0" rIns="0" tIns="0" bIns="0" anchor="t">
            <a:spAutoFit/>
          </a:bodyPr>
          <a:lstStyle/>
          <a:p>
            <a:pPr algn="l">
              <a:lnSpc>
                <a:spcPct val="118000"/>
              </a:lnSpc>
              <a:spcBef>
                <a:spcPts val="0"/>
              </a:spcBef>
              <a:spcAft>
                <a:spcPts val="200"/>
              </a:spcAft>
            </a:pPr>
            <a:r>
              <a:rPr sz="1200" b="1" i="0">
                <a:solidFill>
                  <a:srgbClr val="004094"/>
                </a:solidFill>
                <a:latin typeface="맑은 고딕"/>
                <a:ea typeface="맑은 고딕"/>
                <a:cs typeface="맑은 고딕"/>
              </a:rPr>
              <a:t>원인  </a:t>
            </a:r>
            <a:r>
              <a:rPr sz="1200" b="0" i="0">
                <a:solidFill>
                  <a:srgbClr val="27251E"/>
                </a:solidFill>
                <a:latin typeface="맑은 고딕"/>
                <a:ea typeface="맑은 고딕"/>
                <a:cs typeface="맑은 고딕"/>
              </a:rPr>
              <a:t>CLIP · SigLIP · reranker 모두 이미지를 </a:t>
            </a:r>
            <a:r>
              <a:rPr sz="1200" b="1" i="0">
                <a:solidFill>
                  <a:srgbClr val="004094"/>
                </a:solidFill>
                <a:latin typeface="맑은 고딕"/>
                <a:ea typeface="맑은 고딕"/>
                <a:cs typeface="맑은 고딕"/>
              </a:rPr>
              <a:t>전역 평균 풀링(global average pooling)</a:t>
            </a:r>
            <a:r>
              <a:rPr sz="1200" b="0" i="0">
                <a:solidFill>
                  <a:srgbClr val="27251E"/>
                </a:solidFill>
                <a:latin typeface="맑은 고딕"/>
                <a:ea typeface="맑은 고딕"/>
                <a:cs typeface="맑은 고딕"/>
              </a:rPr>
              <a:t>으로 벡터 하나에 압축 — 패턴의 공간적 분포가 평균에 묻힘</a:t>
            </a:r>
          </a:p>
          <a:p>
            <a:pPr algn="l">
              <a:lnSpc>
                <a:spcPct val="118000"/>
              </a:lnSpc>
              <a:spcBef>
                <a:spcPts val="400"/>
              </a:spcBef>
              <a:spcAft>
                <a:spcPts val="200"/>
              </a:spcAft>
            </a:pPr>
            <a:r>
              <a:rPr sz="1100" b="1" i="0">
                <a:solidFill>
                  <a:srgbClr val="767171"/>
                </a:solidFill>
                <a:latin typeface="맑은 고딕"/>
                <a:ea typeface="맑은 고딕"/>
                <a:cs typeface="맑은 고딕"/>
              </a:rPr>
              <a:t>근거  </a:t>
            </a:r>
            <a:r>
              <a:rPr sz="1100" b="0" i="0">
                <a:solidFill>
                  <a:srgbClr val="767171"/>
                </a:solidFill>
                <a:latin typeface="맑은 고딕"/>
                <a:ea typeface="맑은 고딕"/>
                <a:cs typeface="맑은 고딕"/>
              </a:rPr>
              <a:t>FashionVLP (CVPR’22) — global average pooling은 위치 정보를 보존하지 못함</a:t>
            </a:r>
          </a:p>
          <a:p>
            <a:pPr algn="l">
              <a:lnSpc>
                <a:spcPct val="118000"/>
              </a:lnSpc>
              <a:spcBef>
                <a:spcPts val="300"/>
              </a:spcBef>
              <a:spcAft>
                <a:spcPts val="200"/>
              </a:spcAft>
            </a:pPr>
            <a:r>
              <a:rPr sz="1150" b="1" i="0">
                <a:solidFill>
                  <a:srgbClr val="004094"/>
                </a:solidFill>
                <a:latin typeface="맑은 고딕"/>
                <a:ea typeface="맑은 고딕"/>
                <a:cs typeface="맑은 고딕"/>
              </a:rPr>
              <a:t>해결  </a:t>
            </a:r>
            <a:r>
              <a:rPr sz="1150" b="1" i="0">
                <a:solidFill>
                  <a:srgbClr val="004094"/>
                </a:solidFill>
                <a:latin typeface="맑은 고딕"/>
                <a:ea typeface="맑은 고딕"/>
                <a:cs typeface="맑은 고딕"/>
              </a:rPr>
              <a:t>SAM3 마스크 위 patch-wise 점수로 대체 — 학습 없이 표현 단위만 교체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10</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문제해결 ②  제약을 파이프라인 앞으로</a:t>
            </a:r>
            <a:r>
              <a:rPr sz="1400" b="0" i="0">
                <a:solidFill>
                  <a:srgbClr val="767171"/>
                </a:solidFill>
                <a:latin typeface="맑은 고딕"/>
                <a:ea typeface="맑은 고딕"/>
                <a:cs typeface="맑은 고딕"/>
              </a:rPr>
              <a:t>   필터의 위치가 데이터의 균형을 결정한다</a:t>
            </a:r>
          </a:p>
        </p:txBody>
      </p:sp>
      <p:sp>
        <p:nvSpPr>
          <p:cNvPr id="5" name="TextBox 4"/>
          <p:cNvSpPr txBox="1"/>
          <p:nvPr/>
        </p:nvSpPr>
        <p:spPr>
          <a:xfrm>
            <a:off x="585216" y="1591056"/>
            <a:ext cx="8732520" cy="329184"/>
          </a:xfrm>
          <a:prstGeom prst="rect">
            <a:avLst/>
          </a:prstGeom>
          <a:noFill/>
        </p:spPr>
        <p:txBody>
          <a:bodyPr wrap="square" lIns="0" rIns="0" tIns="0" bIns="0" anchor="t">
            <a:spAutoFit/>
          </a:bodyPr>
          <a:lstStyle/>
          <a:p>
            <a:pPr algn="l">
              <a:spcBef>
                <a:spcPts val="0"/>
              </a:spcBef>
              <a:spcAft>
                <a:spcPts val="200"/>
              </a:spcAft>
            </a:pPr>
            <a:r>
              <a:rPr sz="1400" b="1" i="0">
                <a:solidFill>
                  <a:srgbClr val="C00000"/>
                </a:solidFill>
                <a:latin typeface="맑은 고딕"/>
                <a:ea typeface="맑은 고딕"/>
                <a:cs typeface="맑은 고딕"/>
              </a:rPr>
              <a:t>증상  </a:t>
            </a:r>
            <a:r>
              <a:rPr sz="1400" b="0" i="0">
                <a:solidFill>
                  <a:srgbClr val="27251E"/>
                </a:solidFill>
                <a:latin typeface="맑은 고딕"/>
                <a:ea typeface="맑은 고딕"/>
                <a:cs typeface="맑은 고딕"/>
              </a:rPr>
              <a:t>3,027개 문항 중 </a:t>
            </a:r>
            <a:r>
              <a:rPr sz="1400" b="1" i="0">
                <a:solidFill>
                  <a:srgbClr val="C00000"/>
                </a:solidFill>
                <a:latin typeface="맑은 고딕"/>
                <a:ea typeface="맑은 고딕"/>
                <a:cs typeface="맑은 고딕"/>
              </a:rPr>
              <a:t>1,012개(33.4%)만</a:t>
            </a:r>
            <a:r>
              <a:rPr sz="1400" b="0" i="0">
                <a:solidFill>
                  <a:srgbClr val="27251E"/>
                </a:solidFill>
                <a:latin typeface="맑은 고딕"/>
                <a:ea typeface="맑은 고딕"/>
                <a:cs typeface="맑은 고딕"/>
              </a:rPr>
              <a:t> 네 장의 이미지를 모두 확보 — 게다가 살아남은 문항의 </a:t>
            </a:r>
            <a:r>
              <a:rPr sz="1400" b="1" i="0">
                <a:solidFill>
                  <a:srgbClr val="C00000"/>
                </a:solidFill>
                <a:latin typeface="맑은 고딕"/>
                <a:ea typeface="맑은 고딕"/>
                <a:cs typeface="맑은 고딕"/>
              </a:rPr>
              <a:t>분포가 틀어짐</a:t>
            </a:r>
          </a:p>
        </p:txBody>
      </p:sp>
      <p:pic>
        <p:nvPicPr>
          <p:cNvPr id="6" name="Picture 5" descr="fig_availability.png"/>
          <p:cNvPicPr>
            <a:picLocks noChangeAspect="1"/>
          </p:cNvPicPr>
          <p:nvPr/>
        </p:nvPicPr>
        <p:blipFill>
          <a:blip r:embed="rId3"/>
          <a:stretch>
            <a:fillRect/>
          </a:stretch>
        </p:blipFill>
        <p:spPr>
          <a:xfrm>
            <a:off x="1207008" y="2029968"/>
            <a:ext cx="7498079" cy="2250153"/>
          </a:xfrm>
          <a:prstGeom prst="rect">
            <a:avLst/>
          </a:prstGeom>
        </p:spPr>
      </p:pic>
      <p:sp>
        <p:nvSpPr>
          <p:cNvPr id="7" name="TextBox 6"/>
          <p:cNvSpPr txBox="1"/>
          <p:nvPr/>
        </p:nvSpPr>
        <p:spPr>
          <a:xfrm>
            <a:off x="585216" y="4334256"/>
            <a:ext cx="8732520" cy="3657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핵심 통찰 — 잃은 2,015개가 문제가 아니라, 잃은 방식이 문제</a:t>
            </a:r>
          </a:p>
        </p:txBody>
      </p:sp>
      <p:sp>
        <p:nvSpPr>
          <p:cNvPr id="8" name="Rounded Rectangle 7"/>
          <p:cNvSpPr/>
          <p:nvPr/>
        </p:nvSpPr>
        <p:spPr>
          <a:xfrm>
            <a:off x="585216" y="4700016"/>
            <a:ext cx="4224528" cy="118872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9" name="TextBox 8"/>
          <p:cNvSpPr txBox="1"/>
          <p:nvPr/>
        </p:nvSpPr>
        <p:spPr>
          <a:xfrm>
            <a:off x="731520" y="4791456"/>
            <a:ext cx="3968496" cy="1005840"/>
          </a:xfrm>
          <a:prstGeom prst="rect">
            <a:avLst/>
          </a:prstGeom>
          <a:noFill/>
        </p:spPr>
        <p:txBody>
          <a:bodyPr wrap="square" lIns="0" rIns="0" tIns="0" bIns="0" anchor="t">
            <a:spAutoFit/>
          </a:bodyPr>
          <a:lstStyle/>
          <a:p>
            <a:pPr algn="l">
              <a:spcBef>
                <a:spcPts val="0"/>
              </a:spcBef>
              <a:spcAft>
                <a:spcPts val="200"/>
              </a:spcAft>
            </a:pPr>
            <a:r>
              <a:rPr sz="1200" b="1" i="0">
                <a:solidFill>
                  <a:srgbClr val="C00000"/>
                </a:solidFill>
                <a:latin typeface="맑은 고딕"/>
                <a:ea typeface="맑은 고딕"/>
                <a:cs typeface="맑은 고딕"/>
              </a:rPr>
              <a:t>이전 (v4)</a:t>
            </a:r>
            <a:r>
              <a:rPr sz="1200" b="0" i="0">
                <a:solidFill>
                  <a:srgbClr val="767171"/>
                </a:solidFill>
                <a:latin typeface="맑은 고딕"/>
                <a:ea typeface="맑은 고딕"/>
                <a:cs typeface="맑은 고딕"/>
              </a:rPr>
              <a:t>   제약이 파이프라인 끝</a:t>
            </a:r>
          </a:p>
          <a:p>
            <a:pPr algn="l">
              <a:lnSpc>
                <a:spcPct val="118000"/>
              </a:lnSpc>
              <a:spcBef>
                <a:spcPts val="300"/>
              </a:spcBef>
              <a:spcAft>
                <a:spcPts val="200"/>
              </a:spcAft>
            </a:pPr>
            <a:r>
              <a:rPr sz="1100" b="0" i="0">
                <a:solidFill>
                  <a:srgbClr val="27251E"/>
                </a:solidFill>
                <a:latin typeface="맑은 고딕"/>
                <a:ea typeface="맑은 고딕"/>
                <a:cs typeface="맑은 고딕"/>
              </a:rPr>
              <a:t>전체 격자에서 균형을 최적화한 뒤, 이미지 없는 문항을 </a:t>
            </a:r>
            <a:r>
              <a:rPr sz="1100" b="1" i="0">
                <a:solidFill>
                  <a:srgbClr val="C00000"/>
                </a:solidFill>
                <a:latin typeface="맑은 고딕"/>
                <a:ea typeface="맑은 고딕"/>
                <a:cs typeface="맑은 고딕"/>
              </a:rPr>
              <a:t>사후 삭제</a:t>
            </a:r>
          </a:p>
          <a:p>
            <a:pPr algn="l">
              <a:lnSpc>
                <a:spcPct val="118000"/>
              </a:lnSpc>
              <a:spcBef>
                <a:spcPts val="200"/>
              </a:spcBef>
              <a:spcAft>
                <a:spcPts val="200"/>
              </a:spcAft>
            </a:pPr>
            <a:r>
              <a:rPr sz="1100" b="0" i="0">
                <a:solidFill>
                  <a:srgbClr val="27251E"/>
                </a:solidFill>
                <a:latin typeface="맑은 고딕"/>
                <a:ea typeface="맑은 고딕"/>
                <a:cs typeface="맑은 고딕"/>
              </a:rPr>
              <a:t>삭제가 무작위가 아니어서 최적화가 확보한 균형을 파괴 (38:62 → 31:69)</a:t>
            </a:r>
          </a:p>
        </p:txBody>
      </p:sp>
      <p:sp>
        <p:nvSpPr>
          <p:cNvPr id="10" name="Rounded Rectangle 9"/>
          <p:cNvSpPr/>
          <p:nvPr/>
        </p:nvSpPr>
        <p:spPr>
          <a:xfrm>
            <a:off x="5093208" y="4700016"/>
            <a:ext cx="4224528" cy="1188720"/>
          </a:xfrm>
          <a:prstGeom prst="roundRect">
            <a:avLst>
              <a:gd name="adj" fmla="val 8000"/>
            </a:avLst>
          </a:prstGeom>
          <a:solidFill>
            <a:srgbClr val="E9F1FA"/>
          </a:solidFill>
          <a:ln w="12700">
            <a:solidFill>
              <a:srgbClr val="004094"/>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11" name="TextBox 10"/>
          <p:cNvSpPr txBox="1"/>
          <p:nvPr/>
        </p:nvSpPr>
        <p:spPr>
          <a:xfrm>
            <a:off x="5239512" y="4791456"/>
            <a:ext cx="3968496" cy="1005840"/>
          </a:xfrm>
          <a:prstGeom prst="rect">
            <a:avLst/>
          </a:prstGeom>
          <a:noFill/>
        </p:spPr>
        <p:txBody>
          <a:bodyPr wrap="square" lIns="0" rIns="0" tIns="0" bIns="0" anchor="t">
            <a:spAutoFit/>
          </a:bodyPr>
          <a:lstStyle/>
          <a:p>
            <a:pPr algn="l">
              <a:spcBef>
                <a:spcPts val="0"/>
              </a:spcBef>
              <a:spcAft>
                <a:spcPts val="200"/>
              </a:spcAft>
            </a:pPr>
            <a:r>
              <a:rPr sz="1200" b="1" i="0">
                <a:solidFill>
                  <a:srgbClr val="004094"/>
                </a:solidFill>
                <a:latin typeface="맑은 고딕"/>
                <a:ea typeface="맑은 고딕"/>
                <a:cs typeface="맑은 고딕"/>
              </a:rPr>
              <a:t>현재 (v5)</a:t>
            </a:r>
            <a:r>
              <a:rPr sz="1200" b="0" i="0">
                <a:solidFill>
                  <a:srgbClr val="767171"/>
                </a:solidFill>
                <a:latin typeface="맑은 고딕"/>
                <a:ea typeface="맑은 고딕"/>
                <a:cs typeface="맑은 고딕"/>
              </a:rPr>
              <a:t>   제약이 생성 입력</a:t>
            </a:r>
          </a:p>
          <a:p>
            <a:pPr algn="l">
              <a:lnSpc>
                <a:spcPct val="118000"/>
              </a:lnSpc>
              <a:spcBef>
                <a:spcPts val="300"/>
              </a:spcBef>
              <a:spcAft>
                <a:spcPts val="200"/>
              </a:spcAft>
            </a:pPr>
            <a:r>
              <a:rPr sz="1100" b="0" i="0">
                <a:solidFill>
                  <a:srgbClr val="27251E"/>
                </a:solidFill>
                <a:latin typeface="맑은 고딕"/>
                <a:ea typeface="맑은 고딕"/>
                <a:cs typeface="맑은 고딕"/>
              </a:rPr>
              <a:t>네 선지가 모두 ‘사람이 승인한 셀’인 후보만 </a:t>
            </a:r>
            <a:r>
              <a:rPr sz="1100" b="1" i="0">
                <a:solidFill>
                  <a:srgbClr val="004094"/>
                </a:solidFill>
                <a:latin typeface="맑은 고딕"/>
                <a:ea typeface="맑은 고딕"/>
                <a:cs typeface="맑은 고딕"/>
              </a:rPr>
              <a:t>점수 계산 대상</a:t>
            </a:r>
          </a:p>
          <a:p>
            <a:pPr algn="l">
              <a:lnSpc>
                <a:spcPct val="118000"/>
              </a:lnSpc>
              <a:spcBef>
                <a:spcPts val="200"/>
              </a:spcBef>
              <a:spcAft>
                <a:spcPts val="200"/>
              </a:spcAft>
            </a:pPr>
            <a:r>
              <a:rPr sz="1100" b="0" i="0">
                <a:solidFill>
                  <a:srgbClr val="27251E"/>
                </a:solidFill>
                <a:latin typeface="맑은 고딕"/>
                <a:ea typeface="맑은 고딕"/>
                <a:cs typeface="맑은 고딕"/>
              </a:rPr>
              <a:t>실현 가능 영역 안에서 최적화 → 97.3%, 분포는 설계값 유지</a:t>
            </a:r>
          </a:p>
        </p:txBody>
      </p:sp>
      <p:sp>
        <p:nvSpPr>
          <p:cNvPr id="12" name="TextBox 11"/>
          <p:cNvSpPr txBox="1"/>
          <p:nvPr/>
        </p:nvSpPr>
        <p:spPr>
          <a:xfrm>
            <a:off x="585216" y="5943600"/>
            <a:ext cx="8092440" cy="658368"/>
          </a:xfrm>
          <a:prstGeom prst="rect">
            <a:avLst/>
          </a:prstGeom>
          <a:noFill/>
        </p:spPr>
        <p:txBody>
          <a:bodyPr wrap="square" lIns="0" rIns="0" tIns="0" bIns="0" anchor="t">
            <a:spAutoFit/>
          </a:bodyPr>
          <a:lstStyle/>
          <a:p>
            <a:pPr algn="l">
              <a:lnSpc>
                <a:spcPct val="120000"/>
              </a:lnSpc>
              <a:spcBef>
                <a:spcPts val="0"/>
              </a:spcBef>
              <a:spcAft>
                <a:spcPts val="200"/>
              </a:spcAft>
            </a:pPr>
            <a:r>
              <a:rPr sz="1250" b="1" i="0">
                <a:solidFill>
                  <a:srgbClr val="004094"/>
                </a:solidFill>
                <a:latin typeface="맑은 고딕"/>
                <a:ea typeface="맑은 고딕"/>
                <a:cs typeface="맑은 고딕"/>
              </a:rPr>
              <a:t>일반화한 교훈  </a:t>
            </a:r>
            <a:r>
              <a:rPr sz="1250" b="0" i="0">
                <a:solidFill>
                  <a:srgbClr val="27251E"/>
                </a:solidFill>
                <a:latin typeface="맑은 고딕"/>
                <a:ea typeface="맑은 고딕"/>
                <a:cs typeface="맑은 고딕"/>
              </a:rPr>
              <a:t>사후 필터는 중립적이지 않다 — 이미 구속력을 가진 제약은 최적화 </a:t>
            </a:r>
            <a:r>
              <a:rPr sz="1250" b="1" i="0">
                <a:solidFill>
                  <a:srgbClr val="C00000"/>
                </a:solidFill>
                <a:latin typeface="맑은 고딕"/>
                <a:ea typeface="맑은 고딕"/>
                <a:cs typeface="맑은 고딕"/>
              </a:rPr>
              <a:t>이후</a:t>
            </a:r>
            <a:r>
              <a:rPr sz="1250" b="0" i="0">
                <a:solidFill>
                  <a:srgbClr val="27251E"/>
                </a:solidFill>
                <a:latin typeface="맑은 고딕"/>
                <a:ea typeface="맑은 고딕"/>
                <a:cs typeface="맑은 고딕"/>
              </a:rPr>
              <a:t>가 아니라 최적화 </a:t>
            </a:r>
            <a:r>
              <a:rPr sz="1250" b="1" i="0">
                <a:solidFill>
                  <a:srgbClr val="004094"/>
                </a:solidFill>
                <a:latin typeface="맑은 고딕"/>
                <a:ea typeface="맑은 고딕"/>
                <a:cs typeface="맑은 고딕"/>
              </a:rPr>
              <a:t>안</a:t>
            </a:r>
            <a:r>
              <a:rPr sz="1250" b="0" i="0">
                <a:solidFill>
                  <a:srgbClr val="27251E"/>
                </a:solidFill>
                <a:latin typeface="맑은 고딕"/>
                <a:ea typeface="맑은 고딕"/>
                <a:cs typeface="맑은 고딕"/>
              </a:rPr>
              <a:t>으로 들어가야 한다.</a:t>
            </a:r>
          </a:p>
          <a:p>
            <a:pPr algn="l">
              <a:lnSpc>
                <a:spcPct val="118000"/>
              </a:lnSpc>
              <a:spcBef>
                <a:spcPts val="300"/>
              </a:spcBef>
              <a:spcAft>
                <a:spcPts val="200"/>
              </a:spcAft>
            </a:pPr>
            <a:r>
              <a:rPr sz="1100" b="0" i="0">
                <a:solidFill>
                  <a:srgbClr val="767171"/>
                </a:solidFill>
                <a:latin typeface="맑은 고딕"/>
                <a:ea typeface="맑은 고딕"/>
                <a:cs typeface="맑은 고딕"/>
              </a:rPr>
              <a:t>제약을 새로 추가한 것이 아니라 이미 존재하던 제약을 코드가 볼 수 있게 만든 것</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11</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Key Finding</a:t>
            </a:r>
            <a:r>
              <a:rPr sz="1400" b="0" i="0">
                <a:solidFill>
                  <a:srgbClr val="767171"/>
                </a:solidFill>
                <a:latin typeface="맑은 고딕"/>
                <a:ea typeface="맑은 고딕"/>
                <a:cs typeface="맑은 고딕"/>
              </a:rPr>
              <a:t>   Qwen3-VL-4B · multimodal MCQ · 838 plans × 5 input formats</a:t>
            </a:r>
          </a:p>
        </p:txBody>
      </p:sp>
      <p:sp>
        <p:nvSpPr>
          <p:cNvPr id="5" name="TextBox 4"/>
          <p:cNvSpPr txBox="1"/>
          <p:nvPr/>
        </p:nvSpPr>
        <p:spPr>
          <a:xfrm>
            <a:off x="585216" y="1609344"/>
            <a:ext cx="8732520" cy="365760"/>
          </a:xfrm>
          <a:prstGeom prst="rect">
            <a:avLst/>
          </a:prstGeom>
          <a:noFill/>
        </p:spPr>
        <p:txBody>
          <a:bodyPr wrap="square" lIns="0" rIns="0" tIns="0" bIns="0" anchor="t">
            <a:spAutoFit/>
          </a:bodyPr>
          <a:lstStyle/>
          <a:p>
            <a:pPr algn="l">
              <a:spcBef>
                <a:spcPts val="0"/>
              </a:spcBef>
              <a:spcAft>
                <a:spcPts val="200"/>
              </a:spcAft>
            </a:pPr>
            <a:r>
              <a:rPr sz="1800" b="1" i="0">
                <a:solidFill>
                  <a:srgbClr val="27251E"/>
                </a:solidFill>
                <a:latin typeface="맑은 고딕"/>
                <a:ea typeface="맑은 고딕"/>
                <a:cs typeface="맑은 고딕"/>
              </a:rPr>
              <a:t>각 축은 따로 주면 거의 풀지만, </a:t>
            </a:r>
            <a:r>
              <a:rPr sz="1800" b="1" i="0">
                <a:solidFill>
                  <a:srgbClr val="C00000"/>
                </a:solidFill>
                <a:latin typeface="맑은 고딕"/>
                <a:ea typeface="맑은 고딕"/>
                <a:cs typeface="맑은 고딕"/>
              </a:rPr>
              <a:t>함께 주면 상황 축이 무너진다</a:t>
            </a:r>
          </a:p>
        </p:txBody>
      </p:sp>
      <p:pic>
        <p:nvPicPr>
          <p:cNvPr id="6" name="Picture 5" descr="fig_tradeoff.png"/>
          <p:cNvPicPr>
            <a:picLocks noChangeAspect="1"/>
          </p:cNvPicPr>
          <p:nvPr/>
        </p:nvPicPr>
        <p:blipFill>
          <a:blip r:embed="rId3"/>
          <a:stretch>
            <a:fillRect/>
          </a:stretch>
        </p:blipFill>
        <p:spPr>
          <a:xfrm>
            <a:off x="932688" y="1993392"/>
            <a:ext cx="8046720" cy="3236691"/>
          </a:xfrm>
          <a:prstGeom prst="rect">
            <a:avLst/>
          </a:prstGeom>
        </p:spPr>
      </p:pic>
      <p:sp>
        <p:nvSpPr>
          <p:cNvPr id="7" name="TextBox 6"/>
          <p:cNvSpPr txBox="1"/>
          <p:nvPr/>
        </p:nvSpPr>
        <p:spPr>
          <a:xfrm>
            <a:off x="585216" y="5358384"/>
            <a:ext cx="8732520" cy="3657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읽는 법</a:t>
            </a:r>
          </a:p>
        </p:txBody>
      </p:sp>
      <p:sp>
        <p:nvSpPr>
          <p:cNvPr id="8" name="Rounded Rectangle 7"/>
          <p:cNvSpPr/>
          <p:nvPr/>
        </p:nvSpPr>
        <p:spPr>
          <a:xfrm>
            <a:off x="585216" y="5705856"/>
            <a:ext cx="2825496" cy="713232"/>
          </a:xfrm>
          <a:prstGeom prst="roundRect">
            <a:avLst>
              <a:gd name="adj" fmla="val 10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250" b="1" i="0">
                <a:solidFill>
                  <a:srgbClr val="2E75B6"/>
                </a:solidFill>
                <a:latin typeface="맑은 고딕"/>
                <a:ea typeface="맑은 고딕"/>
                <a:cs typeface="맑은 고딕"/>
              </a:rPr>
              <a:t>설계 검증</a:t>
            </a:r>
          </a:p>
          <a:p>
            <a:pPr algn="ctr">
              <a:lnSpc>
                <a:spcPct val="115000"/>
              </a:lnSpc>
              <a:spcBef>
                <a:spcPts val="0"/>
              </a:spcBef>
              <a:spcAft>
                <a:spcPts val="200"/>
              </a:spcAft>
            </a:pPr>
            <a:r>
              <a:rPr sz="1050" b="0" i="0">
                <a:solidFill>
                  <a:srgbClr val="27251E"/>
                </a:solidFill>
                <a:latin typeface="맑은 고딕"/>
                <a:ea typeface="맑은 고딕"/>
                <a:cs typeface="맑은 고딕"/>
              </a:rPr>
              <a:t>축 하나만 주면 다른 축은 정확히 우연 수준
→ 두 축이 실제로 분리되어 있다는 증거</a:t>
            </a:r>
          </a:p>
        </p:txBody>
      </p:sp>
      <p:sp>
        <p:nvSpPr>
          <p:cNvPr id="9" name="Rounded Rectangle 8"/>
          <p:cNvSpPr/>
          <p:nvPr/>
        </p:nvSpPr>
        <p:spPr>
          <a:xfrm>
            <a:off x="3538728" y="5705856"/>
            <a:ext cx="2825496" cy="713232"/>
          </a:xfrm>
          <a:prstGeom prst="roundRect">
            <a:avLst>
              <a:gd name="adj" fmla="val 10000"/>
            </a:avLst>
          </a:prstGeom>
          <a:solidFill>
            <a:srgbClr val="FFF3F3"/>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250" b="1" i="0">
                <a:solidFill>
                  <a:srgbClr val="C00000"/>
                </a:solidFill>
                <a:latin typeface="맑은 고딕"/>
                <a:ea typeface="맑은 고딕"/>
                <a:cs typeface="맑은 고딕"/>
              </a:rPr>
              <a:t>핵심 결과</a:t>
            </a:r>
          </a:p>
          <a:p>
            <a:pPr algn="ctr">
              <a:lnSpc>
                <a:spcPct val="115000"/>
              </a:lnSpc>
              <a:spcBef>
                <a:spcPts val="0"/>
              </a:spcBef>
              <a:spcAft>
                <a:spcPts val="200"/>
              </a:spcAft>
            </a:pPr>
            <a:r>
              <a:rPr sz="1050" b="0" i="0">
                <a:solidFill>
                  <a:srgbClr val="27251E"/>
                </a:solidFill>
                <a:latin typeface="맑은 고딕"/>
                <a:ea typeface="맑은 고딕"/>
                <a:cs typeface="맑은 고딕"/>
              </a:rPr>
              <a:t>프로필 추가 시 TPO 86.3 → 70.0
취향은 유지 — 상황 쪽이 밀려남</a:t>
            </a:r>
          </a:p>
        </p:txBody>
      </p:sp>
      <p:sp>
        <p:nvSpPr>
          <p:cNvPr id="10" name="Rounded Rectangle 9"/>
          <p:cNvSpPr/>
          <p:nvPr/>
        </p:nvSpPr>
        <p:spPr>
          <a:xfrm>
            <a:off x="6492240" y="5705856"/>
            <a:ext cx="2825496" cy="713232"/>
          </a:xfrm>
          <a:prstGeom prst="roundRect">
            <a:avLst>
              <a:gd name="adj" fmla="val 10000"/>
            </a:avLst>
          </a:prstGeom>
          <a:solidFill>
            <a:srgbClr val="FFFFFF"/>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Bef>
                <a:spcPts val="0"/>
              </a:spcBef>
              <a:spcAft>
                <a:spcPts val="200"/>
              </a:spcAft>
            </a:pPr>
            <a:r>
              <a:rPr sz="1250" b="1" i="0">
                <a:solidFill>
                  <a:srgbClr val="004094"/>
                </a:solidFill>
                <a:latin typeface="맑은 고딕"/>
                <a:ea typeface="맑은 고딕"/>
                <a:cs typeface="맑은 고딕"/>
              </a:rPr>
              <a:t>결론</a:t>
            </a:r>
          </a:p>
          <a:p>
            <a:pPr algn="ctr">
              <a:lnSpc>
                <a:spcPct val="115000"/>
              </a:lnSpc>
              <a:spcBef>
                <a:spcPts val="0"/>
              </a:spcBef>
              <a:spcAft>
                <a:spcPts val="200"/>
              </a:spcAft>
            </a:pPr>
            <a:r>
              <a:rPr sz="1050" b="0" i="0">
                <a:solidFill>
                  <a:srgbClr val="27251E"/>
                </a:solidFill>
                <a:latin typeface="맑은 고딕"/>
                <a:ea typeface="맑은 고딕"/>
                <a:cs typeface="맑은 고딕"/>
              </a:rPr>
              <a:t>Strict 64.0% — 각각은 가능하나
동시에 적용하는 데에는 실패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12</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Contribution</a:t>
            </a:r>
            <a:r>
              <a:rPr sz="1400" b="0" i="0">
                <a:solidFill>
                  <a:srgbClr val="767171"/>
                </a:solidFill>
                <a:latin typeface="맑은 고딕"/>
                <a:ea typeface="맑은 고딕"/>
                <a:cs typeface="맑은 고딕"/>
              </a:rPr>
              <a:t>   어디서 무너지는가 · 무엇을 남겼는가</a:t>
            </a:r>
          </a:p>
        </p:txBody>
      </p:sp>
      <p:pic>
        <p:nvPicPr>
          <p:cNvPr id="5" name="Picture 4" descr="fig_breakdown.png"/>
          <p:cNvPicPr>
            <a:picLocks noChangeAspect="1"/>
          </p:cNvPicPr>
          <p:nvPr/>
        </p:nvPicPr>
        <p:blipFill>
          <a:blip r:embed="rId3"/>
          <a:stretch>
            <a:fillRect/>
          </a:stretch>
        </p:blipFill>
        <p:spPr>
          <a:xfrm>
            <a:off x="1024128" y="1554480"/>
            <a:ext cx="7863840" cy="2836385"/>
          </a:xfrm>
          <a:prstGeom prst="rect">
            <a:avLst/>
          </a:prstGeom>
        </p:spPr>
      </p:pic>
      <p:sp>
        <p:nvSpPr>
          <p:cNvPr id="6" name="TextBox 5"/>
          <p:cNvSpPr txBox="1"/>
          <p:nvPr/>
        </p:nvSpPr>
        <p:spPr>
          <a:xfrm>
            <a:off x="585216" y="4553712"/>
            <a:ext cx="8732520" cy="3657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Contribution</a:t>
            </a:r>
          </a:p>
        </p:txBody>
      </p:sp>
      <p:sp>
        <p:nvSpPr>
          <p:cNvPr id="7" name="Rounded Rectangle 6"/>
          <p:cNvSpPr/>
          <p:nvPr/>
        </p:nvSpPr>
        <p:spPr>
          <a:xfrm>
            <a:off x="585216" y="4937760"/>
            <a:ext cx="256032" cy="256032"/>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00" b="1" i="0">
                <a:solidFill>
                  <a:srgbClr val="FFFFFF"/>
                </a:solidFill>
                <a:latin typeface="맑은 고딕"/>
                <a:ea typeface="맑은 고딕"/>
                <a:cs typeface="맑은 고딕"/>
              </a:rPr>
              <a:t>1</a:t>
            </a:r>
          </a:p>
        </p:txBody>
      </p:sp>
      <p:sp>
        <p:nvSpPr>
          <p:cNvPr id="8" name="TextBox 7"/>
          <p:cNvSpPr txBox="1"/>
          <p:nvPr/>
        </p:nvSpPr>
        <p:spPr>
          <a:xfrm>
            <a:off x="950976" y="4942332"/>
            <a:ext cx="8330184" cy="256032"/>
          </a:xfrm>
          <a:prstGeom prst="rect">
            <a:avLst/>
          </a:prstGeom>
          <a:noFill/>
        </p:spPr>
        <p:txBody>
          <a:bodyPr wrap="square" lIns="0" rIns="0" tIns="0" bIns="0" anchor="t">
            <a:spAutoFit/>
          </a:bodyPr>
          <a:lstStyle/>
          <a:p>
            <a:pPr algn="l">
              <a:spcBef>
                <a:spcPts val="0"/>
              </a:spcBef>
              <a:spcAft>
                <a:spcPts val="200"/>
              </a:spcAft>
            </a:pPr>
            <a:r>
              <a:rPr sz="1150" b="1" i="0">
                <a:solidFill>
                  <a:srgbClr val="0A4D9B"/>
                </a:solidFill>
                <a:latin typeface="맑은 고딕"/>
                <a:ea typeface="맑은 고딕"/>
                <a:cs typeface="맑은 고딕"/>
              </a:rPr>
              <a:t>문제를 분리 가능한 형태로 정식화</a:t>
            </a:r>
            <a:r>
              <a:rPr sz="1150" b="0" i="0">
                <a:solidFill>
                  <a:srgbClr val="27251E"/>
                </a:solidFill>
                <a:latin typeface="맑은 고딕"/>
                <a:ea typeface="맑은 고딕"/>
                <a:cs typeface="맑은 고딕"/>
              </a:rPr>
              <a:t>   ‘개인화 실패’를 어느 축의 실패인지까지 분해하는 4지선다 설계</a:t>
            </a:r>
          </a:p>
        </p:txBody>
      </p:sp>
      <p:sp>
        <p:nvSpPr>
          <p:cNvPr id="9" name="Rounded Rectangle 8"/>
          <p:cNvSpPr/>
          <p:nvPr/>
        </p:nvSpPr>
        <p:spPr>
          <a:xfrm>
            <a:off x="585216" y="5285232"/>
            <a:ext cx="256032" cy="256032"/>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00" b="1" i="0">
                <a:solidFill>
                  <a:srgbClr val="FFFFFF"/>
                </a:solidFill>
                <a:latin typeface="맑은 고딕"/>
                <a:ea typeface="맑은 고딕"/>
                <a:cs typeface="맑은 고딕"/>
              </a:rPr>
              <a:t>2</a:t>
            </a:r>
          </a:p>
        </p:txBody>
      </p:sp>
      <p:sp>
        <p:nvSpPr>
          <p:cNvPr id="10" name="TextBox 9"/>
          <p:cNvSpPr txBox="1"/>
          <p:nvPr/>
        </p:nvSpPr>
        <p:spPr>
          <a:xfrm>
            <a:off x="950976" y="5289804"/>
            <a:ext cx="8330184" cy="256032"/>
          </a:xfrm>
          <a:prstGeom prst="rect">
            <a:avLst/>
          </a:prstGeom>
          <a:noFill/>
        </p:spPr>
        <p:txBody>
          <a:bodyPr wrap="square" lIns="0" rIns="0" tIns="0" bIns="0" anchor="t">
            <a:spAutoFit/>
          </a:bodyPr>
          <a:lstStyle/>
          <a:p>
            <a:pPr algn="l">
              <a:spcBef>
                <a:spcPts val="0"/>
              </a:spcBef>
              <a:spcAft>
                <a:spcPts val="200"/>
              </a:spcAft>
            </a:pPr>
            <a:r>
              <a:rPr sz="1150" b="1" i="0">
                <a:solidFill>
                  <a:srgbClr val="0A4D9B"/>
                </a:solidFill>
                <a:latin typeface="맑은 고딕"/>
                <a:ea typeface="맑은 고딕"/>
                <a:cs typeface="맑은 고딕"/>
              </a:rPr>
              <a:t>가설을 데이터로 확인</a:t>
            </a:r>
            <a:r>
              <a:rPr sz="1150" b="0" i="0">
                <a:solidFill>
                  <a:srgbClr val="27251E"/>
                </a:solidFill>
                <a:latin typeface="맑은 고딕"/>
                <a:ea typeface="맑은 고딕"/>
                <a:cs typeface="맑은 고딕"/>
              </a:rPr>
              <a:t>   각 축 단독 86.3 / 94.7 → 동시 64.0, 문제 설정 시 세운 가설과 일치</a:t>
            </a:r>
          </a:p>
        </p:txBody>
      </p:sp>
      <p:sp>
        <p:nvSpPr>
          <p:cNvPr id="11" name="Rounded Rectangle 10"/>
          <p:cNvSpPr/>
          <p:nvPr/>
        </p:nvSpPr>
        <p:spPr>
          <a:xfrm>
            <a:off x="585216" y="5632704"/>
            <a:ext cx="256032" cy="256032"/>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00" b="1" i="0">
                <a:solidFill>
                  <a:srgbClr val="FFFFFF"/>
                </a:solidFill>
                <a:latin typeface="맑은 고딕"/>
                <a:ea typeface="맑은 고딕"/>
                <a:cs typeface="맑은 고딕"/>
              </a:rPr>
              <a:t>3</a:t>
            </a:r>
          </a:p>
        </p:txBody>
      </p:sp>
      <p:sp>
        <p:nvSpPr>
          <p:cNvPr id="12" name="TextBox 11"/>
          <p:cNvSpPr txBox="1"/>
          <p:nvPr/>
        </p:nvSpPr>
        <p:spPr>
          <a:xfrm>
            <a:off x="950976" y="5637276"/>
            <a:ext cx="8330184" cy="256032"/>
          </a:xfrm>
          <a:prstGeom prst="rect">
            <a:avLst/>
          </a:prstGeom>
          <a:noFill/>
        </p:spPr>
        <p:txBody>
          <a:bodyPr wrap="square" lIns="0" rIns="0" tIns="0" bIns="0" anchor="t">
            <a:spAutoFit/>
          </a:bodyPr>
          <a:lstStyle/>
          <a:p>
            <a:pPr algn="l">
              <a:spcBef>
                <a:spcPts val="0"/>
              </a:spcBef>
              <a:spcAft>
                <a:spcPts val="200"/>
              </a:spcAft>
            </a:pPr>
            <a:r>
              <a:rPr sz="1150" b="1" i="0">
                <a:solidFill>
                  <a:srgbClr val="0A4D9B"/>
                </a:solidFill>
                <a:latin typeface="맑은 고딕"/>
                <a:ea typeface="맑은 고딕"/>
                <a:cs typeface="맑은 고딕"/>
              </a:rPr>
              <a:t>재현 가능한 데이터셋과 검증 체계</a:t>
            </a:r>
            <a:r>
              <a:rPr sz="1150" b="0" i="0">
                <a:solidFill>
                  <a:srgbClr val="27251E"/>
                </a:solidFill>
                <a:latin typeface="맑은 고딕"/>
                <a:ea typeface="맑은 고딕"/>
                <a:cs typeface="맑은 고딕"/>
              </a:rPr>
              <a:t>   SHA256 재현 · mutation test 48/48 · 1,661 셀 전수 검수</a:t>
            </a:r>
          </a:p>
        </p:txBody>
      </p:sp>
      <p:sp>
        <p:nvSpPr>
          <p:cNvPr id="13" name="Rounded Rectangle 12"/>
          <p:cNvSpPr/>
          <p:nvPr/>
        </p:nvSpPr>
        <p:spPr>
          <a:xfrm>
            <a:off x="585216" y="5980176"/>
            <a:ext cx="256032" cy="256032"/>
          </a:xfrm>
          <a:prstGeom prst="roundRect">
            <a:avLst>
              <a:gd name="adj" fmla="val 35000"/>
            </a:avLst>
          </a:prstGeom>
          <a:solidFill>
            <a:srgbClr val="0040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00" b="1" i="0">
                <a:solidFill>
                  <a:srgbClr val="FFFFFF"/>
                </a:solidFill>
                <a:latin typeface="맑은 고딕"/>
                <a:ea typeface="맑은 고딕"/>
                <a:cs typeface="맑은 고딕"/>
              </a:rPr>
              <a:t>4</a:t>
            </a:r>
          </a:p>
        </p:txBody>
      </p:sp>
      <p:sp>
        <p:nvSpPr>
          <p:cNvPr id="14" name="TextBox 13"/>
          <p:cNvSpPr txBox="1"/>
          <p:nvPr/>
        </p:nvSpPr>
        <p:spPr>
          <a:xfrm>
            <a:off x="950976" y="5984748"/>
            <a:ext cx="8330184" cy="256032"/>
          </a:xfrm>
          <a:prstGeom prst="rect">
            <a:avLst/>
          </a:prstGeom>
          <a:noFill/>
        </p:spPr>
        <p:txBody>
          <a:bodyPr wrap="square" lIns="0" rIns="0" tIns="0" bIns="0" anchor="t">
            <a:spAutoFit/>
          </a:bodyPr>
          <a:lstStyle/>
          <a:p>
            <a:pPr algn="l">
              <a:spcBef>
                <a:spcPts val="0"/>
              </a:spcBef>
              <a:spcAft>
                <a:spcPts val="200"/>
              </a:spcAft>
            </a:pPr>
            <a:r>
              <a:rPr sz="1150" b="1" i="0">
                <a:solidFill>
                  <a:srgbClr val="0A4D9B"/>
                </a:solidFill>
                <a:latin typeface="맑은 고딕"/>
                <a:ea typeface="맑은 고딕"/>
                <a:cs typeface="맑은 고딕"/>
              </a:rPr>
              <a:t>검색 단계의 표현 한계를 진단하고 우회</a:t>
            </a:r>
            <a:r>
              <a:rPr sz="1150" b="0" i="0">
                <a:solidFill>
                  <a:srgbClr val="27251E"/>
                </a:solidFill>
                <a:latin typeface="맑은 고딕"/>
                <a:ea typeface="맑은 고딕"/>
                <a:cs typeface="맑은 고딕"/>
              </a:rPr>
              <a:t>   학습 없이 patch-wise 표현으로 국소 패턴 문제 해결</a:t>
            </a:r>
          </a:p>
        </p:txBody>
      </p:sp>
      <p:sp>
        <p:nvSpPr>
          <p:cNvPr id="15" name="TextBox 14"/>
          <p:cNvSpPr txBox="1"/>
          <p:nvPr/>
        </p:nvSpPr>
        <p:spPr>
          <a:xfrm>
            <a:off x="585216" y="6382512"/>
            <a:ext cx="7909560" cy="274320"/>
          </a:xfrm>
          <a:prstGeom prst="rect">
            <a:avLst/>
          </a:prstGeom>
          <a:noFill/>
        </p:spPr>
        <p:txBody>
          <a:bodyPr wrap="square" lIns="0" rIns="0" tIns="0" bIns="0" anchor="t">
            <a:spAutoFit/>
          </a:bodyPr>
          <a:lstStyle/>
          <a:p>
            <a:pPr algn="l">
              <a:spcBef>
                <a:spcPts val="0"/>
              </a:spcBef>
              <a:spcAft>
                <a:spcPts val="200"/>
              </a:spcAft>
            </a:pPr>
            <a:r>
              <a:rPr sz="1100" b="1" i="0">
                <a:solidFill>
                  <a:srgbClr val="C00000"/>
                </a:solidFill>
                <a:latin typeface="맑은 고딕"/>
                <a:ea typeface="맑은 고딕"/>
                <a:cs typeface="맑은 고딕"/>
              </a:rPr>
              <a:t>한계  </a:t>
            </a:r>
            <a:r>
              <a:rPr sz="1100" b="0" i="0">
                <a:solidFill>
                  <a:srgbClr val="767171"/>
                </a:solidFill>
                <a:latin typeface="맑은 고딕"/>
                <a:ea typeface="맑은 고딕"/>
                <a:cs typeface="맑은 고딕"/>
              </a:rPr>
              <a:t>이미지 라벨 검증과 상용 모델 평가가 남아 있어 절대 수치는 잠정값</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8945849" y="6455664"/>
            <a:ext cx="548640" cy="256032"/>
          </a:xfrm>
          <a:prstGeom prst="rect">
            <a:avLst/>
          </a:prstGeom>
          <a:noFill/>
        </p:spPr>
        <p:txBody>
          <a:bodyPr wrap="none">
            <a:spAutoFit/>
          </a:bodyPr>
          <a:lstStyle/>
          <a:p>
            <a:pPr algn="r"/>
            <a:r>
              <a:rPr sz="1000" b="0" i="0">
                <a:solidFill>
                  <a:srgbClr val="767171"/>
                </a:solidFill>
                <a:latin typeface="맑은 고딕"/>
                <a:ea typeface="맑은 고딕"/>
                <a:cs typeface="맑은 고딕"/>
              </a:rPr>
              <a:t>13</a:t>
            </a:r>
          </a:p>
        </p:txBody>
      </p:sp>
      <p:sp>
        <p:nvSpPr>
          <p:cNvPr id="4" name="TextBox 3"/>
          <p:cNvSpPr txBox="1"/>
          <p:nvPr/>
        </p:nvSpPr>
        <p:spPr>
          <a:xfrm>
            <a:off x="585216" y="877824"/>
            <a:ext cx="8833104" cy="475488"/>
          </a:xfrm>
          <a:prstGeom prst="rect">
            <a:avLst/>
          </a:prstGeom>
          <a:noFill/>
        </p:spPr>
        <p:txBody>
          <a:bodyPr wrap="square" lIns="0" rIns="0" tIns="0" bIns="0" anchor="t">
            <a:spAutoFit/>
          </a:bodyPr>
          <a:lstStyle/>
          <a:p>
            <a:r>
              <a:rPr sz="2400" b="1" i="0">
                <a:solidFill>
                  <a:srgbClr val="004094"/>
                </a:solidFill>
                <a:latin typeface="맑은 고딕"/>
                <a:ea typeface="맑은 고딕"/>
                <a:cs typeface="맑은 고딕"/>
              </a:rPr>
              <a:t>향후 계획 · 소감</a:t>
            </a:r>
          </a:p>
        </p:txBody>
      </p:sp>
      <p:sp>
        <p:nvSpPr>
          <p:cNvPr id="5" name="TextBox 4"/>
          <p:cNvSpPr txBox="1"/>
          <p:nvPr/>
        </p:nvSpPr>
        <p:spPr>
          <a:xfrm>
            <a:off x="585216" y="1627632"/>
            <a:ext cx="4224528" cy="3657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연구 계획</a:t>
            </a:r>
          </a:p>
        </p:txBody>
      </p:sp>
      <p:sp>
        <p:nvSpPr>
          <p:cNvPr id="6" name="Rounded Rectangle 5"/>
          <p:cNvSpPr/>
          <p:nvPr/>
        </p:nvSpPr>
        <p:spPr>
          <a:xfrm>
            <a:off x="585216" y="1975104"/>
            <a:ext cx="4224528" cy="566928"/>
          </a:xfrm>
          <a:prstGeom prst="roundRect">
            <a:avLst>
              <a:gd name="adj" fmla="val 10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7" name="TextBox 6"/>
          <p:cNvSpPr txBox="1"/>
          <p:nvPr/>
        </p:nvSpPr>
        <p:spPr>
          <a:xfrm>
            <a:off x="731520" y="2066544"/>
            <a:ext cx="3968496" cy="402336"/>
          </a:xfrm>
          <a:prstGeom prst="rect">
            <a:avLst/>
          </a:prstGeom>
          <a:noFill/>
        </p:spPr>
        <p:txBody>
          <a:bodyPr wrap="square" lIns="0" rIns="0" tIns="0" bIns="0" anchor="t">
            <a:spAutoFit/>
          </a:bodyPr>
          <a:lstStyle/>
          <a:p>
            <a:pPr algn="l">
              <a:spcBef>
                <a:spcPts val="0"/>
              </a:spcBef>
              <a:spcAft>
                <a:spcPts val="200"/>
              </a:spcAft>
            </a:pPr>
            <a:r>
              <a:rPr sz="1200" b="1" i="0">
                <a:solidFill>
                  <a:srgbClr val="0A4D9B"/>
                </a:solidFill>
                <a:latin typeface="맑은 고딕"/>
                <a:ea typeface="맑은 고딕"/>
                <a:cs typeface="맑은 고딕"/>
              </a:rPr>
              <a:t>라벨 검증 완료</a:t>
            </a:r>
          </a:p>
          <a:p>
            <a:pPr algn="l">
              <a:lnSpc>
                <a:spcPct val="110000"/>
              </a:lnSpc>
              <a:spcBef>
                <a:spcPts val="0"/>
              </a:spcBef>
              <a:spcAft>
                <a:spcPts val="200"/>
              </a:spcAft>
            </a:pPr>
            <a:r>
              <a:rPr sz="1050" b="0" i="0">
                <a:solidFill>
                  <a:srgbClr val="27251E"/>
                </a:solidFill>
                <a:latin typeface="맑은 고딕"/>
                <a:ea typeface="맑은 고딕"/>
                <a:cs typeface="맑은 고딕"/>
              </a:rPr>
              <a:t>Dress-code 35개 관습 기반 라벨 human validation</a:t>
            </a:r>
          </a:p>
        </p:txBody>
      </p:sp>
      <p:sp>
        <p:nvSpPr>
          <p:cNvPr id="8" name="Rounded Rectangle 7"/>
          <p:cNvSpPr/>
          <p:nvPr/>
        </p:nvSpPr>
        <p:spPr>
          <a:xfrm>
            <a:off x="585216" y="2615184"/>
            <a:ext cx="4224528" cy="566928"/>
          </a:xfrm>
          <a:prstGeom prst="roundRect">
            <a:avLst>
              <a:gd name="adj" fmla="val 10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9" name="TextBox 8"/>
          <p:cNvSpPr txBox="1"/>
          <p:nvPr/>
        </p:nvSpPr>
        <p:spPr>
          <a:xfrm>
            <a:off x="731520" y="2706624"/>
            <a:ext cx="3968496" cy="402336"/>
          </a:xfrm>
          <a:prstGeom prst="rect">
            <a:avLst/>
          </a:prstGeom>
          <a:noFill/>
        </p:spPr>
        <p:txBody>
          <a:bodyPr wrap="square" lIns="0" rIns="0" tIns="0" bIns="0" anchor="t">
            <a:spAutoFit/>
          </a:bodyPr>
          <a:lstStyle/>
          <a:p>
            <a:pPr algn="l">
              <a:spcBef>
                <a:spcPts val="0"/>
              </a:spcBef>
              <a:spcAft>
                <a:spcPts val="200"/>
              </a:spcAft>
            </a:pPr>
            <a:r>
              <a:rPr sz="1200" b="1" i="0">
                <a:solidFill>
                  <a:srgbClr val="0A4D9B"/>
                </a:solidFill>
                <a:latin typeface="맑은 고딕"/>
                <a:ea typeface="맑은 고딕"/>
                <a:cs typeface="맑은 고딕"/>
              </a:rPr>
              <a:t>상용 모델 평가 확대</a:t>
            </a:r>
          </a:p>
          <a:p>
            <a:pPr algn="l">
              <a:lnSpc>
                <a:spcPct val="110000"/>
              </a:lnSpc>
              <a:spcBef>
                <a:spcPts val="0"/>
              </a:spcBef>
              <a:spcAft>
                <a:spcPts val="200"/>
              </a:spcAft>
            </a:pPr>
            <a:r>
              <a:rPr sz="1050" b="0" i="0">
                <a:solidFill>
                  <a:srgbClr val="27251E"/>
                </a:solidFill>
                <a:latin typeface="맑은 고딕"/>
                <a:ea typeface="맑은 고딕"/>
                <a:cs typeface="맑은 고딕"/>
              </a:rPr>
              <a:t>GPT · Gemini 등 closed-source 최소 2종 추가</a:t>
            </a:r>
          </a:p>
        </p:txBody>
      </p:sp>
      <p:sp>
        <p:nvSpPr>
          <p:cNvPr id="10" name="Rounded Rectangle 9"/>
          <p:cNvSpPr/>
          <p:nvPr/>
        </p:nvSpPr>
        <p:spPr>
          <a:xfrm>
            <a:off x="585216" y="3255264"/>
            <a:ext cx="4224528" cy="566928"/>
          </a:xfrm>
          <a:prstGeom prst="roundRect">
            <a:avLst>
              <a:gd name="adj" fmla="val 10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11" name="TextBox 10"/>
          <p:cNvSpPr txBox="1"/>
          <p:nvPr/>
        </p:nvSpPr>
        <p:spPr>
          <a:xfrm>
            <a:off x="731520" y="3346704"/>
            <a:ext cx="3968496" cy="402336"/>
          </a:xfrm>
          <a:prstGeom prst="rect">
            <a:avLst/>
          </a:prstGeom>
          <a:noFill/>
        </p:spPr>
        <p:txBody>
          <a:bodyPr wrap="square" lIns="0" rIns="0" tIns="0" bIns="0" anchor="t">
            <a:spAutoFit/>
          </a:bodyPr>
          <a:lstStyle/>
          <a:p>
            <a:pPr algn="l">
              <a:spcBef>
                <a:spcPts val="0"/>
              </a:spcBef>
              <a:spcAft>
                <a:spcPts val="200"/>
              </a:spcAft>
            </a:pPr>
            <a:r>
              <a:rPr sz="1200" b="1" i="0">
                <a:solidFill>
                  <a:srgbClr val="0A4D9B"/>
                </a:solidFill>
                <a:latin typeface="맑은 고딕"/>
                <a:ea typeface="맑은 고딕"/>
                <a:cs typeface="맑은 고딕"/>
              </a:rPr>
              <a:t>Position bias 실험</a:t>
            </a:r>
          </a:p>
          <a:p>
            <a:pPr algn="l">
              <a:lnSpc>
                <a:spcPct val="110000"/>
              </a:lnSpc>
              <a:spcBef>
                <a:spcPts val="0"/>
              </a:spcBef>
              <a:spcAft>
                <a:spcPts val="200"/>
              </a:spcAft>
            </a:pPr>
            <a:r>
              <a:rPr sz="1050" b="0" i="0">
                <a:solidFill>
                  <a:srgbClr val="27251E"/>
                </a:solidFill>
                <a:latin typeface="맑은 고딕"/>
                <a:ea typeface="맑은 고딕"/>
                <a:cs typeface="맑은 고딕"/>
              </a:rPr>
              <a:t>정답 위치를 A/B/C/D로 고정해도 정답률이 같은가</a:t>
            </a:r>
          </a:p>
        </p:txBody>
      </p:sp>
      <p:sp>
        <p:nvSpPr>
          <p:cNvPr id="12" name="Rounded Rectangle 11"/>
          <p:cNvSpPr/>
          <p:nvPr/>
        </p:nvSpPr>
        <p:spPr>
          <a:xfrm>
            <a:off x="585216" y="3895344"/>
            <a:ext cx="4224528" cy="566928"/>
          </a:xfrm>
          <a:prstGeom prst="roundRect">
            <a:avLst>
              <a:gd name="adj" fmla="val 10000"/>
            </a:avLst>
          </a:prstGeom>
          <a:solidFill>
            <a:srgbClr val="F5F8FC"/>
          </a:solidFill>
          <a:ln w="127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p>
        </p:txBody>
      </p:sp>
      <p:sp>
        <p:nvSpPr>
          <p:cNvPr id="13" name="TextBox 12"/>
          <p:cNvSpPr txBox="1"/>
          <p:nvPr/>
        </p:nvSpPr>
        <p:spPr>
          <a:xfrm>
            <a:off x="731520" y="3986784"/>
            <a:ext cx="3968496" cy="402336"/>
          </a:xfrm>
          <a:prstGeom prst="rect">
            <a:avLst/>
          </a:prstGeom>
          <a:noFill/>
        </p:spPr>
        <p:txBody>
          <a:bodyPr wrap="square" lIns="0" rIns="0" tIns="0" bIns="0" anchor="t">
            <a:spAutoFit/>
          </a:bodyPr>
          <a:lstStyle/>
          <a:p>
            <a:pPr algn="l">
              <a:spcBef>
                <a:spcPts val="0"/>
              </a:spcBef>
              <a:spcAft>
                <a:spcPts val="200"/>
              </a:spcAft>
            </a:pPr>
            <a:r>
              <a:rPr sz="1200" b="1" i="0">
                <a:solidFill>
                  <a:srgbClr val="0A4D9B"/>
                </a:solidFill>
                <a:latin typeface="맑은 고딕"/>
                <a:ea typeface="맑은 고딕"/>
                <a:cs typeface="맑은 고딕"/>
              </a:rPr>
              <a:t>A/D 제거 실험</a:t>
            </a:r>
          </a:p>
          <a:p>
            <a:pPr algn="l">
              <a:lnSpc>
                <a:spcPct val="110000"/>
              </a:lnSpc>
              <a:spcBef>
                <a:spcPts val="0"/>
              </a:spcBef>
              <a:spcAft>
                <a:spcPts val="200"/>
              </a:spcAft>
            </a:pPr>
            <a:r>
              <a:rPr sz="1050" b="0" i="0">
                <a:solidFill>
                  <a:srgbClr val="27251E"/>
                </a:solidFill>
                <a:latin typeface="맑은 고딕"/>
                <a:ea typeface="맑은 고딕"/>
                <a:cs typeface="맑은 고딕"/>
              </a:rPr>
              <a:t>B와 C만 남기면 취향과 상황 중 무엇을 택하는가</a:t>
            </a:r>
          </a:p>
        </p:txBody>
      </p:sp>
      <p:sp>
        <p:nvSpPr>
          <p:cNvPr id="14" name="TextBox 13"/>
          <p:cNvSpPr txBox="1"/>
          <p:nvPr/>
        </p:nvSpPr>
        <p:spPr>
          <a:xfrm>
            <a:off x="5093208" y="1627632"/>
            <a:ext cx="4224528" cy="365760"/>
          </a:xfrm>
          <a:prstGeom prst="rect">
            <a:avLst/>
          </a:prstGeom>
          <a:noFill/>
        </p:spPr>
        <p:txBody>
          <a:bodyPr wrap="square" lIns="0" rIns="0" tIns="0" bIns="0" anchor="t">
            <a:spAutoFit/>
          </a:bodyPr>
          <a:lstStyle/>
          <a:p>
            <a:pPr algn="l">
              <a:spcBef>
                <a:spcPts val="0"/>
              </a:spcBef>
              <a:spcAft>
                <a:spcPts val="300"/>
              </a:spcAft>
            </a:pPr>
            <a:r>
              <a:rPr sz="1600" b="1" i="0">
                <a:solidFill>
                  <a:srgbClr val="0A4D9B"/>
                </a:solidFill>
                <a:latin typeface="맑은 고딕"/>
                <a:ea typeface="맑은 고딕"/>
                <a:cs typeface="맑은 고딕"/>
              </a:rPr>
              <a:t>학업 · 진로 계획</a:t>
            </a:r>
          </a:p>
        </p:txBody>
      </p:sp>
      <p:sp>
        <p:nvSpPr>
          <p:cNvPr id="15" name="Rounded Rectangle 14"/>
          <p:cNvSpPr/>
          <p:nvPr/>
        </p:nvSpPr>
        <p:spPr>
          <a:xfrm>
            <a:off x="5093208" y="1993392"/>
            <a:ext cx="603504" cy="256032"/>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00" b="1" i="0">
                <a:solidFill>
                  <a:srgbClr val="FFFFFF"/>
                </a:solidFill>
                <a:latin typeface="맑은 고딕"/>
                <a:ea typeface="맑은 고딕"/>
                <a:cs typeface="맑은 고딕"/>
              </a:rPr>
              <a:t>단기</a:t>
            </a:r>
          </a:p>
        </p:txBody>
      </p:sp>
      <p:sp>
        <p:nvSpPr>
          <p:cNvPr id="16" name="TextBox 15"/>
          <p:cNvSpPr txBox="1"/>
          <p:nvPr/>
        </p:nvSpPr>
        <p:spPr>
          <a:xfrm>
            <a:off x="5815584" y="1965960"/>
            <a:ext cx="3502152" cy="548640"/>
          </a:xfrm>
          <a:prstGeom prst="rect">
            <a:avLst/>
          </a:prstGeom>
          <a:noFill/>
        </p:spPr>
        <p:txBody>
          <a:bodyPr wrap="square" lIns="0" rIns="0" tIns="0" bIns="0" anchor="t">
            <a:spAutoFit/>
          </a:bodyPr>
          <a:lstStyle/>
          <a:p>
            <a:pPr algn="l">
              <a:lnSpc>
                <a:spcPct val="120000"/>
              </a:lnSpc>
              <a:spcBef>
                <a:spcPts val="0"/>
              </a:spcBef>
              <a:spcAft>
                <a:spcPts val="200"/>
              </a:spcAft>
            </a:pPr>
            <a:r>
              <a:rPr sz="1200" b="0" i="0">
                <a:solidFill>
                  <a:srgbClr val="27251E"/>
                </a:solidFill>
                <a:latin typeface="맑은 고딕"/>
                <a:ea typeface="맑은 고딕"/>
                <a:cs typeface="맑은 고딕"/>
              </a:rPr>
              <a:t>본 연구를 WACV 투고 수준으로 정리 — 라벨 검증과 상용 모델 평가를 마무리</a:t>
            </a:r>
          </a:p>
        </p:txBody>
      </p:sp>
      <p:sp>
        <p:nvSpPr>
          <p:cNvPr id="17" name="Rounded Rectangle 16"/>
          <p:cNvSpPr/>
          <p:nvPr/>
        </p:nvSpPr>
        <p:spPr>
          <a:xfrm>
            <a:off x="5093208" y="2596896"/>
            <a:ext cx="603504" cy="256032"/>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00" b="1" i="0">
                <a:solidFill>
                  <a:srgbClr val="FFFFFF"/>
                </a:solidFill>
                <a:latin typeface="맑은 고딕"/>
                <a:ea typeface="맑은 고딕"/>
                <a:cs typeface="맑은 고딕"/>
              </a:rPr>
              <a:t>중기</a:t>
            </a:r>
          </a:p>
        </p:txBody>
      </p:sp>
      <p:sp>
        <p:nvSpPr>
          <p:cNvPr id="18" name="TextBox 17"/>
          <p:cNvSpPr txBox="1"/>
          <p:nvPr/>
        </p:nvSpPr>
        <p:spPr>
          <a:xfrm>
            <a:off x="5815584" y="2569464"/>
            <a:ext cx="3502152" cy="548640"/>
          </a:xfrm>
          <a:prstGeom prst="rect">
            <a:avLst/>
          </a:prstGeom>
          <a:noFill/>
        </p:spPr>
        <p:txBody>
          <a:bodyPr wrap="square" lIns="0" rIns="0" tIns="0" bIns="0" anchor="t">
            <a:spAutoFit/>
          </a:bodyPr>
          <a:lstStyle/>
          <a:p>
            <a:pPr algn="l">
              <a:lnSpc>
                <a:spcPct val="120000"/>
              </a:lnSpc>
              <a:spcBef>
                <a:spcPts val="0"/>
              </a:spcBef>
              <a:spcAft>
                <a:spcPts val="200"/>
              </a:spcAft>
            </a:pPr>
            <a:r>
              <a:rPr sz="1200" b="0" i="0">
                <a:solidFill>
                  <a:srgbClr val="27251E"/>
                </a:solidFill>
                <a:latin typeface="맑은 고딕"/>
                <a:ea typeface="맑은 고딕"/>
                <a:cs typeface="맑은 고딕"/>
              </a:rPr>
              <a:t>Vision-Language Model의 평가 방법론을 주제로 대학원 진학 준비</a:t>
            </a:r>
          </a:p>
        </p:txBody>
      </p:sp>
      <p:sp>
        <p:nvSpPr>
          <p:cNvPr id="19" name="Rounded Rectangle 18"/>
          <p:cNvSpPr/>
          <p:nvPr/>
        </p:nvSpPr>
        <p:spPr>
          <a:xfrm>
            <a:off x="5093208" y="3200400"/>
            <a:ext cx="603504" cy="256032"/>
          </a:xfrm>
          <a:prstGeom prst="roundRect">
            <a:avLst>
              <a:gd name="adj" fmla="val 3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9144" rIns="9144"/>
          <a:lstStyle/>
          <a:p>
            <a:pPr algn="ctr"/>
            <a:r>
              <a:rPr sz="1100" b="1" i="0">
                <a:solidFill>
                  <a:srgbClr val="FFFFFF"/>
                </a:solidFill>
                <a:latin typeface="맑은 고딕"/>
                <a:ea typeface="맑은 고딕"/>
                <a:cs typeface="맑은 고딕"/>
              </a:rPr>
              <a:t>장기</a:t>
            </a:r>
          </a:p>
        </p:txBody>
      </p:sp>
      <p:sp>
        <p:nvSpPr>
          <p:cNvPr id="20" name="TextBox 19"/>
          <p:cNvSpPr txBox="1"/>
          <p:nvPr/>
        </p:nvSpPr>
        <p:spPr>
          <a:xfrm>
            <a:off x="5815584" y="3172968"/>
            <a:ext cx="3502152" cy="548640"/>
          </a:xfrm>
          <a:prstGeom prst="rect">
            <a:avLst/>
          </a:prstGeom>
          <a:noFill/>
        </p:spPr>
        <p:txBody>
          <a:bodyPr wrap="square" lIns="0" rIns="0" tIns="0" bIns="0" anchor="t">
            <a:spAutoFit/>
          </a:bodyPr>
          <a:lstStyle/>
          <a:p>
            <a:pPr algn="l">
              <a:lnSpc>
                <a:spcPct val="120000"/>
              </a:lnSpc>
              <a:spcBef>
                <a:spcPts val="0"/>
              </a:spcBef>
              <a:spcAft>
                <a:spcPts val="200"/>
              </a:spcAft>
            </a:pPr>
            <a:r>
              <a:rPr sz="1200" b="0" i="0">
                <a:solidFill>
                  <a:srgbClr val="27251E"/>
                </a:solidFill>
                <a:latin typeface="맑은 고딕"/>
                <a:ea typeface="맑은 고딕"/>
                <a:cs typeface="맑은 고딕"/>
              </a:rPr>
              <a:t>‘모델이 무엇을 못하는지’를 측정 가능한 형태로 정의하는 연구자</a:t>
            </a:r>
          </a:p>
        </p:txBody>
      </p:sp>
      <p:sp>
        <p:nvSpPr>
          <p:cNvPr id="21" name="Rounded Rectangle 20"/>
          <p:cNvSpPr/>
          <p:nvPr/>
        </p:nvSpPr>
        <p:spPr>
          <a:xfrm>
            <a:off x="5093208" y="3895344"/>
            <a:ext cx="4224528" cy="2267712"/>
          </a:xfrm>
          <a:prstGeom prst="roundRect">
            <a:avLst>
              <a:gd name="adj" fmla="val 8000"/>
            </a:avLst>
          </a:prstGeom>
          <a:solidFill>
            <a:srgbClr val="E9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22" name="TextBox 21"/>
          <p:cNvSpPr txBox="1"/>
          <p:nvPr/>
        </p:nvSpPr>
        <p:spPr>
          <a:xfrm>
            <a:off x="5257800" y="4023360"/>
            <a:ext cx="3913632" cy="1975104"/>
          </a:xfrm>
          <a:prstGeom prst="rect">
            <a:avLst/>
          </a:prstGeom>
          <a:noFill/>
        </p:spPr>
        <p:txBody>
          <a:bodyPr wrap="square" lIns="0" rIns="0" tIns="0" bIns="0" anchor="t">
            <a:spAutoFit/>
          </a:bodyPr>
          <a:lstStyle/>
          <a:p>
            <a:pPr algn="l">
              <a:spcBef>
                <a:spcPts val="0"/>
              </a:spcBef>
              <a:spcAft>
                <a:spcPts val="200"/>
              </a:spcAft>
            </a:pPr>
            <a:r>
              <a:rPr sz="1300" b="1" i="0">
                <a:solidFill>
                  <a:srgbClr val="004094"/>
                </a:solidFill>
                <a:latin typeface="맑은 고딕"/>
                <a:ea typeface="맑은 고딕"/>
                <a:cs typeface="맑은 고딕"/>
              </a:rPr>
              <a:t>인턴십 소감</a:t>
            </a:r>
          </a:p>
          <a:p>
            <a:pPr algn="l">
              <a:lnSpc>
                <a:spcPct val="125000"/>
              </a:lnSpc>
              <a:spcBef>
                <a:spcPts val="500"/>
              </a:spcBef>
              <a:spcAft>
                <a:spcPts val="200"/>
              </a:spcAft>
            </a:pPr>
            <a:r>
              <a:rPr sz="1150" b="0" i="0">
                <a:solidFill>
                  <a:srgbClr val="27251E"/>
                </a:solidFill>
                <a:latin typeface="맑은 고딕"/>
                <a:ea typeface="맑은 고딕"/>
                <a:cs typeface="맑은 고딕"/>
              </a:rPr>
              <a:t>가장 크게 배운 것은 </a:t>
            </a:r>
            <a:r>
              <a:rPr sz="1150" b="1" i="0">
                <a:solidFill>
                  <a:srgbClr val="27251E"/>
                </a:solidFill>
                <a:latin typeface="맑은 고딕"/>
                <a:ea typeface="맑은 고딕"/>
                <a:cs typeface="맑은 고딕"/>
              </a:rPr>
              <a:t>‘실패한 결과를 그대로 남기는 법’</a:t>
            </a:r>
            <a:r>
              <a:rPr sz="1150" b="0" i="0">
                <a:solidFill>
                  <a:srgbClr val="27251E"/>
                </a:solidFill>
                <a:latin typeface="맑은 고딕"/>
                <a:ea typeface="맑은 고딕"/>
                <a:cs typeface="맑은 고딕"/>
              </a:rPr>
              <a:t>이었습니다. 국소 패턴 문제는 세 번 실패한 뒤에야 원인에 도달했고, 수율 33%는 숫자를 고치는 대신 원인을 찾아 파이프라인을 다시 설계해야 했습니다.</a:t>
            </a:r>
          </a:p>
          <a:p>
            <a:pPr algn="l">
              <a:lnSpc>
                <a:spcPct val="125000"/>
              </a:lnSpc>
              <a:spcBef>
                <a:spcPts val="600"/>
              </a:spcBef>
              <a:spcAft>
                <a:spcPts val="200"/>
              </a:spcAft>
            </a:pPr>
            <a:r>
              <a:rPr sz="1150" b="0" i="0">
                <a:solidFill>
                  <a:srgbClr val="27251E"/>
                </a:solidFill>
                <a:latin typeface="맑은 고딕"/>
                <a:ea typeface="맑은 고딕"/>
                <a:cs typeface="맑은 고딕"/>
              </a:rPr>
              <a:t>성능이 아니라 </a:t>
            </a:r>
            <a:r>
              <a:rPr sz="1150" b="1" i="0">
                <a:solidFill>
                  <a:srgbClr val="004094"/>
                </a:solidFill>
                <a:latin typeface="맑은 고딕"/>
                <a:ea typeface="맑은 고딕"/>
                <a:cs typeface="맑은 고딕"/>
              </a:rPr>
              <a:t>측정이 옳은지</a:t>
            </a:r>
            <a:r>
              <a:rPr sz="1150" b="0" i="0">
                <a:solidFill>
                  <a:srgbClr val="27251E"/>
                </a:solidFill>
                <a:latin typeface="맑은 고딕"/>
                <a:ea typeface="맑은 고딕"/>
                <a:cs typeface="맑은 고딕"/>
              </a:rPr>
              <a:t>를 먼저 의심하는 태도를, 전공 수업에서 배운 실험 설계 개념과 연결해 직접 적용해 볼 수 있었던 시간이었습니다.</a:t>
            </a:r>
          </a:p>
        </p:txBody>
      </p:sp>
      <p:sp>
        <p:nvSpPr>
          <p:cNvPr id="23" name="Rounded Rectangle 22"/>
          <p:cNvSpPr/>
          <p:nvPr/>
        </p:nvSpPr>
        <p:spPr>
          <a:xfrm>
            <a:off x="585216" y="4626864"/>
            <a:ext cx="4224528" cy="1536192"/>
          </a:xfrm>
          <a:prstGeom prst="roundRect">
            <a:avLst>
              <a:gd name="adj" fmla="val 8000"/>
            </a:avLst>
          </a:prstGeom>
          <a:solidFill>
            <a:srgbClr val="FFFFFF"/>
          </a:solidFill>
          <a:ln w="12700">
            <a:solidFill>
              <a:srgbClr val="004094"/>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p>
        </p:txBody>
      </p:sp>
      <p:sp>
        <p:nvSpPr>
          <p:cNvPr id="24" name="TextBox 23"/>
          <p:cNvSpPr txBox="1"/>
          <p:nvPr/>
        </p:nvSpPr>
        <p:spPr>
          <a:xfrm>
            <a:off x="749808" y="4736592"/>
            <a:ext cx="3931920" cy="1316736"/>
          </a:xfrm>
          <a:prstGeom prst="rect">
            <a:avLst/>
          </a:prstGeom>
          <a:noFill/>
        </p:spPr>
        <p:txBody>
          <a:bodyPr wrap="square" lIns="0" rIns="0" tIns="0" bIns="0" anchor="t">
            <a:spAutoFit/>
          </a:bodyPr>
          <a:lstStyle/>
          <a:p>
            <a:pPr algn="l">
              <a:spcBef>
                <a:spcPts val="0"/>
              </a:spcBef>
              <a:spcAft>
                <a:spcPts val="200"/>
              </a:spcAft>
            </a:pPr>
            <a:r>
              <a:rPr sz="1250" b="1" i="0">
                <a:solidFill>
                  <a:srgbClr val="004094"/>
                </a:solidFill>
                <a:latin typeface="맑은 고딕"/>
                <a:ea typeface="맑은 고딕"/>
                <a:cs typeface="맑은 고딕"/>
              </a:rPr>
              <a:t>전공 교육과의 연결</a:t>
            </a:r>
          </a:p>
          <a:p>
            <a:pPr algn="l">
              <a:lnSpc>
                <a:spcPct val="115000"/>
              </a:lnSpc>
              <a:spcBef>
                <a:spcPts val="300"/>
              </a:spcBef>
              <a:spcAft>
                <a:spcPts val="200"/>
              </a:spcAft>
            </a:pPr>
            <a:r>
              <a:rPr sz="1050" b="0" i="0">
                <a:solidFill>
                  <a:srgbClr val="2E75B6"/>
                </a:solidFill>
                <a:latin typeface="맑은 고딕"/>
                <a:ea typeface="맑은 고딕"/>
                <a:cs typeface="맑은 고딕"/>
              </a:rPr>
              <a:t>· </a:t>
            </a:r>
            <a:r>
              <a:rPr sz="1050" b="1" i="0">
                <a:solidFill>
                  <a:srgbClr val="27251E"/>
                </a:solidFill>
                <a:latin typeface="맑은 고딕"/>
                <a:ea typeface="맑은 고딕"/>
                <a:cs typeface="맑은 고딕"/>
              </a:rPr>
              <a:t>실험설계 · 통계</a:t>
            </a:r>
            <a:r>
              <a:rPr sz="1050" b="0" i="0">
                <a:solidFill>
                  <a:srgbClr val="767171"/>
                </a:solidFill>
                <a:latin typeface="맑은 고딕"/>
                <a:ea typeface="맑은 고딕"/>
                <a:cs typeface="맑은 고딕"/>
              </a:rPr>
              <a:t>  →  2×2 factorial · counterbalance · 교란 통제</a:t>
            </a:r>
          </a:p>
          <a:p>
            <a:pPr algn="l">
              <a:lnSpc>
                <a:spcPct val="115000"/>
              </a:lnSpc>
              <a:spcBef>
                <a:spcPts val="300"/>
              </a:spcBef>
              <a:spcAft>
                <a:spcPts val="200"/>
              </a:spcAft>
            </a:pPr>
            <a:r>
              <a:rPr sz="1050" b="0" i="0">
                <a:solidFill>
                  <a:srgbClr val="2E75B6"/>
                </a:solidFill>
                <a:latin typeface="맑은 고딕"/>
                <a:ea typeface="맑은 고딕"/>
                <a:cs typeface="맑은 고딕"/>
              </a:rPr>
              <a:t>· </a:t>
            </a:r>
            <a:r>
              <a:rPr sz="1050" b="1" i="0">
                <a:solidFill>
                  <a:srgbClr val="27251E"/>
                </a:solidFill>
                <a:latin typeface="맑은 고딕"/>
                <a:ea typeface="맑은 고딕"/>
                <a:cs typeface="맑은 고딕"/>
              </a:rPr>
              <a:t>컴퓨터비전</a:t>
            </a:r>
            <a:r>
              <a:rPr sz="1050" b="0" i="0">
                <a:solidFill>
                  <a:srgbClr val="767171"/>
                </a:solidFill>
                <a:latin typeface="맑은 고딕"/>
                <a:ea typeface="맑은 고딕"/>
                <a:cs typeface="맑은 고딕"/>
              </a:rPr>
              <a:t>  →  SigLIP · SAM3 · patch 표현의 한계 이해</a:t>
            </a:r>
          </a:p>
          <a:p>
            <a:pPr algn="l">
              <a:lnSpc>
                <a:spcPct val="115000"/>
              </a:lnSpc>
              <a:spcBef>
                <a:spcPts val="300"/>
              </a:spcBef>
              <a:spcAft>
                <a:spcPts val="200"/>
              </a:spcAft>
            </a:pPr>
            <a:r>
              <a:rPr sz="1050" b="0" i="0">
                <a:solidFill>
                  <a:srgbClr val="2E75B6"/>
                </a:solidFill>
                <a:latin typeface="맑은 고딕"/>
                <a:ea typeface="맑은 고딕"/>
                <a:cs typeface="맑은 고딕"/>
              </a:rPr>
              <a:t>· </a:t>
            </a:r>
            <a:r>
              <a:rPr sz="1050" b="1" i="0">
                <a:solidFill>
                  <a:srgbClr val="27251E"/>
                </a:solidFill>
                <a:latin typeface="맑은 고딕"/>
                <a:ea typeface="맑은 고딕"/>
                <a:cs typeface="맑은 고딕"/>
              </a:rPr>
              <a:t>소프트웨어공학</a:t>
            </a:r>
            <a:r>
              <a:rPr sz="1050" b="0" i="0">
                <a:solidFill>
                  <a:srgbClr val="767171"/>
                </a:solidFill>
                <a:latin typeface="맑은 고딕"/>
                <a:ea typeface="맑은 고딕"/>
                <a:cs typeface="맑은 고딕"/>
              </a:rPr>
              <a:t>  →  결정론적 파이프라인 · 해시 고정 · mutation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rule.png"/>
          <p:cNvPicPr>
            <a:picLocks noChangeAspect="1"/>
          </p:cNvPicPr>
          <p:nvPr/>
        </p:nvPicPr>
        <p:blipFill>
          <a:blip r:embed="rId2"/>
          <a:stretch>
            <a:fillRect/>
          </a:stretch>
        </p:blipFill>
        <p:spPr>
          <a:xfrm>
            <a:off x="658368" y="402336"/>
            <a:ext cx="9262872" cy="155448"/>
          </a:xfrm>
          <a:prstGeom prst="rect">
            <a:avLst/>
          </a:prstGeom>
        </p:spPr>
      </p:pic>
      <p:sp>
        <p:nvSpPr>
          <p:cNvPr id="3" name="TextBox 2"/>
          <p:cNvSpPr txBox="1"/>
          <p:nvPr/>
        </p:nvSpPr>
        <p:spPr>
          <a:xfrm>
            <a:off x="0" y="2944368"/>
            <a:ext cx="9905969" cy="822960"/>
          </a:xfrm>
          <a:prstGeom prst="rect">
            <a:avLst/>
          </a:prstGeom>
          <a:noFill/>
        </p:spPr>
        <p:txBody>
          <a:bodyPr wrap="square" lIns="0" rIns="0" tIns="0" bIns="0" anchor="t">
            <a:spAutoFit/>
          </a:bodyPr>
          <a:lstStyle/>
          <a:p>
            <a:pPr algn="ctr">
              <a:spcBef>
                <a:spcPts val="0"/>
              </a:spcBef>
              <a:spcAft>
                <a:spcPts val="200"/>
              </a:spcAft>
            </a:pPr>
            <a:r>
              <a:rPr sz="5200" b="1" i="0">
                <a:solidFill>
                  <a:srgbClr val="0A4D9B"/>
                </a:solidFill>
                <a:latin typeface="맑은 고딕"/>
                <a:ea typeface="맑은 고딕"/>
                <a:cs typeface="맑은 고딕"/>
              </a:rPr>
              <a:t>Q &amp; A</a:t>
            </a:r>
          </a:p>
        </p:txBody>
      </p:sp>
      <p:sp>
        <p:nvSpPr>
          <p:cNvPr id="4" name="TextBox 3"/>
          <p:cNvSpPr txBox="1"/>
          <p:nvPr/>
        </p:nvSpPr>
        <p:spPr>
          <a:xfrm>
            <a:off x="0" y="3858768"/>
            <a:ext cx="9905969" cy="365760"/>
          </a:xfrm>
          <a:prstGeom prst="rect">
            <a:avLst/>
          </a:prstGeom>
          <a:noFill/>
        </p:spPr>
        <p:txBody>
          <a:bodyPr wrap="square" lIns="0" rIns="0" tIns="0" bIns="0" anchor="t">
            <a:spAutoFit/>
          </a:bodyPr>
          <a:lstStyle/>
          <a:p>
            <a:pPr algn="ctr">
              <a:spcBef>
                <a:spcPts val="0"/>
              </a:spcBef>
              <a:spcAft>
                <a:spcPts val="200"/>
              </a:spcAft>
            </a:pPr>
            <a:r>
              <a:rPr sz="1500" b="0" i="0">
                <a:solidFill>
                  <a:srgbClr val="767171"/>
                </a:solidFill>
                <a:latin typeface="맑은 고딕"/>
                <a:ea typeface="맑은 고딕"/>
                <a:cs typeface="맑은 고딕"/>
              </a:rPr>
              <a:t>감사합니다.</a:t>
            </a:r>
          </a:p>
        </p:txBody>
      </p:sp>
      <p:sp>
        <p:nvSpPr>
          <p:cNvPr id="5" name="TextBox 4"/>
          <p:cNvSpPr txBox="1"/>
          <p:nvPr/>
        </p:nvSpPr>
        <p:spPr>
          <a:xfrm>
            <a:off x="0" y="4261104"/>
            <a:ext cx="9905969" cy="310896"/>
          </a:xfrm>
          <a:prstGeom prst="rect">
            <a:avLst/>
          </a:prstGeom>
          <a:noFill/>
        </p:spPr>
        <p:txBody>
          <a:bodyPr wrap="square" lIns="0" rIns="0" tIns="0" bIns="0" anchor="t">
            <a:spAutoFit/>
          </a:bodyPr>
          <a:lstStyle/>
          <a:p>
            <a:pPr algn="ctr">
              <a:spcBef>
                <a:spcPts val="0"/>
              </a:spcBef>
              <a:spcAft>
                <a:spcPts val="200"/>
              </a:spcAft>
            </a:pPr>
            <a:r>
              <a:rPr sz="1200" b="0" i="0">
                <a:solidFill>
                  <a:srgbClr val="767171"/>
                </a:solidFill>
                <a:latin typeface="맑은 고딕"/>
                <a:ea typeface="맑은 고딕"/>
                <a:cs typeface="맑은 고딕"/>
              </a:rPr>
              <a:t>인공지능학과  2023480017  조현준   ·   VisAGI Lab</a:t>
            </a:r>
          </a:p>
        </p:txBody>
      </p:sp>
      <p:pic>
        <p:nvPicPr>
          <p:cNvPr id="6" name="Picture 5" descr="uos_logo.png"/>
          <p:cNvPicPr>
            <a:picLocks noChangeAspect="1"/>
          </p:cNvPicPr>
          <p:nvPr/>
        </p:nvPicPr>
        <p:blipFill>
          <a:blip r:embed="rId3"/>
          <a:stretch>
            <a:fillRect/>
          </a:stretch>
        </p:blipFill>
        <p:spPr>
          <a:xfrm>
            <a:off x="7543800" y="6163056"/>
            <a:ext cx="1783080" cy="292608"/>
          </a:xfrm>
          <a:prstGeom prst="rect">
            <a:avLst/>
          </a:prstGeom>
        </p:spPr>
      </p:pic>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20260209 랩미팅</Template>
  <TotalTime>2989</TotalTime>
  <Words>4159</Words>
  <Application>Microsoft Office PowerPoint</Application>
  <PresentationFormat>A4 용지(210x297mm)</PresentationFormat>
  <Paragraphs>972</Paragraphs>
  <Slides>76</Slides>
  <Notes>48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76</vt:i4>
      </vt:variant>
    </vt:vector>
  </HeadingPairs>
  <TitlesOfParts>
    <vt:vector size="79" baseType="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명진 조</dc:creator>
  <cp:lastModifiedBy>UOS</cp:lastModifiedBy>
  <cp:revision>122</cp:revision>
  <dcterms:created xsi:type="dcterms:W3CDTF">2026-03-16T08:01:41Z</dcterms:created>
  <dcterms:modified xsi:type="dcterms:W3CDTF">2026-08-02T16:32:26Z</dcterms:modified>
</cp:coreProperties>
</file>